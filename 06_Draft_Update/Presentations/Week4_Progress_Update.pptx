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828800"/>
            <a:ext cx="3840480" cy="38404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383280"/>
            <a:ext cx="2743200" cy="2743200"/>
          </a:xfrm>
          <a:prstGeom prst="ellipse">
            <a:avLst/>
          </a:prstGeom>
          <a:solidFill>
            <a:srgbClr val="0096B7">
              <a:alpha val="15000"/>
            </a:srgbClr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01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096B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EG7030  · 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Cycle-Aware Battery Degradation Analytics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Electric Vehicle Fleet Applications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7955280" cy="0"/>
          </a:xfrm>
          <a:prstGeom prst="line">
            <a:avLst/>
          </a:prstGeom>
          <a:noFill/>
          <a:ln w="12700">
            <a:solidFill>
              <a:srgbClr val="0096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61188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 Rani V.  ·  Student ID: u2965962  ·  MSc Electric Vehicle Engineering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East London  ·  Supervisor: Dr. Abdulrahman Albar  ·  23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— 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1956816" cy="3657600"/>
          </a:xfrm>
          <a:prstGeom prst="roundRect">
            <a:avLst>
              <a:gd name="adj" fmla="val 467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399032"/>
            <a:ext cx="786384" cy="78638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39903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23591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898648"/>
            <a:ext cx="1773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papers on battery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degradation, ML &amp; EV fleet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7168" y="1143000"/>
            <a:ext cx="1956816" cy="3657600"/>
          </a:xfrm>
          <a:prstGeom prst="roundRect">
            <a:avLst>
              <a:gd name="adj" fmla="val 467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72384" y="1399032"/>
            <a:ext cx="786384" cy="786384"/>
          </a:xfrm>
          <a:prstGeom prst="ellipse">
            <a:avLst/>
          </a:prstGeom>
          <a:solidFill>
            <a:srgbClr val="025E8C"/>
          </a:solidFill>
          <a:ln w="12700">
            <a:solidFill>
              <a:srgbClr val="025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39903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8608" y="23591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78608" y="2898648"/>
            <a:ext cx="1773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· CALCE · Oxford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features &amp; 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1143000"/>
            <a:ext cx="1956816" cy="3657600"/>
          </a:xfrm>
          <a:prstGeom prst="roundRect">
            <a:avLst>
              <a:gd name="adj" fmla="val 467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75504" y="1399032"/>
            <a:ext cx="786384" cy="786384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39903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81728" y="23591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NMC Chemistry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81728" y="2898648"/>
            <a:ext cx="1773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rationale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relevance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93408" y="1143000"/>
            <a:ext cx="1956816" cy="3657600"/>
          </a:xfrm>
          <a:prstGeom prst="roundRect">
            <a:avLst>
              <a:gd name="adj" fmla="val 467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78624" y="1399032"/>
            <a:ext cx="786384" cy="7863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139903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84848" y="235915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Fleet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2898648"/>
            <a:ext cx="1773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DNA delivery trucks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related literature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5 Key Papers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032" y="112471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1124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RSC Advances 2025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322576" y="11338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Drive Cycles: EV Battery Health in Diverse Environments &amp; Conditions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22576" y="14996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Mulpuri, Sah &amp; Kumar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46520" y="11612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NMC-811 · SPMe · Drive cycles · SEI growth · Lithium plating · Duty-cycle degradation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819656"/>
            <a:ext cx="86319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892808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25E8C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892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Advanced Science 2025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22576" y="19019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Estimation &amp; Knee Point Prediction Using EIS via Machine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22576" y="226771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Si, Matsuda et al.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19293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NMC-811 · EIS · XGBoost · SHAP · Knee detection · RUL prediction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587752"/>
            <a:ext cx="86319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660904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96B7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6609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J. Energy Storage 2025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22576" y="26700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Proximity Modeling for Accurate &amp; Explainable SoC Estimation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22576" y="30358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Inan et al.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DBSCAN clustering · SHAP · R2 ~ 1.00 · RMSE = 0.13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355848"/>
            <a:ext cx="86319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42900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5C6BC0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34290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Nature Energy 2019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22576" y="3438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Prediction of Battery Cycle Life Before Capacity Degradation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22576" y="38039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Severson, Attia et al. (Stanford/MIT)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34655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LFP cells · Early-cycle ML · Benchmark framework for SoH prediction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123944"/>
            <a:ext cx="86319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4197096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E85D5D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41970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J. Open Research Software 2021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22576" y="4206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Battery Mathematical Modelling (PyBaMM)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22576" y="45720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Sulzer, Marquis, Timms et al. (Oxford)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SPMe/DFN models · SEI/crack/plating submodels · Dissertation simulation tool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1-3 confirmed from uploaded PDFs. Papers 4-5 are foundational benchmark literature.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(Most Relevant)  ·  RSC Advances, 15, 30980-31004 (2025)  ·  Mulpuri, Sah &amp; Kumar  ·  DOI: 10.1039/d5ra04379d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Drive Cycles: EV Battery Health in Diverse Environments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251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NMC-811 LGM50 21700 cylindrical cell (5 Ah) studied under real-world conditions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SPMe electrochemical model applied across 3 Indian regional driving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stop-go driving (Pattern 1) produces fastest capacity fade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modes: SEI layer growth, lithium plating, particle cracking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C-rate charging + elevated temperature = compounding stress factors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metrics quantified: Kinetic Intensity (KI), RPA, PKE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078992"/>
            <a:ext cx="3977640" cy="3767328"/>
          </a:xfrm>
          <a:prstGeom prst="roundRect">
            <a:avLst>
              <a:gd name="adj" fmla="val 2427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2529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to This Dissertation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64208"/>
            <a:ext cx="3611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validates duty cycle → degradation link (core thesis)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NMC-811 = chemistry selected for this study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SPMe model = planned for PyBaMM simulation stage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metrics (KI, RPA, PKE) feed into Fleet Severity Index (FSI)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lab-to-real-world gap between datasets and EV fleets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2 &amp; 3 — ML Methods for Battery Health Estimation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87952" cy="3822192"/>
          </a:xfrm>
          <a:prstGeom prst="roundRect">
            <a:avLst>
              <a:gd name="adj" fmla="val 2392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234440"/>
            <a:ext cx="2103120" cy="301752"/>
          </a:xfrm>
          <a:prstGeom prst="roundRect">
            <a:avLst>
              <a:gd name="adj" fmla="val 15152"/>
            </a:avLst>
          </a:prstGeom>
          <a:solidFill>
            <a:srgbClr val="025E8C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2344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 Science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" y="1600200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Estimation &amp; Knee Point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via EIS + ML (SHAP)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27685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Si, Matsuda et al.  |  DOI: 10.1002/advs.202502336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2523744"/>
            <a:ext cx="39136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NMC-811 (LiNi0.8Mn0.1Co0.1O2) positive electrode battery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 (Electrochemical Impedance Spectroscopy) as ML input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high capacity estimation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identifies dominant EIS frequency features driving capacity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Knee-point detection enables early Remaining Useful Life (RUL) warning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115568"/>
            <a:ext cx="4187952" cy="3822192"/>
          </a:xfrm>
          <a:prstGeom prst="roundRect">
            <a:avLst>
              <a:gd name="adj" fmla="val 2392"/>
            </a:avLst>
          </a:prstGeom>
          <a:solidFill>
            <a:srgbClr val="E0F7F7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37176" y="1234440"/>
            <a:ext cx="2103120" cy="301752"/>
          </a:xfrm>
          <a:prstGeom prst="roundRect">
            <a:avLst>
              <a:gd name="adj" fmla="val 15152"/>
            </a:avLst>
          </a:prstGeom>
          <a:solidFill>
            <a:srgbClr val="0096B7"/>
          </a:solidFill>
          <a:ln/>
        </p:spPr>
      </p:sp>
      <p:sp>
        <p:nvSpPr>
          <p:cNvPr id="12" name="Text 10"/>
          <p:cNvSpPr/>
          <p:nvPr/>
        </p:nvSpPr>
        <p:spPr>
          <a:xfrm>
            <a:off x="4837176" y="12344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J. Energy Storage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37176" y="1600200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SoC Estimation via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&amp; DBSCAN Clustering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7176" y="227685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Inan et al.  |  DOI: 10.1016/j.est.2025.118150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37176" y="2523744"/>
            <a:ext cx="39136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clustering segments battery charging behaviour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trained on: voltage, current, capacity, energy, cycles, temp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approximately 1.00 and RMSE of 0.13 for SoC estimation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feature importance at each degradation stage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LSTM and SVM baselines under dynamic drive profiles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4 &amp; 5 — Foundational &amp; Methodology Literature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4187952" cy="3822192"/>
          </a:xfrm>
          <a:prstGeom prst="roundRect">
            <a:avLst>
              <a:gd name="adj" fmla="val 2392"/>
            </a:avLst>
          </a:prstGeom>
          <a:solidFill>
            <a:srgbClr val="F5F0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234440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5C6BC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2344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Nature Energy 2019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" y="1600200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Prediction of Battery Cycle Life Before Capacity Degradation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27685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Severson, Attia, Jin et al.  (Stanford / MIT / Toyota)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2523744"/>
            <a:ext cx="39136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LFP battery cells cycled to end of life under controlled conditions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Early-cycle (cycles 1-100) discharge features predict total battery lifetime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+ Random Forest = benchmark ML prediction framework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&lt; 9.1% for lifetime prediction on unseen test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Foundational benchmark — our study extends to NMC &amp; real fleet duty cycles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115568"/>
            <a:ext cx="4187952" cy="3822192"/>
          </a:xfrm>
          <a:prstGeom prst="roundRect">
            <a:avLst>
              <a:gd name="adj" fmla="val 2392"/>
            </a:avLst>
          </a:prstGeom>
          <a:solidFill>
            <a:srgbClr val="FFF0EE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37176" y="1234440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E85D5D"/>
          </a:solidFill>
          <a:ln/>
        </p:spPr>
      </p:sp>
      <p:sp>
        <p:nvSpPr>
          <p:cNvPr id="12" name="Text 10"/>
          <p:cNvSpPr/>
          <p:nvPr/>
        </p:nvSpPr>
        <p:spPr>
          <a:xfrm>
            <a:off x="4837176" y="12344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J. Open Research Software 2021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37176" y="1600200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Battery Mathematical Modelling (PyBaMM)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7176" y="227685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Sulzer, Marquis, Timms, Hasan et al.  (Univ. of Oxford)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37176" y="2523744"/>
            <a:ext cx="39136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framework for electrochemical battery modelling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SPMe, DFN (Doyle-Fuller-Newman) and reduced-order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degradation submodels: SEI growth, particle cracking, Li-plating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Python ML ecosystem (NumPy, Pandas, scikit-learn)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Directly cited in dissertation brief — used in Stage 5 simulation &amp;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NASA · CALCE · Oxford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2880" y="1115568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11556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499616"/>
            <a:ext cx="2834640" cy="2011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PCoE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1773936"/>
            <a:ext cx="2560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Cells: B0005, B0006, B0007, B0018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Chemistry: LCO (Lithium Cobalt Oxide)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18650 cylindrical cells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EOL: 30% capacity fade threshold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EIS impedance measurements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Cycling: CC-CV charge; constant discharge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V, I, T, Capacity, Impedance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115568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1556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025E8C"/>
          </a:solidFill>
          <a:ln/>
        </p:spPr>
      </p:sp>
      <p:sp>
        <p:nvSpPr>
          <p:cNvPr id="11" name="Shape 9"/>
          <p:cNvSpPr/>
          <p:nvPr/>
        </p:nvSpPr>
        <p:spPr>
          <a:xfrm>
            <a:off x="3172968" y="1499616"/>
            <a:ext cx="2834640" cy="201168"/>
          </a:xfrm>
          <a:prstGeom prst="rect">
            <a:avLst/>
          </a:prstGeom>
          <a:solidFill>
            <a:srgbClr val="025E8C"/>
          </a:solidFill>
          <a:ln w="12700">
            <a:solidFill>
              <a:srgbClr val="025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155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10128" y="1773936"/>
            <a:ext cx="2560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 &amp; CX2 series: LCO chemistry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A123 series: LFP chemistry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18650-20R: NMC (Samsung 2.0 Ah)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Multi-chemistry dataset (LCO, LFP, NMC)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profiles: DST, FUDS, US06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degradation data included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V, I, T, Capacity, Resistance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115568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11556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0096B7"/>
          </a:solidFill>
          <a:ln/>
        </p:spPr>
      </p:sp>
      <p:sp>
        <p:nvSpPr>
          <p:cNvPr id="16" name="Shape 14"/>
          <p:cNvSpPr/>
          <p:nvPr/>
        </p:nvSpPr>
        <p:spPr>
          <a:xfrm>
            <a:off x="6163056" y="1499616"/>
            <a:ext cx="2834640" cy="20116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1155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Oxford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0216" y="1773936"/>
            <a:ext cx="256032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series: BMP, BMR, SPM families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.csv and .mat (MATLAB) files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NMC-type pouch cells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discharge profiles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temperature aging tests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Electrochemical characterisation included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V, I, T, Capacity, SoC, SoH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Ground Across All Three Datasets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01752" y="1115568"/>
            <a:ext cx="2715768" cy="1737360"/>
          </a:xfrm>
          <a:prstGeom prst="roundRect">
            <a:avLst>
              <a:gd name="adj" fmla="val 526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298448"/>
            <a:ext cx="621792" cy="6217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 I 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13167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Measurements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24414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record voltage, current &amp; temperature — core ML features needed for SoH and SoC modelling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15568"/>
            <a:ext cx="2715768" cy="1737360"/>
          </a:xfrm>
          <a:prstGeom prst="roundRect">
            <a:avLst>
              <a:gd name="adj" fmla="val 526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298448"/>
            <a:ext cx="621792" cy="621792"/>
          </a:xfrm>
          <a:prstGeom prst="ellipse">
            <a:avLst/>
          </a:prstGeom>
          <a:solidFill>
            <a:srgbClr val="025E8C"/>
          </a:solidFill>
          <a:ln w="12700">
            <a:solidFill>
              <a:srgbClr val="025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87368" y="13167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Fade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4414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per cycle is available in all datasets — the primary indicator of State of Health (SoH) for fleet replacement decisions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07608" y="1115568"/>
            <a:ext cx="2715768" cy="1737360"/>
          </a:xfrm>
          <a:prstGeom prst="roundRect">
            <a:avLst>
              <a:gd name="adj" fmla="val 526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98448"/>
            <a:ext cx="621792" cy="621792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40296" y="13167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SoH/SoC Derivation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4414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SoH = Q_current / Q_nominal can be derived from all three. RUL is derivable using end-of-life thresholds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" y="2990088"/>
            <a:ext cx="2715768" cy="1737360"/>
          </a:xfrm>
          <a:prstGeom prst="roundRect">
            <a:avLst>
              <a:gd name="adj" fmla="val 526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" y="3172968"/>
            <a:ext cx="621792" cy="621792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DYN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34440" y="3191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703320"/>
            <a:ext cx="24414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CALCE (DST/FUDS) and Oxford include dynamic cycling closer to real EV operation; NASA adds EIS impedance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990088"/>
            <a:ext cx="2715768" cy="1737360"/>
          </a:xfrm>
          <a:prstGeom prst="roundRect">
            <a:avLst>
              <a:gd name="adj" fmla="val 526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3172968"/>
            <a:ext cx="621792" cy="621792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CC-CV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87368" y="3191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Protocols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4414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CC-CV charging, enabling standardised capacity check-up tests for cross-dataset degradation comparison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07608" y="2990088"/>
            <a:ext cx="2715768" cy="1737360"/>
          </a:xfrm>
          <a:prstGeom prst="roundRect">
            <a:avLst>
              <a:gd name="adj" fmla="val 5263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172968"/>
            <a:ext cx="621792" cy="6217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NMC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0296" y="3191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NMC Representation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3703320"/>
            <a:ext cx="24414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CALCE INR 18650-20R and Oxford pouch cells are NMC — enabling consistent single-chemistry analysis for this study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NMC Chemistry? — Four Key Reasons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47472" y="1252728"/>
            <a:ext cx="594360" cy="59436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252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118872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Availability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536192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CALCE INR 18650-20R (Samsung, 2.0 Ah) is confirmed NMC. Oxford pouch cells are NMC-type. Two datasets with NMC data enable cross-validated, consistent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029968"/>
            <a:ext cx="8449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212848"/>
            <a:ext cx="594360" cy="594360"/>
          </a:xfrm>
          <a:prstGeom prst="ellipse">
            <a:avLst/>
          </a:prstGeom>
          <a:solidFill>
            <a:srgbClr val="025E8C"/>
          </a:solidFill>
          <a:ln w="12700">
            <a:solidFill>
              <a:srgbClr val="025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14884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496312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D1 (Mulpuri et al.) and D2 (Si et al.) both use NMC-811 cells. Using the same chemistry allows direct benchmarking of our ML results against published findings.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990088"/>
            <a:ext cx="8449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3172968"/>
            <a:ext cx="594360" cy="594360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172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310896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Market Dominance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3456432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powers Tesla Model 3 LR, BMW i4, VW ID.4, Hyundai Ioniq 5 and represents 45-60% of global EV sales. Highest energy density among commercially available chemistries (200-250 Wh/kg).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49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133088"/>
            <a:ext cx="594360" cy="594360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133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92" y="406908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Richness for SHAP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416552"/>
            <a:ext cx="7772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undergoes SEI growth, particle cracking, lithium plating, Loss of Lithium Inventory (LLI) and Loss of Active Material (LAM). Rich multi-mode degradation enables meaningful SHAP feature attribution.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736592"/>
            <a:ext cx="8449056" cy="274320"/>
          </a:xfrm>
          <a:prstGeom prst="roundRect">
            <a:avLst>
              <a:gd name="adj" fmla="val 16667"/>
            </a:avLst>
          </a:prstGeom>
          <a:solidFill>
            <a:srgbClr val="0096B7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4736592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Selected: NMC (CALCE INR 18650-20R + Oxford pouch cells)  —  enables consistent cross-dataset ML training and benchmarking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Fleet Data — Delivery Truck Duty Cycles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DNA Dataset (NREL)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41605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 National Renewable Energy Laboratory (NREL)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data_for_fleet_dna_delivery_trucks.csv (local)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commercial delivery truck GPS + drive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speed profiles, distance, idle time, trip segments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duty cycle severity metrics: KI, RPA, PKE, C-rate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Stop-go urban pattern = highest degradation risk (per D1 paper)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41330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Dataset-to-Fleet Connection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988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stop-go patterns match CALCE DST/FUDS dynamic profiles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cycle stress validates Oxford pouch cell aging conditions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78992"/>
            <a:ext cx="4041648" cy="3977640"/>
          </a:xfrm>
          <a:prstGeom prst="roundRect">
            <a:avLst>
              <a:gd name="adj" fmla="val 2299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2070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Literature — EV Fleet Battery Health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37760" y="1709928"/>
            <a:ext cx="3767328" cy="713232"/>
          </a:xfrm>
          <a:prstGeom prst="roundRect">
            <a:avLst>
              <a:gd name="adj" fmla="val 10256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755648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Mulpuri et al. 2025 (RSC Advances)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stop-go duty cycle causes ~2x faster NMC-811 degradation vs. highway — directly applicable to delivery fleet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2514600"/>
            <a:ext cx="3767328" cy="713232"/>
          </a:xfrm>
          <a:prstGeom prst="roundRect">
            <a:avLst>
              <a:gd name="adj" fmla="val 10256"/>
            </a:avLst>
          </a:prstGeom>
          <a:solidFill>
            <a:srgbClr val="EB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56032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Severson et al. 2019 (Nature Energy)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79806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trip data (first 100 cycles) predicts battery EOL — enables proactive fleet battery replacement scheduling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3319272"/>
            <a:ext cx="3767328" cy="713232"/>
          </a:xfrm>
          <a:prstGeom prst="roundRect">
            <a:avLst>
              <a:gd name="adj" fmla="val 10256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364992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Zero Emission Vehicle Mandate (2024)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60273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ZEV sales target by 2030 — fleet operators urgently need duty-cycle-aware battery health management tools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4123944"/>
            <a:ext cx="3767328" cy="713232"/>
          </a:xfrm>
          <a:prstGeom prst="roundRect">
            <a:avLst>
              <a:gd name="adj" fmla="val 10256"/>
            </a:avLst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4169664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Faraday Battery Challenge (UK Gov.)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44074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fleet duty cycle characterisation as a critical gap in commercial EV battery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 — 7-Stage Framework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35024" y="2203704"/>
            <a:ext cx="155448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1B4F72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CALCE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Fleet DNA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9464" y="2203704"/>
            <a:ext cx="155448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047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025E8C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9047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3619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3619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RPA PKE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C-rate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03904" y="2203704"/>
            <a:ext cx="155448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491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2491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6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7063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7063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trends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38344" y="2203704"/>
            <a:ext cx="155448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935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935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0507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0507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XGBoost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 LSTM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72784" y="2203704"/>
            <a:ext cx="155448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9379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9379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951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951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Duty-cycle link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07224" y="2203704"/>
            <a:ext cx="155448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2823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7395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PyBaMM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395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SPMe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NMC-811 valid.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662672" y="1152144"/>
            <a:ext cx="1078992" cy="210312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62672" y="126187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08392" y="1755648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Index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08392" y="2615184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metric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" y="3447288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1B4F72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344728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10512" y="3447288"/>
            <a:ext cx="1417320" cy="301752"/>
          </a:xfrm>
          <a:prstGeom prst="roundRect">
            <a:avLst>
              <a:gd name="adj" fmla="val 15152"/>
            </a:avLst>
          </a:prstGeom>
          <a:solidFill>
            <a:srgbClr val="F8FBFF"/>
          </a:solidFill>
          <a:ln/>
        </p:spPr>
      </p:sp>
      <p:sp>
        <p:nvSpPr>
          <p:cNvPr id="41" name="Text 39"/>
          <p:cNvSpPr/>
          <p:nvPr/>
        </p:nvSpPr>
        <p:spPr>
          <a:xfrm>
            <a:off x="1810512" y="344728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F72"/>
                </a:solidFill>
              </a:rPr>
              <a:t>Upcoming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56032" y="3822192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Stage: 2-3  —  Literature Review Complete · Data Downloaded &amp; Organised · EDA Starting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6032" y="4233672"/>
            <a:ext cx="8631936" cy="621792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4270248"/>
            <a:ext cx="8449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Timeline:  May-Jun (Literature + Data)  ·  Jul (ML Models)  ·  Aug (SHAP + PyBaMM)  ·  Sep (FSI + Writing + Submission)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73736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749040"/>
            <a:ext cx="2560320" cy="2560320"/>
          </a:xfrm>
          <a:prstGeom prst="ellipse">
            <a:avLst/>
          </a:prstGeom>
          <a:solidFill>
            <a:srgbClr val="0096B7">
              <a:alpha val="15000"/>
            </a:srgbClr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Weeks 5 &amp; 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7955280" cy="0"/>
          </a:xfrm>
          <a:prstGeom prst="line">
            <a:avLst/>
          </a:prstGeom>
          <a:noFill/>
          <a:ln w="12700">
            <a:solidFill>
              <a:srgbClr val="0096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069080" cy="3749040"/>
          </a:xfrm>
          <a:prstGeom prst="roundRect">
            <a:avLst>
              <a:gd name="adj" fmla="val 243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52728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96B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52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5  (24-30 Jun)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EDA on CALCE NMC + Oxford datasets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duty cycle metrics from Fleet DNA CSV (KI, RPA, PKE)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prototype FSI scores for delivery truck routes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analysis: cycle severity vs. capacity fade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069080" cy="3749040"/>
          </a:xfrm>
          <a:prstGeom prst="roundRect">
            <a:avLst>
              <a:gd name="adj" fmla="val 243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252728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96B7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52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6  (1-7 Jul)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ML models: Random Forest, XGBoost, LightGBM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initial SHAP feature importance plots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Chapter 2 (Literature Review) — target 3,500 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3 additional papers from reference list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EG7030 Week 4 Progress Update</dc:title>
  <dc:subject>PptxGenJS Presentation</dc:subject>
  <dc:creator>Usha Rani V.</dc:creator>
  <cp:lastModifiedBy>Usha Rani V.</cp:lastModifiedBy>
  <cp:revision>1</cp:revision>
  <dcterms:created xsi:type="dcterms:W3CDTF">2026-06-23T01:56:58Z</dcterms:created>
  <dcterms:modified xsi:type="dcterms:W3CDTF">2026-06-23T01:56:58Z</dcterms:modified>
</cp:coreProperties>
</file>