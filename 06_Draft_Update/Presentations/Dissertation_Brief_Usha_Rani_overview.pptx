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Dissertation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Duty Cycle-Aware Battery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Degradation Analytics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Electric Vehicle Fleet Applications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3657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3375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Usha Rani Vamanagiri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Electric Vehicle Engineering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East London  |  Student ID: u2965962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 Abdulrahman Albar  |  EG7030 Term 3 (2025–26)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3931920" cy="3840480"/>
          </a:xfrm>
          <a:prstGeom prst="roundRect">
            <a:avLst>
              <a:gd name="adj" fmla="val 285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What exists today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Lab-based datasets only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ignore real-world drive patterns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 between duty cycle severity and ageing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operators lack actionable battery intelligence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ML models — not explainable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54880" y="868680"/>
            <a:ext cx="3931920" cy="3840480"/>
          </a:xfrm>
          <a:prstGeom prst="roundRect">
            <a:avLst>
              <a:gd name="adj" fmla="val 2857"/>
            </a:avLst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This research proposes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5087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cycle-aware degradation framework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cycle integration (WLTP, UDDS, FTP-75…)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Severity Index (FSI) — novel contribution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ML via SHAP analysis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Fleet-level predictive maintenance framework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2788920" cy="1188720"/>
          </a:xfrm>
          <a:prstGeom prst="roundRect">
            <a:avLst>
              <a:gd name="adj" fmla="val 7692"/>
            </a:avLst>
          </a:prstGeom>
          <a:solidFill>
            <a:srgbClr val="0A3B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8961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8961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battery degradation, fleet intelligence, drive cycle analysis, predictive maintenance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2148840"/>
            <a:ext cx="2788920" cy="1188720"/>
          </a:xfrm>
          <a:prstGeom prst="roundRect">
            <a:avLst>
              <a:gd name="adj" fmla="val 7692"/>
            </a:avLst>
          </a:prstGeom>
          <a:solidFill>
            <a:srgbClr val="0A3B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2219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2219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Analysis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60604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NASA, CALCE, Oxford datasets across chemistries, capacities and cycling conditions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3474720"/>
            <a:ext cx="2788920" cy="1188720"/>
          </a:xfrm>
          <a:prstGeom prst="roundRect">
            <a:avLst>
              <a:gd name="adj" fmla="val 7692"/>
            </a:avLst>
          </a:prstGeom>
          <a:solidFill>
            <a:srgbClr val="0A3B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354787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5478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Stress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93192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stress indicators from WLTP, UDDS, FTP-75, HWFET, NEDC drive cycles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822960"/>
            <a:ext cx="2788920" cy="1188720"/>
          </a:xfrm>
          <a:prstGeom prst="roundRect">
            <a:avLst>
              <a:gd name="adj" fmla="val 7692"/>
            </a:avLst>
          </a:prstGeom>
          <a:solidFill>
            <a:srgbClr val="0B4A7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37560" y="8961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40480" y="8961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Cycle Correlation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128016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dynamic current demand and duty cycles to capacity fade and degradation behaviour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2148840"/>
            <a:ext cx="2788920" cy="1188720"/>
          </a:xfrm>
          <a:prstGeom prst="roundRect">
            <a:avLst>
              <a:gd name="adj" fmla="val 7692"/>
            </a:avLst>
          </a:prstGeom>
          <a:solidFill>
            <a:srgbClr val="0B4A7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37560" y="22219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40480" y="22219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260604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SoH, internal resistance, coulombic efficiency, RMS current, C-rate variability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46120" y="3474720"/>
            <a:ext cx="2788920" cy="1188720"/>
          </a:xfrm>
          <a:prstGeom prst="roundRect">
            <a:avLst>
              <a:gd name="adj" fmla="val 7692"/>
            </a:avLst>
          </a:prstGeom>
          <a:solidFill>
            <a:srgbClr val="0B4A7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37560" y="354787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840480" y="35478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Benchmarking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393192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XGBoost, Gradient Boosting, SVM, LSTM — classification, degradation prediction, RUL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72200" y="822960"/>
            <a:ext cx="2788920" cy="1188720"/>
          </a:xfrm>
          <a:prstGeom prst="roundRect">
            <a:avLst>
              <a:gd name="adj" fmla="val 7692"/>
            </a:avLst>
          </a:prstGeom>
          <a:solidFill>
            <a:srgbClr val="0C588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63640" y="8961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66560" y="8961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(SHAP)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128016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dominant operational factors contributing to degradation using SHAP analysis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72200" y="2148840"/>
            <a:ext cx="2788920" cy="1188720"/>
          </a:xfrm>
          <a:prstGeom prst="roundRect">
            <a:avLst>
              <a:gd name="adj" fmla="val 7692"/>
            </a:avLst>
          </a:prstGeom>
          <a:solidFill>
            <a:srgbClr val="0C588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63640" y="22219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766560" y="22219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Framework (FSI)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260604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 and battery severity ranking based on operational stress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72200" y="3474720"/>
            <a:ext cx="2788920" cy="1188720"/>
          </a:xfrm>
          <a:prstGeom prst="roundRect">
            <a:avLst>
              <a:gd name="adj" fmla="val 7692"/>
            </a:avLst>
          </a:prstGeom>
          <a:solidFill>
            <a:srgbClr val="0C588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63640" y="354787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766560" y="35478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Policy Context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63640" y="3931920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findings to ZEV Mandate, Faraday Battery Challenge and sustainability targets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Multi-Stage Framework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1325880" cy="3474720"/>
          </a:xfrm>
          <a:prstGeom prst="roundRect">
            <a:avLst>
              <a:gd name="adj" fmla="val 689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9601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380744"/>
            <a:ext cx="9144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 &amp; Preprocessing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1234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· CALCE · Oxford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normalisation, cycle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19072" y="868680"/>
            <a:ext cx="1325880" cy="3474720"/>
          </a:xfrm>
          <a:prstGeom prst="roundRect">
            <a:avLst>
              <a:gd name="adj" fmla="val 689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64792" y="9601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901952" y="1380744"/>
            <a:ext cx="9144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64792" y="146304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Cycle &amp; Stress Analysis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64792" y="2377440"/>
            <a:ext cx="1234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WLTP · UDDS · FTP-75 · HWFET · NEDC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Accel/decel, regen braking, C-rate demand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18104" y="868680"/>
            <a:ext cx="1325880" cy="3474720"/>
          </a:xfrm>
          <a:prstGeom prst="roundRect">
            <a:avLst>
              <a:gd name="adj" fmla="val 689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63824" y="9601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300984" y="1380744"/>
            <a:ext cx="9144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63824" y="146304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63824" y="2377440"/>
            <a:ext cx="1234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 · ΔR · Coulombic efficiency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current · Equivalent full cycles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17136" y="868680"/>
            <a:ext cx="1325880" cy="3474720"/>
          </a:xfrm>
          <a:prstGeom prst="roundRect">
            <a:avLst>
              <a:gd name="adj" fmla="val 6897"/>
            </a:avLst>
          </a:prstGeom>
          <a:solidFill>
            <a:srgbClr val="02779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62856" y="9601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700016" y="1380744"/>
            <a:ext cx="9144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62856" y="146304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Benchmarking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62856" y="2377440"/>
            <a:ext cx="1234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· XGBoost · GB · SVM · LSTM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Prediction · RUL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16168" y="868680"/>
            <a:ext cx="1325880" cy="3474720"/>
          </a:xfrm>
          <a:prstGeom prst="roundRect">
            <a:avLst>
              <a:gd name="adj" fmla="val 6897"/>
            </a:avLst>
          </a:prstGeom>
          <a:solidFill>
            <a:srgbClr val="02668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61888" y="9601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099048" y="1380744"/>
            <a:ext cx="9144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61888" y="146304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61888" y="2377440"/>
            <a:ext cx="1234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per model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degradation factors identified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0" y="868680"/>
            <a:ext cx="1325880" cy="3474720"/>
          </a:xfrm>
          <a:prstGeom prst="roundRect">
            <a:avLst>
              <a:gd name="adj" fmla="val 6897"/>
            </a:avLst>
          </a:prstGeom>
          <a:solidFill>
            <a:srgbClr val="0AC39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60920" y="9601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498080" y="1380744"/>
            <a:ext cx="9144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146304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Framework (FSI)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60920" y="2377440"/>
            <a:ext cx="1234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severity ranking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 scheduling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4572000"/>
            <a:ext cx="8503920" cy="411480"/>
          </a:xfrm>
          <a:prstGeom prst="roundRect">
            <a:avLst>
              <a:gd name="adj" fmla="val 17778"/>
            </a:avLst>
          </a:prstGeom>
          <a:solidFill>
            <a:srgbClr val="0A2342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459943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Accuracy · Precision · Recall · F1-score · RMSE · MAE · Cross-validation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&amp; Drive Cycles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Degradation Datasets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0A3B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984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Prognostics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charge/discharge cycling, impedance, capacity degradation under controlled ageing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0A3B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532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CALCE (Univ. Maryland)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6207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Multi-chemistry ageing datasets, impedance across operational conditions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70332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0A3B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7673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Battery Dataset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09651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degradation experiments, dynamic cycling for ML ageing analysis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8229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&amp; Operational Datasets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2344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0A3B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298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Geotab EV Fleet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62763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telematics: 22,700+ vehicles, utilisation, charge patterns, degradation rates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0A3B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5328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NREL Fleet &amp; Transportation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86207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fleet operational data, energy use, charging behaviour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70332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0A3B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37673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Energy Data Initiative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409651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fleet datasets for EV operational profiling and analysis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48056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0C588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526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Cycles:  WLTP  ·  UDDS  ·  FTP-75  ·  HWFET  ·  NEDC  ·  Urban stop-go profiles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 Contributions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114800" cy="4069080"/>
          </a:xfrm>
          <a:prstGeom prst="roundRect">
            <a:avLst>
              <a:gd name="adj" fmla="val 337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Severity Index (FSI)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quantified severity score derived from fleet operational data to rank duty cycle impact on battery degradation.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1762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FSI Input Factors: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542032"/>
            <a:ext cx="3749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current demand &amp; C-rate variability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behaviour &amp; depth of discharge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Cycling stress &amp; equivalent full cycles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 / deceleration patterns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Regenerative braking intensity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exposure indicators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023360" cy="192024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Explainability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138988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interpretability layer applied to all ML models — reveals which operational features most influence degradation, making predictions actionable for fleet operators.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880360"/>
            <a:ext cx="4023360" cy="2011680"/>
          </a:xfrm>
          <a:prstGeom prst="roundRect">
            <a:avLst>
              <a:gd name="adj" fmla="val 6818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Duty Cycle-Aware Degradation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3456432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 between laboratory ageing datasets and real-world EV fleet behaviour by correlating standardised drive cycle load profiles with capacity fade progression.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1353312" cy="3383280"/>
          </a:xfrm>
          <a:prstGeom prst="roundRect">
            <a:avLst>
              <a:gd name="adj" fmla="val 675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87782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Literature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960120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67712"/>
            <a:ext cx="126187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confirmation, dataset download,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Python/MATLAB env, 10–15 papers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83080" y="804672"/>
            <a:ext cx="1353312" cy="3383280"/>
          </a:xfrm>
          <a:prstGeom prst="roundRect">
            <a:avLst>
              <a:gd name="adj" fmla="val 675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87782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1170432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1261872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190195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Jun 2026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65960" y="2194560"/>
            <a:ext cx="960120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2267712"/>
            <a:ext cx="126187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feature engineering, data cleaning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normalisation across all datasets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6120" y="804672"/>
            <a:ext cx="1353312" cy="3383280"/>
          </a:xfrm>
          <a:prstGeom prst="roundRect">
            <a:avLst>
              <a:gd name="adj" fmla="val 675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877824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1261872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190195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Jun – Jul 2026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29000" y="2194560"/>
            <a:ext cx="960120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267712"/>
            <a:ext cx="126187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XGBoost, LSTM modelling,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and cross-validation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804672"/>
            <a:ext cx="1353312" cy="3383280"/>
          </a:xfrm>
          <a:prstGeom prst="roundRect">
            <a:avLst>
              <a:gd name="adj" fmla="val 6757"/>
            </a:avLst>
          </a:prstGeom>
          <a:solidFill>
            <a:srgbClr val="02779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877824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1261872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Design (FSI)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190195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Jul 2026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2194560"/>
            <a:ext cx="960120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267712"/>
            <a:ext cx="126187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Severity Index + preventive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decision framework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72200" y="804672"/>
            <a:ext cx="1353312" cy="3383280"/>
          </a:xfrm>
          <a:prstGeom prst="roundRect">
            <a:avLst>
              <a:gd name="adj" fmla="val 6757"/>
            </a:avLst>
          </a:prstGeom>
          <a:solidFill>
            <a:srgbClr val="02668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17920" y="877824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1261872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190195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Aug 2026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55080" y="2194560"/>
            <a:ext cx="960120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2267712"/>
            <a:ext cx="126187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analysis, visualisations,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and limitations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35240" y="804672"/>
            <a:ext cx="1353312" cy="3383280"/>
          </a:xfrm>
          <a:prstGeom prst="roundRect">
            <a:avLst>
              <a:gd name="adj" fmla="val 6757"/>
            </a:avLst>
          </a:prstGeom>
          <a:solidFill>
            <a:srgbClr val="021F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680960" y="877824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80960" y="1261872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&amp; Submission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80960" y="190195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– Sep 2026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818120" y="2194560"/>
            <a:ext cx="960120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0" y="2267712"/>
            <a:ext cx="126187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12,500-word dissertation,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review, UEL submission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4343400"/>
            <a:ext cx="8503920" cy="640080"/>
          </a:xfrm>
          <a:prstGeom prst="roundRect">
            <a:avLst>
              <a:gd name="adj" fmla="val 14286"/>
            </a:avLst>
          </a:prstGeom>
          <a:solidFill>
            <a:srgbClr val="0C5880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4165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Key Deadlines: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Draft — 1 Sep 2026   </a:t>
            </a:r>
            <a:pPr algn="ctr" indent="0" marL="0">
              <a:buNone/>
            </a:pPr>
            <a:r>
              <a:rPr lang="en-US" sz="12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Oral Exam — 8 Sep 2026   </a:t>
            </a:r>
            <a:pPr algn="ctr" indent="0" marL="0">
              <a:buNone/>
            </a:pPr>
            <a:r>
              <a:rPr lang="en-US" sz="12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Final Submission — 15 Sep 2026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 Policy Relevance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128016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Emission Vehicle Mandate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government mandate requiring 100% of new car sales to be zero emission by 2035. Fleet battery intelligence directly supports operator compliance and asset lifecycle planning.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258568"/>
            <a:ext cx="8412480" cy="128016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3317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Faraday Battery Challenge (Innovate UK)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15768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programme funding battery research, manufacturing, and scale-up. This dissertation aligns with Faraday's goals of improving real-world battery lifetime and predictive health monitoring.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675888"/>
            <a:ext cx="8412480" cy="128016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7490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Sustainability Targets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133088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circular economy and second-life battery policy. Accurate RUL prediction and degradation analytics underpin sustainable repurposing and end-of-life decision making.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0A3B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Finalise working dissertation title with Dr Albar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0C4D7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76479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Complete data preparation on NASA, CALCE and Oxford datasets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340864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0A3B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386584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Begin ML model pipeline development (RF → XGBoost → LSTM)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962656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0C4D7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008376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Define FSI formula and weighting methodology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584448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0A3B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630168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Share weekly progress via UEL supervisor form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0C4D7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4251960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Draft Chapter 1 (Introduction) and Chapter 2 (Literature Review)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Usha Rani Vamanagiri  |  u2965962@uel.ac.uk  |  +44 7810 582646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Duty Cycle-Aware Battery Degradation Analytics</dc:title>
  <dc:subject>PptxGenJS Presentation</dc:subject>
  <dc:creator>Usha Rani Vamanagiri</dc:creator>
  <cp:lastModifiedBy>Usha Rani Vamanagiri</cp:lastModifiedBy>
  <cp:revision>1</cp:revision>
  <dcterms:created xsi:type="dcterms:W3CDTF">2026-06-20T20:03:36Z</dcterms:created>
  <dcterms:modified xsi:type="dcterms:W3CDTF">2026-06-20T20:03:36Z</dcterms:modified>
</cp:coreProperties>
</file>