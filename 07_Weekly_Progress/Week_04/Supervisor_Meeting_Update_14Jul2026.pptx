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9" d="100"/>
          <a:sy n="129" d="100"/>
        </p:scale>
        <p:origin x="1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891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Dr. Albar. Thank you for your time today.
My dissertation investigates how different EV fleet duty cycles degrade NMC batteries differently, and proposes a Fleet Severity Index (FSI) as a novel contribution to quantify real-world battery stress.
Today I want to share what I have completed over the last few weeks — Stages 1 through 3 are complete — and get your guidance on a few key decisions before I move into the ML modelling phase.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 Data Preprocessing:
I collected four lab battery datasets and extracted per-cycle capacity measurements. The trickiest part was the CALCE Arbin cycler which stores cumulative capacity — I had to implement a delta-extraction approach to get the correct per-cycle values. Total: 9,031 validated lab cycles.
STAGE 2 — Duty Cycle Feature Extraction:
I processed 553 real-world delivery truck trips from NREL Fleet DNA, computing Kinetic Intensity, RPA, CVI, RBF, DCSS, and FSI for each trip. I also processed the CALCE dynamic current profiles (DST, FUDS, US06, BJDST) at 0, 25, and 45 degrees C. The master ML dataset has 9,031 rows and 24 features.
STAGE 3 — EDA + FSI Validation:
The novel contribution is the Fleet Severity Index shown on the right. I extended the analysis to three fleet types — delivery trucks, transit buses, and refuse trucks — all from Fleet DNA. Transit buses have the highest Kinetic Intensity (mean 1.86 vs 0.66 for delivery), and their FSI is 70% above the lab test baseline. This validates that lab constant-current tests under-represent real fleet degradation.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STAT — +70% FSI above lab:
Every real-world fleet operates at significantly higher Fleet Severity Index than any lab test. The biggest driver is Kinetic Intensity — KI is zero in all constant-current lab tests, but ranges from 0.66 to 1.86 across the three fleet types.
THREE-FLEET COMPARISON:
- Delivery trucks: 553 trips, 36 vehicles, KI mean 0.66, FSI mean 0.450, projected SoH ~77%
- Transit buses: 472 trips, 19 vehicles, KI mean 1.86, FSI mean 0.518, projected SoH ~86%
- Refuse trucks: 387 trips, 39 vehicles, KI mean 1.08, FSI mean 0.456, projected SoH ~79%
COUNTER-INTUITIVE FINDING:
Transit buses have the highest KI but project the healthiest batteries. Their IRMS (root-mean-square current) is lower than delivery trucks because transit buses run at consistent low speeds between stops. This shows FSI correctly integrates multiple stress factors, which KI alone cannot do.
NOVEL CONTRIBUTION:
The FSI framework bridges lab and fleet by treating KI as a measured duty-cycle input. Stage 5 SHAP analysis will quantify exactly how much each component contributes to SoH prediction — validating the 30/25/25/20 weighting scheme.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ML Models (This week):
I will train Random Forest, XGBoost, Gradient Boosting, SVM for classification (Healthy / Degraded / End-of-Life) and LSTM for SoH regression prediction. The dissertation currently has placeholder accuracy numbers (XGBoost 93.7%, LSTM R2=0.981) which I need to replace with real computed values.
STAGE 5 — SHAP (Next week):
SHAP TreeExplainer on the trained XGBoost model will quantify whether KI has the highest feature importance for SoH prediction — which would validate the 30% weight I gave it in the FSI formula.
QUESTION 1 — FSI Formula:
The dissertation draft uses: FSI = 0.25*DCSS + 0.35*(1-SoH_pred) + 0.25*dSoH_rate + 0.15*EFC/EFC_max. My computed FSI uses KI, DoD, T, and C-peak. I need your guidance on which to use as the primary FSI definition going forward.
QUESTION 2 — Class Imbalance:
The ML dataset has 7,100 End-of-Life rows vs only 832 Healthy rows. This will bias the classifier. I am planning to use SMOTE to oversample the minority classes, but wanted to confirm this is the right approach for time-series battery data.
QUESTION 3 — Mendeley Dataset:
Currently all fleet SoH estimates are projected from the lab regression — not directly measured. Adding a real-world EV dataset with measurable SoH would strengthen the validation chapter. Is this worth the extra preprocessing time, or should I focus on completing Stages 4-7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B45"/>
          </a:solidFill>
          <a:ln/>
        </p:spPr>
      </p:sp>
      <p:sp>
        <p:nvSpPr>
          <p:cNvPr id="3" name="Shape 1"/>
          <p:cNvSpPr/>
          <p:nvPr/>
        </p:nvSpPr>
        <p:spPr>
          <a:xfrm>
            <a:off x="0" y="0"/>
            <a:ext cx="164592" cy="5143500"/>
          </a:xfrm>
          <a:prstGeom prst="rect">
            <a:avLst/>
          </a:prstGeom>
          <a:solidFill>
            <a:srgbClr val="0E6B8C"/>
          </a:solidFill>
          <a:ln/>
        </p:spPr>
      </p:sp>
      <p:sp>
        <p:nvSpPr>
          <p:cNvPr id="4" name="Shape 2"/>
          <p:cNvSpPr/>
          <p:nvPr/>
        </p:nvSpPr>
        <p:spPr>
          <a:xfrm>
            <a:off x="8211312" y="164592"/>
            <a:ext cx="402336" cy="402336"/>
          </a:xfrm>
          <a:prstGeom prst="ellipse">
            <a:avLst/>
          </a:prstGeom>
          <a:solidFill>
            <a:srgbClr val="02C39A">
              <a:alpha val="45000"/>
            </a:srgbClr>
          </a:solidFill>
          <a:ln/>
        </p:spPr>
      </p:sp>
      <p:sp>
        <p:nvSpPr>
          <p:cNvPr id="5" name="Shape 3"/>
          <p:cNvSpPr/>
          <p:nvPr/>
        </p:nvSpPr>
        <p:spPr>
          <a:xfrm>
            <a:off x="8650224" y="512064"/>
            <a:ext cx="256032" cy="256032"/>
          </a:xfrm>
          <a:prstGeom prst="ellipse">
            <a:avLst/>
          </a:prstGeom>
          <a:solidFill>
            <a:srgbClr val="02C39A">
              <a:alpha val="45000"/>
            </a:srgbClr>
          </a:solidFill>
          <a:ln/>
        </p:spPr>
      </p:sp>
      <p:sp>
        <p:nvSpPr>
          <p:cNvPr id="6" name="Shape 4"/>
          <p:cNvSpPr/>
          <p:nvPr/>
        </p:nvSpPr>
        <p:spPr>
          <a:xfrm>
            <a:off x="8138160" y="594360"/>
            <a:ext cx="182880" cy="182880"/>
          </a:xfrm>
          <a:prstGeom prst="ellipse">
            <a:avLst/>
          </a:prstGeom>
          <a:solidFill>
            <a:srgbClr val="02C39A">
              <a:alpha val="45000"/>
            </a:srgbClr>
          </a:solidFill>
          <a:ln/>
        </p:spPr>
      </p:sp>
      <p:sp>
        <p:nvSpPr>
          <p:cNvPr id="7" name="Shape 5"/>
          <p:cNvSpPr/>
          <p:nvPr/>
        </p:nvSpPr>
        <p:spPr>
          <a:xfrm>
            <a:off x="8613648" y="932688"/>
            <a:ext cx="146304" cy="146304"/>
          </a:xfrm>
          <a:prstGeom prst="ellipse">
            <a:avLst/>
          </a:prstGeom>
          <a:solidFill>
            <a:srgbClr val="02C39A">
              <a:alpha val="45000"/>
            </a:srgbClr>
          </a:solidFill>
          <a:ln/>
        </p:spPr>
      </p:sp>
      <p:sp>
        <p:nvSpPr>
          <p:cNvPr id="8" name="Shape 6"/>
          <p:cNvSpPr/>
          <p:nvPr/>
        </p:nvSpPr>
        <p:spPr>
          <a:xfrm>
            <a:off x="7982712" y="438912"/>
            <a:ext cx="128016" cy="128016"/>
          </a:xfrm>
          <a:prstGeom prst="ellipse">
            <a:avLst/>
          </a:prstGeom>
          <a:solidFill>
            <a:srgbClr val="02C39A">
              <a:alpha val="45000"/>
            </a:srgbClr>
          </a:solidFill>
          <a:ln/>
        </p:spPr>
      </p:sp>
      <p:sp>
        <p:nvSpPr>
          <p:cNvPr id="9" name="Text 7"/>
          <p:cNvSpPr/>
          <p:nvPr/>
        </p:nvSpPr>
        <p:spPr>
          <a:xfrm>
            <a:off x="320040" y="256032"/>
            <a:ext cx="7772400" cy="256032"/>
          </a:xfrm>
          <a:prstGeom prst="rect">
            <a:avLst/>
          </a:prstGeom>
          <a:noFill/>
          <a:ln/>
        </p:spPr>
        <p:txBody>
          <a:bodyPr wrap="square" rtlCol="0" anchor="ctr"/>
          <a:lstStyle/>
          <a:p>
            <a:pPr marL="0" indent="0" algn="l">
              <a:buNone/>
            </a:pPr>
            <a:r>
              <a:rPr lang="en-US" sz="1000" b="1" dirty="0">
                <a:solidFill>
                  <a:srgbClr val="02C39A"/>
                </a:solidFill>
                <a:latin typeface="Calibri" pitchFamily="34" charset="0"/>
                <a:ea typeface="Calibri" pitchFamily="34" charset="-122"/>
                <a:cs typeface="Calibri" pitchFamily="34" charset="-120"/>
              </a:rPr>
              <a:t>EG7030 — MSc Electric Vehicle Engineering | UEL</a:t>
            </a:r>
            <a:endParaRPr lang="en-US" sz="1000" dirty="0"/>
          </a:p>
        </p:txBody>
      </p:sp>
      <p:sp>
        <p:nvSpPr>
          <p:cNvPr id="10" name="Text 8"/>
          <p:cNvSpPr/>
          <p:nvPr/>
        </p:nvSpPr>
        <p:spPr>
          <a:xfrm>
            <a:off x="320040" y="594360"/>
            <a:ext cx="8046720" cy="1325880"/>
          </a:xfrm>
          <a:prstGeom prst="rect">
            <a:avLst/>
          </a:prstGeom>
          <a:noFill/>
          <a:ln/>
        </p:spPr>
        <p:txBody>
          <a:bodyPr wrap="square" rtlCol="0" anchor="t"/>
          <a:lstStyle/>
          <a:p>
            <a:pPr marL="0" indent="0" algn="l">
              <a:lnSpc>
                <a:spcPct val="115000"/>
              </a:lnSpc>
              <a:buNone/>
            </a:pPr>
            <a:r>
              <a:rPr lang="en-US" sz="3000" b="1" dirty="0">
                <a:solidFill>
                  <a:srgbClr val="FFFFFF"/>
                </a:solidFill>
                <a:latin typeface="Cambria" pitchFamily="34" charset="0"/>
                <a:ea typeface="Cambria" pitchFamily="34" charset="-122"/>
                <a:cs typeface="Cambria" pitchFamily="34" charset="-120"/>
              </a:rPr>
              <a:t>Duty Cycle-Aware Battery Degradation</a:t>
            </a:r>
            <a:endParaRPr lang="en-US" sz="3000" dirty="0"/>
          </a:p>
          <a:p>
            <a:pPr marL="0" indent="0" algn="l">
              <a:lnSpc>
                <a:spcPct val="115000"/>
              </a:lnSpc>
              <a:buNone/>
            </a:pPr>
            <a:r>
              <a:rPr lang="en-US" sz="3000" b="1" dirty="0">
                <a:solidFill>
                  <a:srgbClr val="FFFFFF"/>
                </a:solidFill>
                <a:latin typeface="Cambria" pitchFamily="34" charset="0"/>
                <a:ea typeface="Cambria" pitchFamily="34" charset="-122"/>
                <a:cs typeface="Cambria" pitchFamily="34" charset="-120"/>
              </a:rPr>
              <a:t>Analytics for EV Fleet Applications</a:t>
            </a:r>
            <a:endParaRPr lang="en-US" sz="3000" dirty="0"/>
          </a:p>
        </p:txBody>
      </p:sp>
      <p:sp>
        <p:nvSpPr>
          <p:cNvPr id="11" name="Text 9"/>
          <p:cNvSpPr/>
          <p:nvPr/>
        </p:nvSpPr>
        <p:spPr>
          <a:xfrm>
            <a:off x="320040" y="1993392"/>
            <a:ext cx="6400800" cy="320040"/>
          </a:xfrm>
          <a:prstGeom prst="rect">
            <a:avLst/>
          </a:prstGeom>
          <a:noFill/>
          <a:ln/>
        </p:spPr>
        <p:txBody>
          <a:bodyPr wrap="square" rtlCol="0" anchor="ctr"/>
          <a:lstStyle/>
          <a:p>
            <a:pPr marL="0" indent="0" algn="l">
              <a:buNone/>
            </a:pPr>
            <a:r>
              <a:rPr lang="en-US" sz="1400" dirty="0">
                <a:solidFill>
                  <a:srgbClr val="E4EEF5"/>
                </a:solidFill>
                <a:latin typeface="Calibri" pitchFamily="34" charset="0"/>
                <a:ea typeface="Calibri" pitchFamily="34" charset="-122"/>
                <a:cs typeface="Calibri" pitchFamily="34" charset="-120"/>
              </a:rPr>
              <a:t>Supervisor Meeting — Progress Update</a:t>
            </a:r>
            <a:endParaRPr lang="en-US" sz="1400" dirty="0"/>
          </a:p>
        </p:txBody>
      </p:sp>
      <p:sp>
        <p:nvSpPr>
          <p:cNvPr id="12" name="Shape 10"/>
          <p:cNvSpPr/>
          <p:nvPr/>
        </p:nvSpPr>
        <p:spPr>
          <a:xfrm>
            <a:off x="320040" y="2377440"/>
            <a:ext cx="2926080" cy="36576"/>
          </a:xfrm>
          <a:prstGeom prst="rect">
            <a:avLst/>
          </a:prstGeom>
          <a:solidFill>
            <a:srgbClr val="02C39A"/>
          </a:solidFill>
          <a:ln/>
        </p:spPr>
      </p:sp>
      <p:sp>
        <p:nvSpPr>
          <p:cNvPr id="13" name="Text 11"/>
          <p:cNvSpPr/>
          <p:nvPr/>
        </p:nvSpPr>
        <p:spPr>
          <a:xfrm>
            <a:off x="320040" y="2560320"/>
            <a:ext cx="1280160" cy="292608"/>
          </a:xfrm>
          <a:prstGeom prst="rect">
            <a:avLst/>
          </a:prstGeom>
          <a:noFill/>
          <a:ln/>
        </p:spPr>
        <p:txBody>
          <a:bodyPr wrap="square" rtlCol="0" anchor="ctr"/>
          <a:lstStyle/>
          <a:p>
            <a:pPr marL="0" indent="0" algn="l">
              <a:buNone/>
            </a:pPr>
            <a:r>
              <a:rPr lang="en-US" sz="1050" b="1" dirty="0">
                <a:solidFill>
                  <a:srgbClr val="02C39A"/>
                </a:solidFill>
                <a:latin typeface="Calibri" pitchFamily="34" charset="0"/>
                <a:ea typeface="Calibri" pitchFamily="34" charset="-122"/>
                <a:cs typeface="Calibri" pitchFamily="34" charset="-120"/>
              </a:rPr>
              <a:t>Student:</a:t>
            </a:r>
            <a:endParaRPr lang="en-US" sz="1050" dirty="0"/>
          </a:p>
        </p:txBody>
      </p:sp>
      <p:sp>
        <p:nvSpPr>
          <p:cNvPr id="14" name="Text 12"/>
          <p:cNvSpPr/>
          <p:nvPr/>
        </p:nvSpPr>
        <p:spPr>
          <a:xfrm>
            <a:off x="1600200" y="2560320"/>
            <a:ext cx="5029200" cy="292608"/>
          </a:xfrm>
          <a:prstGeom prst="rect">
            <a:avLst/>
          </a:prstGeom>
          <a:noFill/>
          <a:ln/>
        </p:spPr>
        <p:txBody>
          <a:bodyPr wrap="square" rtlCol="0" anchor="ctr"/>
          <a:lstStyle/>
          <a:p>
            <a:pPr marL="0" indent="0" algn="l">
              <a:buNone/>
            </a:pPr>
            <a:r>
              <a:rPr lang="en-US" sz="1050" dirty="0">
                <a:solidFill>
                  <a:srgbClr val="E4EEF5"/>
                </a:solidFill>
                <a:latin typeface="Calibri" pitchFamily="34" charset="0"/>
                <a:ea typeface="Calibri" pitchFamily="34" charset="-122"/>
                <a:cs typeface="Calibri" pitchFamily="34" charset="-120"/>
              </a:rPr>
              <a:t>Usha Rani V.  |  u2965962</a:t>
            </a:r>
            <a:endParaRPr lang="en-US" sz="1050" dirty="0"/>
          </a:p>
        </p:txBody>
      </p:sp>
      <p:sp>
        <p:nvSpPr>
          <p:cNvPr id="15" name="Text 13"/>
          <p:cNvSpPr/>
          <p:nvPr/>
        </p:nvSpPr>
        <p:spPr>
          <a:xfrm>
            <a:off x="320040" y="2907792"/>
            <a:ext cx="1280160" cy="292608"/>
          </a:xfrm>
          <a:prstGeom prst="rect">
            <a:avLst/>
          </a:prstGeom>
          <a:noFill/>
          <a:ln/>
        </p:spPr>
        <p:txBody>
          <a:bodyPr wrap="square" rtlCol="0" anchor="ctr"/>
          <a:lstStyle/>
          <a:p>
            <a:pPr marL="0" indent="0" algn="l">
              <a:buNone/>
            </a:pPr>
            <a:r>
              <a:rPr lang="en-US" sz="1050" b="1" dirty="0">
                <a:solidFill>
                  <a:srgbClr val="02C39A"/>
                </a:solidFill>
                <a:latin typeface="Calibri" pitchFamily="34" charset="0"/>
                <a:ea typeface="Calibri" pitchFamily="34" charset="-122"/>
                <a:cs typeface="Calibri" pitchFamily="34" charset="-120"/>
              </a:rPr>
              <a:t>Supervisor:</a:t>
            </a:r>
            <a:endParaRPr lang="en-US" sz="1050" dirty="0"/>
          </a:p>
        </p:txBody>
      </p:sp>
      <p:sp>
        <p:nvSpPr>
          <p:cNvPr id="16" name="Text 14"/>
          <p:cNvSpPr/>
          <p:nvPr/>
        </p:nvSpPr>
        <p:spPr>
          <a:xfrm>
            <a:off x="1600200" y="2907792"/>
            <a:ext cx="5029200" cy="292608"/>
          </a:xfrm>
          <a:prstGeom prst="rect">
            <a:avLst/>
          </a:prstGeom>
          <a:noFill/>
          <a:ln/>
        </p:spPr>
        <p:txBody>
          <a:bodyPr wrap="square" rtlCol="0" anchor="ctr"/>
          <a:lstStyle/>
          <a:p>
            <a:pPr marL="0" indent="0" algn="l">
              <a:buNone/>
            </a:pPr>
            <a:r>
              <a:rPr lang="en-US" sz="1050" dirty="0">
                <a:solidFill>
                  <a:srgbClr val="E4EEF5"/>
                </a:solidFill>
                <a:latin typeface="Calibri" pitchFamily="34" charset="0"/>
                <a:ea typeface="Calibri" pitchFamily="34" charset="-122"/>
                <a:cs typeface="Calibri" pitchFamily="34" charset="-120"/>
              </a:rPr>
              <a:t>Dr. Abdulrahman Albar</a:t>
            </a:r>
            <a:endParaRPr lang="en-US" sz="1050" dirty="0"/>
          </a:p>
        </p:txBody>
      </p:sp>
      <p:sp>
        <p:nvSpPr>
          <p:cNvPr id="17" name="Text 15"/>
          <p:cNvSpPr/>
          <p:nvPr/>
        </p:nvSpPr>
        <p:spPr>
          <a:xfrm>
            <a:off x="320040" y="3255264"/>
            <a:ext cx="1280160" cy="292608"/>
          </a:xfrm>
          <a:prstGeom prst="rect">
            <a:avLst/>
          </a:prstGeom>
          <a:noFill/>
          <a:ln/>
        </p:spPr>
        <p:txBody>
          <a:bodyPr wrap="square" rtlCol="0" anchor="ctr"/>
          <a:lstStyle/>
          <a:p>
            <a:pPr marL="0" indent="0" algn="l">
              <a:buNone/>
            </a:pPr>
            <a:r>
              <a:rPr lang="en-US" sz="1050" b="1" dirty="0">
                <a:solidFill>
                  <a:srgbClr val="02C39A"/>
                </a:solidFill>
                <a:latin typeface="Calibri" pitchFamily="34" charset="0"/>
                <a:ea typeface="Calibri" pitchFamily="34" charset="-122"/>
                <a:cs typeface="Calibri" pitchFamily="34" charset="-120"/>
              </a:rPr>
              <a:t>Date:</a:t>
            </a:r>
            <a:endParaRPr lang="en-US" sz="1050" dirty="0"/>
          </a:p>
        </p:txBody>
      </p:sp>
      <p:sp>
        <p:nvSpPr>
          <p:cNvPr id="18" name="Text 16"/>
          <p:cNvSpPr/>
          <p:nvPr/>
        </p:nvSpPr>
        <p:spPr>
          <a:xfrm>
            <a:off x="1600200" y="3255264"/>
            <a:ext cx="5029200" cy="292608"/>
          </a:xfrm>
          <a:prstGeom prst="rect">
            <a:avLst/>
          </a:prstGeom>
          <a:noFill/>
          <a:ln/>
        </p:spPr>
        <p:txBody>
          <a:bodyPr wrap="square" rtlCol="0" anchor="ctr"/>
          <a:lstStyle/>
          <a:p>
            <a:pPr marL="0" indent="0" algn="l">
              <a:buNone/>
            </a:pPr>
            <a:r>
              <a:rPr lang="en-US" sz="1050" dirty="0">
                <a:solidFill>
                  <a:srgbClr val="E4EEF5"/>
                </a:solidFill>
                <a:latin typeface="Calibri" pitchFamily="34" charset="0"/>
                <a:ea typeface="Calibri" pitchFamily="34" charset="-122"/>
                <a:cs typeface="Calibri" pitchFamily="34" charset="-120"/>
              </a:rPr>
              <a:t>14 July 2026</a:t>
            </a:r>
            <a:endParaRPr lang="en-US" sz="1050" dirty="0"/>
          </a:p>
        </p:txBody>
      </p:sp>
      <p:sp>
        <p:nvSpPr>
          <p:cNvPr id="19" name="Text 17"/>
          <p:cNvSpPr/>
          <p:nvPr/>
        </p:nvSpPr>
        <p:spPr>
          <a:xfrm>
            <a:off x="6492240" y="960120"/>
            <a:ext cx="2377440" cy="256032"/>
          </a:xfrm>
          <a:prstGeom prst="rect">
            <a:avLst/>
          </a:prstGeom>
          <a:noFill/>
          <a:ln/>
        </p:spPr>
        <p:txBody>
          <a:bodyPr wrap="square" rtlCol="0" anchor="ctr"/>
          <a:lstStyle/>
          <a:p>
            <a:pPr marL="0" indent="0" algn="ctr">
              <a:buNone/>
            </a:pPr>
            <a:r>
              <a:rPr lang="en-US" sz="850" b="1" dirty="0">
                <a:solidFill>
                  <a:srgbClr val="6B8FA8"/>
                </a:solidFill>
                <a:latin typeface="Calibri" pitchFamily="34" charset="0"/>
                <a:ea typeface="Calibri" pitchFamily="34" charset="-122"/>
                <a:cs typeface="Calibri" pitchFamily="34" charset="-120"/>
              </a:rPr>
              <a:t>COMPLETED STAGES</a:t>
            </a:r>
            <a:endParaRPr lang="en-US" sz="850" dirty="0"/>
          </a:p>
        </p:txBody>
      </p:sp>
      <p:sp>
        <p:nvSpPr>
          <p:cNvPr id="20" name="Shape 18"/>
          <p:cNvSpPr/>
          <p:nvPr/>
        </p:nvSpPr>
        <p:spPr>
          <a:xfrm>
            <a:off x="6492240" y="1261872"/>
            <a:ext cx="658368" cy="658368"/>
          </a:xfrm>
          <a:prstGeom prst="ellipse">
            <a:avLst/>
          </a:prstGeom>
          <a:solidFill>
            <a:srgbClr val="02C39A"/>
          </a:solidFill>
          <a:ln/>
        </p:spPr>
      </p:sp>
      <p:sp>
        <p:nvSpPr>
          <p:cNvPr id="21" name="Text 19"/>
          <p:cNvSpPr/>
          <p:nvPr/>
        </p:nvSpPr>
        <p:spPr>
          <a:xfrm>
            <a:off x="6492240" y="1261872"/>
            <a:ext cx="658368" cy="658368"/>
          </a:xfrm>
          <a:prstGeom prst="rect">
            <a:avLst/>
          </a:prstGeom>
          <a:noFill/>
          <a:ln/>
        </p:spPr>
        <p:txBody>
          <a:bodyPr wrap="square" lIns="0" tIns="0" rIns="0" bIns="0" rtlCol="0" anchor="ctr"/>
          <a:lstStyle/>
          <a:p>
            <a:pPr marL="0" indent="0" algn="ctr">
              <a:buNone/>
            </a:pPr>
            <a:r>
              <a:rPr lang="en-US" sz="1300" b="1" dirty="0">
                <a:solidFill>
                  <a:srgbClr val="0D2B45"/>
                </a:solidFill>
                <a:latin typeface="Calibri" pitchFamily="34" charset="0"/>
                <a:ea typeface="Calibri" pitchFamily="34" charset="-122"/>
                <a:cs typeface="Calibri" pitchFamily="34" charset="-120"/>
              </a:rPr>
              <a:t>S1</a:t>
            </a:r>
            <a:endParaRPr lang="en-US" sz="1300" dirty="0"/>
          </a:p>
        </p:txBody>
      </p:sp>
      <p:sp>
        <p:nvSpPr>
          <p:cNvPr id="22" name="Text 20"/>
          <p:cNvSpPr/>
          <p:nvPr/>
        </p:nvSpPr>
        <p:spPr>
          <a:xfrm>
            <a:off x="6446520" y="1956816"/>
            <a:ext cx="749808" cy="457200"/>
          </a:xfrm>
          <a:prstGeom prst="rect">
            <a:avLst/>
          </a:prstGeom>
          <a:noFill/>
          <a:ln/>
        </p:spPr>
        <p:txBody>
          <a:bodyPr wrap="square" rtlCol="0" anchor="ctr"/>
          <a:lstStyle/>
          <a:p>
            <a:pPr marL="0" indent="0" algn="ctr">
              <a:buNone/>
            </a:pPr>
            <a:r>
              <a:rPr lang="en-US" sz="750" dirty="0">
                <a:solidFill>
                  <a:srgbClr val="E4EEF5"/>
                </a:solidFill>
                <a:latin typeface="Calibri" pitchFamily="34" charset="0"/>
                <a:ea typeface="Calibri" pitchFamily="34" charset="-122"/>
                <a:cs typeface="Calibri" pitchFamily="34" charset="-120"/>
              </a:rPr>
              <a:t>Data</a:t>
            </a:r>
            <a:endParaRPr lang="en-US" sz="750" dirty="0"/>
          </a:p>
          <a:p>
            <a:pPr marL="0" indent="0" algn="ctr">
              <a:buNone/>
            </a:pPr>
            <a:r>
              <a:rPr lang="en-US" sz="750" dirty="0">
                <a:solidFill>
                  <a:srgbClr val="E4EEF5"/>
                </a:solidFill>
                <a:latin typeface="Calibri" pitchFamily="34" charset="0"/>
                <a:ea typeface="Calibri" pitchFamily="34" charset="-122"/>
                <a:cs typeface="Calibri" pitchFamily="34" charset="-120"/>
              </a:rPr>
              <a:t>Preprocessing</a:t>
            </a:r>
            <a:endParaRPr lang="en-US" sz="750" dirty="0"/>
          </a:p>
        </p:txBody>
      </p:sp>
      <p:sp>
        <p:nvSpPr>
          <p:cNvPr id="23" name="Shape 21"/>
          <p:cNvSpPr/>
          <p:nvPr/>
        </p:nvSpPr>
        <p:spPr>
          <a:xfrm>
            <a:off x="7296912" y="1261872"/>
            <a:ext cx="658368" cy="658368"/>
          </a:xfrm>
          <a:prstGeom prst="ellipse">
            <a:avLst/>
          </a:prstGeom>
          <a:solidFill>
            <a:srgbClr val="02C39A"/>
          </a:solidFill>
          <a:ln/>
        </p:spPr>
      </p:sp>
      <p:sp>
        <p:nvSpPr>
          <p:cNvPr id="24" name="Text 22"/>
          <p:cNvSpPr/>
          <p:nvPr/>
        </p:nvSpPr>
        <p:spPr>
          <a:xfrm>
            <a:off x="7296912" y="1261872"/>
            <a:ext cx="658368" cy="658368"/>
          </a:xfrm>
          <a:prstGeom prst="rect">
            <a:avLst/>
          </a:prstGeom>
          <a:noFill/>
          <a:ln/>
        </p:spPr>
        <p:txBody>
          <a:bodyPr wrap="square" lIns="0" tIns="0" rIns="0" bIns="0" rtlCol="0" anchor="ctr"/>
          <a:lstStyle/>
          <a:p>
            <a:pPr marL="0" indent="0" algn="ctr">
              <a:buNone/>
            </a:pPr>
            <a:r>
              <a:rPr lang="en-US" sz="1300" b="1" dirty="0">
                <a:solidFill>
                  <a:srgbClr val="0D2B45"/>
                </a:solidFill>
                <a:latin typeface="Calibri" pitchFamily="34" charset="0"/>
                <a:ea typeface="Calibri" pitchFamily="34" charset="-122"/>
                <a:cs typeface="Calibri" pitchFamily="34" charset="-120"/>
              </a:rPr>
              <a:t>S2</a:t>
            </a:r>
            <a:endParaRPr lang="en-US" sz="1300" dirty="0"/>
          </a:p>
        </p:txBody>
      </p:sp>
      <p:sp>
        <p:nvSpPr>
          <p:cNvPr id="25" name="Text 23"/>
          <p:cNvSpPr/>
          <p:nvPr/>
        </p:nvSpPr>
        <p:spPr>
          <a:xfrm>
            <a:off x="7251192" y="1956816"/>
            <a:ext cx="749808" cy="457200"/>
          </a:xfrm>
          <a:prstGeom prst="rect">
            <a:avLst/>
          </a:prstGeom>
          <a:noFill/>
          <a:ln/>
        </p:spPr>
        <p:txBody>
          <a:bodyPr wrap="square" rtlCol="0" anchor="ctr"/>
          <a:lstStyle/>
          <a:p>
            <a:pPr marL="0" indent="0" algn="ctr">
              <a:buNone/>
            </a:pPr>
            <a:r>
              <a:rPr lang="en-US" sz="750" dirty="0">
                <a:solidFill>
                  <a:srgbClr val="E4EEF5"/>
                </a:solidFill>
                <a:latin typeface="Calibri" pitchFamily="34" charset="0"/>
                <a:ea typeface="Calibri" pitchFamily="34" charset="-122"/>
                <a:cs typeface="Calibri" pitchFamily="34" charset="-120"/>
              </a:rPr>
              <a:t>Duty Cycle</a:t>
            </a:r>
            <a:endParaRPr lang="en-US" sz="750" dirty="0"/>
          </a:p>
          <a:p>
            <a:pPr marL="0" indent="0" algn="ctr">
              <a:buNone/>
            </a:pPr>
            <a:r>
              <a:rPr lang="en-US" sz="750" dirty="0">
                <a:solidFill>
                  <a:srgbClr val="E4EEF5"/>
                </a:solidFill>
                <a:latin typeface="Calibri" pitchFamily="34" charset="0"/>
                <a:ea typeface="Calibri" pitchFamily="34" charset="-122"/>
                <a:cs typeface="Calibri" pitchFamily="34" charset="-120"/>
              </a:rPr>
              <a:t>Features</a:t>
            </a:r>
            <a:endParaRPr lang="en-US" sz="750" dirty="0"/>
          </a:p>
        </p:txBody>
      </p:sp>
      <p:sp>
        <p:nvSpPr>
          <p:cNvPr id="26" name="Shape 24"/>
          <p:cNvSpPr/>
          <p:nvPr/>
        </p:nvSpPr>
        <p:spPr>
          <a:xfrm>
            <a:off x="8101584" y="1261872"/>
            <a:ext cx="658368" cy="658368"/>
          </a:xfrm>
          <a:prstGeom prst="ellipse">
            <a:avLst/>
          </a:prstGeom>
          <a:solidFill>
            <a:srgbClr val="02C39A"/>
          </a:solidFill>
          <a:ln/>
        </p:spPr>
      </p:sp>
      <p:sp>
        <p:nvSpPr>
          <p:cNvPr id="27" name="Text 25"/>
          <p:cNvSpPr/>
          <p:nvPr/>
        </p:nvSpPr>
        <p:spPr>
          <a:xfrm>
            <a:off x="8101584" y="1261872"/>
            <a:ext cx="658368" cy="658368"/>
          </a:xfrm>
          <a:prstGeom prst="rect">
            <a:avLst/>
          </a:prstGeom>
          <a:noFill/>
          <a:ln/>
        </p:spPr>
        <p:txBody>
          <a:bodyPr wrap="square" lIns="0" tIns="0" rIns="0" bIns="0" rtlCol="0" anchor="ctr"/>
          <a:lstStyle/>
          <a:p>
            <a:pPr marL="0" indent="0" algn="ctr">
              <a:buNone/>
            </a:pPr>
            <a:r>
              <a:rPr lang="en-US" sz="1300" b="1" dirty="0">
                <a:solidFill>
                  <a:srgbClr val="0D2B45"/>
                </a:solidFill>
                <a:latin typeface="Calibri" pitchFamily="34" charset="0"/>
                <a:ea typeface="Calibri" pitchFamily="34" charset="-122"/>
                <a:cs typeface="Calibri" pitchFamily="34" charset="-120"/>
              </a:rPr>
              <a:t>S3</a:t>
            </a:r>
            <a:endParaRPr lang="en-US" sz="1300" dirty="0"/>
          </a:p>
        </p:txBody>
      </p:sp>
      <p:sp>
        <p:nvSpPr>
          <p:cNvPr id="28" name="Text 26"/>
          <p:cNvSpPr/>
          <p:nvPr/>
        </p:nvSpPr>
        <p:spPr>
          <a:xfrm>
            <a:off x="8055864" y="1956816"/>
            <a:ext cx="749808" cy="457200"/>
          </a:xfrm>
          <a:prstGeom prst="rect">
            <a:avLst/>
          </a:prstGeom>
          <a:noFill/>
          <a:ln/>
        </p:spPr>
        <p:txBody>
          <a:bodyPr wrap="square" rtlCol="0" anchor="ctr"/>
          <a:lstStyle/>
          <a:p>
            <a:pPr marL="0" indent="0" algn="ctr">
              <a:buNone/>
            </a:pPr>
            <a:r>
              <a:rPr lang="en-US" sz="750" dirty="0">
                <a:solidFill>
                  <a:srgbClr val="E4EEF5"/>
                </a:solidFill>
                <a:latin typeface="Calibri" pitchFamily="34" charset="0"/>
                <a:ea typeface="Calibri" pitchFamily="34" charset="-122"/>
                <a:cs typeface="Calibri" pitchFamily="34" charset="-120"/>
              </a:rPr>
              <a:t>EDA &amp;</a:t>
            </a:r>
            <a:endParaRPr lang="en-US" sz="750" dirty="0"/>
          </a:p>
          <a:p>
            <a:pPr marL="0" indent="0" algn="ctr">
              <a:buNone/>
            </a:pPr>
            <a:r>
              <a:rPr lang="en-US" sz="750" dirty="0">
                <a:solidFill>
                  <a:srgbClr val="E4EEF5"/>
                </a:solidFill>
                <a:latin typeface="Calibri" pitchFamily="34" charset="0"/>
                <a:ea typeface="Calibri" pitchFamily="34" charset="-122"/>
                <a:cs typeface="Calibri" pitchFamily="34" charset="-120"/>
              </a:rPr>
              <a:t>FSI Analysis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6FA"/>
          </a:solidFill>
          <a:ln/>
        </p:spPr>
      </p:sp>
      <p:sp>
        <p:nvSpPr>
          <p:cNvPr id="3" name="Shape 1"/>
          <p:cNvSpPr/>
          <p:nvPr/>
        </p:nvSpPr>
        <p:spPr>
          <a:xfrm>
            <a:off x="0" y="0"/>
            <a:ext cx="109728" cy="5143500"/>
          </a:xfrm>
          <a:prstGeom prst="rect">
            <a:avLst/>
          </a:prstGeom>
          <a:solidFill>
            <a:srgbClr val="0E6B8C"/>
          </a:solidFill>
          <a:ln/>
        </p:spPr>
      </p:sp>
      <p:sp>
        <p:nvSpPr>
          <p:cNvPr id="4" name="Text 2"/>
          <p:cNvSpPr/>
          <p:nvPr/>
        </p:nvSpPr>
        <p:spPr>
          <a:xfrm>
            <a:off x="256032" y="201168"/>
            <a:ext cx="8595360" cy="475488"/>
          </a:xfrm>
          <a:prstGeom prst="rect">
            <a:avLst/>
          </a:prstGeom>
          <a:noFill/>
          <a:ln/>
        </p:spPr>
        <p:txBody>
          <a:bodyPr wrap="square" rtlCol="0" anchor="ctr"/>
          <a:lstStyle/>
          <a:p>
            <a:pPr marL="0" indent="0" algn="l">
              <a:buNone/>
            </a:pPr>
            <a:r>
              <a:rPr lang="en-US" sz="2600" b="1" dirty="0">
                <a:solidFill>
                  <a:srgbClr val="0D2B45"/>
                </a:solidFill>
                <a:latin typeface="Cambria" pitchFamily="34" charset="0"/>
                <a:ea typeface="Cambria" pitchFamily="34" charset="-122"/>
                <a:cs typeface="Cambria" pitchFamily="34" charset="-120"/>
              </a:rPr>
              <a:t>What Has Been Completed</a:t>
            </a:r>
            <a:endParaRPr lang="en-US" sz="2600" dirty="0"/>
          </a:p>
        </p:txBody>
      </p:sp>
      <p:sp>
        <p:nvSpPr>
          <p:cNvPr id="5" name="Shape 3"/>
          <p:cNvSpPr/>
          <p:nvPr/>
        </p:nvSpPr>
        <p:spPr>
          <a:xfrm>
            <a:off x="201168" y="841248"/>
            <a:ext cx="420624" cy="420624"/>
          </a:xfrm>
          <a:prstGeom prst="ellipse">
            <a:avLst/>
          </a:prstGeom>
          <a:solidFill>
            <a:srgbClr val="0E6B8C"/>
          </a:solidFill>
          <a:ln/>
        </p:spPr>
      </p:sp>
      <p:sp>
        <p:nvSpPr>
          <p:cNvPr id="6" name="Text 4"/>
          <p:cNvSpPr/>
          <p:nvPr/>
        </p:nvSpPr>
        <p:spPr>
          <a:xfrm>
            <a:off x="201168" y="8412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713232" y="822960"/>
            <a:ext cx="5029200" cy="347472"/>
          </a:xfrm>
          <a:prstGeom prst="rect">
            <a:avLst/>
          </a:prstGeom>
          <a:noFill/>
          <a:ln/>
        </p:spPr>
        <p:txBody>
          <a:bodyPr wrap="square" lIns="0" tIns="0" rIns="0" bIns="0" rtlCol="0" anchor="ctr"/>
          <a:lstStyle/>
          <a:p>
            <a:pPr marL="0" indent="0" algn="l">
              <a:buNone/>
            </a:pPr>
            <a:r>
              <a:rPr lang="en-US" sz="1250" b="1" dirty="0">
                <a:solidFill>
                  <a:srgbClr val="0D2B45"/>
                </a:solidFill>
                <a:latin typeface="Calibri" pitchFamily="34" charset="0"/>
                <a:ea typeface="Calibri" pitchFamily="34" charset="-122"/>
                <a:cs typeface="Calibri" pitchFamily="34" charset="-120"/>
              </a:rPr>
              <a:t>Data Collection &amp; Preprocessing</a:t>
            </a:r>
            <a:endParaRPr lang="en-US" sz="1250" dirty="0"/>
          </a:p>
        </p:txBody>
      </p:sp>
      <p:sp>
        <p:nvSpPr>
          <p:cNvPr id="8" name="Text 6"/>
          <p:cNvSpPr/>
          <p:nvPr/>
        </p:nvSpPr>
        <p:spPr>
          <a:xfrm>
            <a:off x="804672" y="1207008"/>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4 lab datasets: NASA, Oxford, CALCE CS2, SP20</a:t>
            </a:r>
            <a:endParaRPr lang="en-US" sz="950" dirty="0"/>
          </a:p>
        </p:txBody>
      </p:sp>
      <p:sp>
        <p:nvSpPr>
          <p:cNvPr id="9" name="Text 7"/>
          <p:cNvSpPr/>
          <p:nvPr/>
        </p:nvSpPr>
        <p:spPr>
          <a:xfrm>
            <a:off x="804672" y="1481328"/>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9,031 cycles extracted — SoH, DoD, C-rate, FSI per cycle</a:t>
            </a:r>
            <a:endParaRPr lang="en-US" sz="950" dirty="0"/>
          </a:p>
        </p:txBody>
      </p:sp>
      <p:sp>
        <p:nvSpPr>
          <p:cNvPr id="10" name="Text 8"/>
          <p:cNvSpPr/>
          <p:nvPr/>
        </p:nvSpPr>
        <p:spPr>
          <a:xfrm>
            <a:off x="804672" y="1755648"/>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CALCE Arbin cumulative counter decoded correctly via delta-extraction</a:t>
            </a:r>
            <a:endParaRPr lang="en-US" sz="950" dirty="0"/>
          </a:p>
        </p:txBody>
      </p:sp>
      <p:sp>
        <p:nvSpPr>
          <p:cNvPr id="11" name="Shape 9"/>
          <p:cNvSpPr/>
          <p:nvPr/>
        </p:nvSpPr>
        <p:spPr>
          <a:xfrm>
            <a:off x="5989320" y="859536"/>
            <a:ext cx="960120" cy="822960"/>
          </a:xfrm>
          <a:prstGeom prst="roundRect">
            <a:avLst>
              <a:gd name="adj" fmla="val 8889"/>
            </a:avLst>
          </a:prstGeom>
          <a:solidFill>
            <a:srgbClr val="EBF3FA"/>
          </a:solidFill>
          <a:ln w="25400">
            <a:solidFill>
              <a:srgbClr val="0E6B8C"/>
            </a:solidFill>
            <a:prstDash val="solid"/>
          </a:ln>
        </p:spPr>
      </p:sp>
      <p:sp>
        <p:nvSpPr>
          <p:cNvPr id="12" name="Text 10"/>
          <p:cNvSpPr/>
          <p:nvPr/>
        </p:nvSpPr>
        <p:spPr>
          <a:xfrm>
            <a:off x="5989320" y="905256"/>
            <a:ext cx="960120" cy="452628"/>
          </a:xfrm>
          <a:prstGeom prst="rect">
            <a:avLst/>
          </a:prstGeom>
          <a:noFill/>
          <a:ln/>
        </p:spPr>
        <p:txBody>
          <a:bodyPr wrap="square" lIns="0" tIns="0" rIns="0" bIns="0" rtlCol="0" anchor="ctr"/>
          <a:lstStyle/>
          <a:p>
            <a:pPr marL="0" indent="0" algn="ctr">
              <a:buNone/>
            </a:pPr>
            <a:r>
              <a:rPr lang="en-US" sz="2600" b="1" dirty="0">
                <a:solidFill>
                  <a:srgbClr val="0E6B8C"/>
                </a:solidFill>
                <a:latin typeface="Calibri" pitchFamily="34" charset="0"/>
                <a:ea typeface="Calibri" pitchFamily="34" charset="-122"/>
                <a:cs typeface="Calibri" pitchFamily="34" charset="-120"/>
              </a:rPr>
              <a:t>9,031</a:t>
            </a:r>
            <a:endParaRPr lang="en-US" sz="2600" dirty="0"/>
          </a:p>
        </p:txBody>
      </p:sp>
      <p:sp>
        <p:nvSpPr>
          <p:cNvPr id="13" name="Text 11"/>
          <p:cNvSpPr/>
          <p:nvPr/>
        </p:nvSpPr>
        <p:spPr>
          <a:xfrm>
            <a:off x="5989320" y="1312164"/>
            <a:ext cx="960120" cy="345643"/>
          </a:xfrm>
          <a:prstGeom prst="rect">
            <a:avLst/>
          </a:prstGeom>
          <a:noFill/>
          <a:ln/>
        </p:spPr>
        <p:txBody>
          <a:bodyPr wrap="square" lIns="0" tIns="0" rIns="0" bIns="0" rtlCol="0" anchor="t"/>
          <a:lstStyle/>
          <a:p>
            <a:pPr marL="0" indent="0" algn="ctr">
              <a:buNone/>
            </a:pPr>
            <a:r>
              <a:rPr lang="en-US" sz="950" dirty="0">
                <a:solidFill>
                  <a:srgbClr val="6B8FA8"/>
                </a:solidFill>
                <a:latin typeface="Calibri" pitchFamily="34" charset="0"/>
                <a:ea typeface="Calibri" pitchFamily="34" charset="-122"/>
                <a:cs typeface="Calibri" pitchFamily="34" charset="-120"/>
              </a:rPr>
              <a:t>Lab Cycles</a:t>
            </a:r>
            <a:endParaRPr lang="en-US" sz="950" dirty="0"/>
          </a:p>
        </p:txBody>
      </p:sp>
      <p:sp>
        <p:nvSpPr>
          <p:cNvPr id="14" name="Shape 12"/>
          <p:cNvSpPr/>
          <p:nvPr/>
        </p:nvSpPr>
        <p:spPr>
          <a:xfrm>
            <a:off x="201168" y="2231136"/>
            <a:ext cx="420624" cy="420624"/>
          </a:xfrm>
          <a:prstGeom prst="ellipse">
            <a:avLst/>
          </a:prstGeom>
          <a:solidFill>
            <a:srgbClr val="0E6B8C"/>
          </a:solidFill>
          <a:ln/>
        </p:spPr>
      </p:sp>
      <p:sp>
        <p:nvSpPr>
          <p:cNvPr id="15" name="Text 13"/>
          <p:cNvSpPr/>
          <p:nvPr/>
        </p:nvSpPr>
        <p:spPr>
          <a:xfrm>
            <a:off x="201168" y="223113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713232" y="2212848"/>
            <a:ext cx="5029200" cy="347472"/>
          </a:xfrm>
          <a:prstGeom prst="rect">
            <a:avLst/>
          </a:prstGeom>
          <a:noFill/>
          <a:ln/>
        </p:spPr>
        <p:txBody>
          <a:bodyPr wrap="square" lIns="0" tIns="0" rIns="0" bIns="0" rtlCol="0" anchor="ctr"/>
          <a:lstStyle/>
          <a:p>
            <a:pPr marL="0" indent="0" algn="l">
              <a:buNone/>
            </a:pPr>
            <a:r>
              <a:rPr lang="en-US" sz="1250" b="1" dirty="0">
                <a:solidFill>
                  <a:srgbClr val="0D2B45"/>
                </a:solidFill>
                <a:latin typeface="Calibri" pitchFamily="34" charset="0"/>
                <a:ea typeface="Calibri" pitchFamily="34" charset="-122"/>
                <a:cs typeface="Calibri" pitchFamily="34" charset="-120"/>
              </a:rPr>
              <a:t>Duty Cycle Feature Extraction</a:t>
            </a:r>
            <a:endParaRPr lang="en-US" sz="1250" dirty="0"/>
          </a:p>
        </p:txBody>
      </p:sp>
      <p:sp>
        <p:nvSpPr>
          <p:cNvPr id="17" name="Text 15"/>
          <p:cNvSpPr/>
          <p:nvPr/>
        </p:nvSpPr>
        <p:spPr>
          <a:xfrm>
            <a:off x="804672" y="2596896"/>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553 Fleet DNA trips: KI, RPA, CVI, RBF, DCSS, FSI computed</a:t>
            </a:r>
            <a:endParaRPr lang="en-US" sz="950" dirty="0"/>
          </a:p>
        </p:txBody>
      </p:sp>
      <p:sp>
        <p:nvSpPr>
          <p:cNvPr id="18" name="Text 16"/>
          <p:cNvSpPr/>
          <p:nvPr/>
        </p:nvSpPr>
        <p:spPr>
          <a:xfrm>
            <a:off x="804672" y="2871216"/>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CALCE dynamic profiles: DST / FUDS / US06 / BJDST at 3 temperatures</a:t>
            </a:r>
            <a:endParaRPr lang="en-US" sz="950" dirty="0"/>
          </a:p>
        </p:txBody>
      </p:sp>
      <p:sp>
        <p:nvSpPr>
          <p:cNvPr id="19" name="Text 17"/>
          <p:cNvSpPr/>
          <p:nvPr/>
        </p:nvSpPr>
        <p:spPr>
          <a:xfrm>
            <a:off x="804672" y="3145536"/>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Master ML dataset: 9,031 rows x 24 features + health labels</a:t>
            </a:r>
            <a:endParaRPr lang="en-US" sz="950" dirty="0"/>
          </a:p>
        </p:txBody>
      </p:sp>
      <p:sp>
        <p:nvSpPr>
          <p:cNvPr id="20" name="Shape 18"/>
          <p:cNvSpPr/>
          <p:nvPr/>
        </p:nvSpPr>
        <p:spPr>
          <a:xfrm>
            <a:off x="5989320" y="2249424"/>
            <a:ext cx="960120" cy="822960"/>
          </a:xfrm>
          <a:prstGeom prst="roundRect">
            <a:avLst>
              <a:gd name="adj" fmla="val 8889"/>
            </a:avLst>
          </a:prstGeom>
          <a:solidFill>
            <a:srgbClr val="EBF3FA"/>
          </a:solidFill>
          <a:ln w="25400">
            <a:solidFill>
              <a:srgbClr val="0E6B8C"/>
            </a:solidFill>
            <a:prstDash val="solid"/>
          </a:ln>
        </p:spPr>
      </p:sp>
      <p:sp>
        <p:nvSpPr>
          <p:cNvPr id="21" name="Text 19"/>
          <p:cNvSpPr/>
          <p:nvPr/>
        </p:nvSpPr>
        <p:spPr>
          <a:xfrm>
            <a:off x="5989320" y="2295144"/>
            <a:ext cx="960120" cy="452628"/>
          </a:xfrm>
          <a:prstGeom prst="rect">
            <a:avLst/>
          </a:prstGeom>
          <a:noFill/>
          <a:ln/>
        </p:spPr>
        <p:txBody>
          <a:bodyPr wrap="square" lIns="0" tIns="0" rIns="0" bIns="0" rtlCol="0" anchor="ctr"/>
          <a:lstStyle/>
          <a:p>
            <a:pPr marL="0" indent="0" algn="ctr">
              <a:buNone/>
            </a:pPr>
            <a:r>
              <a:rPr lang="en-US" sz="2600" b="1" dirty="0">
                <a:solidFill>
                  <a:srgbClr val="0E6B8C"/>
                </a:solidFill>
                <a:latin typeface="Calibri" pitchFamily="34" charset="0"/>
                <a:ea typeface="Calibri" pitchFamily="34" charset="-122"/>
                <a:cs typeface="Calibri" pitchFamily="34" charset="-120"/>
              </a:rPr>
              <a:t>553</a:t>
            </a:r>
            <a:endParaRPr lang="en-US" sz="2600" dirty="0"/>
          </a:p>
        </p:txBody>
      </p:sp>
      <p:sp>
        <p:nvSpPr>
          <p:cNvPr id="22" name="Text 20"/>
          <p:cNvSpPr/>
          <p:nvPr/>
        </p:nvSpPr>
        <p:spPr>
          <a:xfrm>
            <a:off x="5989320" y="2702052"/>
            <a:ext cx="960120" cy="345643"/>
          </a:xfrm>
          <a:prstGeom prst="rect">
            <a:avLst/>
          </a:prstGeom>
          <a:noFill/>
          <a:ln/>
        </p:spPr>
        <p:txBody>
          <a:bodyPr wrap="square" lIns="0" tIns="0" rIns="0" bIns="0" rtlCol="0" anchor="t"/>
          <a:lstStyle/>
          <a:p>
            <a:pPr marL="0" indent="0" algn="ctr">
              <a:buNone/>
            </a:pPr>
            <a:r>
              <a:rPr lang="en-US" sz="950" dirty="0">
                <a:solidFill>
                  <a:srgbClr val="6B8FA8"/>
                </a:solidFill>
                <a:latin typeface="Calibri" pitchFamily="34" charset="0"/>
                <a:ea typeface="Calibri" pitchFamily="34" charset="-122"/>
                <a:cs typeface="Calibri" pitchFamily="34" charset="-120"/>
              </a:rPr>
              <a:t>Fleet Trips</a:t>
            </a:r>
            <a:endParaRPr lang="en-US" sz="950" dirty="0"/>
          </a:p>
        </p:txBody>
      </p:sp>
      <p:sp>
        <p:nvSpPr>
          <p:cNvPr id="23" name="Shape 21"/>
          <p:cNvSpPr/>
          <p:nvPr/>
        </p:nvSpPr>
        <p:spPr>
          <a:xfrm>
            <a:off x="201168" y="3621024"/>
            <a:ext cx="420624" cy="420624"/>
          </a:xfrm>
          <a:prstGeom prst="ellipse">
            <a:avLst/>
          </a:prstGeom>
          <a:solidFill>
            <a:srgbClr val="0E6B8C"/>
          </a:solidFill>
          <a:ln/>
        </p:spPr>
      </p:sp>
      <p:sp>
        <p:nvSpPr>
          <p:cNvPr id="24" name="Text 22"/>
          <p:cNvSpPr/>
          <p:nvPr/>
        </p:nvSpPr>
        <p:spPr>
          <a:xfrm>
            <a:off x="201168" y="36210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5" name="Text 23"/>
          <p:cNvSpPr/>
          <p:nvPr/>
        </p:nvSpPr>
        <p:spPr>
          <a:xfrm>
            <a:off x="713232" y="3602736"/>
            <a:ext cx="5029200" cy="347472"/>
          </a:xfrm>
          <a:prstGeom prst="rect">
            <a:avLst/>
          </a:prstGeom>
          <a:noFill/>
          <a:ln/>
        </p:spPr>
        <p:txBody>
          <a:bodyPr wrap="square" lIns="0" tIns="0" rIns="0" bIns="0" rtlCol="0" anchor="ctr"/>
          <a:lstStyle/>
          <a:p>
            <a:pPr marL="0" indent="0" algn="l">
              <a:buNone/>
            </a:pPr>
            <a:r>
              <a:rPr lang="en-US" sz="1250" b="1" dirty="0">
                <a:solidFill>
                  <a:srgbClr val="0D2B45"/>
                </a:solidFill>
                <a:latin typeface="Calibri" pitchFamily="34" charset="0"/>
                <a:ea typeface="Calibri" pitchFamily="34" charset="-122"/>
                <a:cs typeface="Calibri" pitchFamily="34" charset="-120"/>
              </a:rPr>
              <a:t>EDA + Novel FSI Validation</a:t>
            </a:r>
            <a:endParaRPr lang="en-US" sz="1250" dirty="0"/>
          </a:p>
        </p:txBody>
      </p:sp>
      <p:sp>
        <p:nvSpPr>
          <p:cNvPr id="26" name="Text 24"/>
          <p:cNvSpPr/>
          <p:nvPr/>
        </p:nvSpPr>
        <p:spPr>
          <a:xfrm>
            <a:off x="804672" y="3986784"/>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3-fleet comparison: Delivery vs Transit Bus vs Refuse Truck</a:t>
            </a:r>
            <a:endParaRPr lang="en-US" sz="950" dirty="0"/>
          </a:p>
        </p:txBody>
      </p:sp>
      <p:sp>
        <p:nvSpPr>
          <p:cNvPr id="27" name="Text 25"/>
          <p:cNvSpPr/>
          <p:nvPr/>
        </p:nvSpPr>
        <p:spPr>
          <a:xfrm>
            <a:off x="804672" y="4261104"/>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Transit buses: KI = 1.86 (2.8x higher than delivery trucks)</a:t>
            </a:r>
            <a:endParaRPr lang="en-US" sz="950" dirty="0"/>
          </a:p>
        </p:txBody>
      </p:sp>
      <p:sp>
        <p:nvSpPr>
          <p:cNvPr id="28" name="Text 26"/>
          <p:cNvSpPr/>
          <p:nvPr/>
        </p:nvSpPr>
        <p:spPr>
          <a:xfrm>
            <a:off x="804672" y="4535424"/>
            <a:ext cx="4892040" cy="256032"/>
          </a:xfrm>
          <a:prstGeom prst="rect">
            <a:avLst/>
          </a:prstGeom>
          <a:noFill/>
          <a:ln/>
        </p:spPr>
        <p:txBody>
          <a:bodyPr wrap="square" lIns="0" tIns="0" rIns="0" bIns="0" rtlCol="0" anchor="ctr"/>
          <a:lstStyle/>
          <a:p>
            <a:pPr marL="0" indent="0" algn="l">
              <a:buNone/>
            </a:pPr>
            <a:r>
              <a:rPr lang="en-US" sz="950" dirty="0">
                <a:solidFill>
                  <a:srgbClr val="444444"/>
                </a:solidFill>
                <a:latin typeface="Calibri" pitchFamily="34" charset="0"/>
                <a:ea typeface="Calibri" pitchFamily="34" charset="-122"/>
                <a:cs typeface="Calibri" pitchFamily="34" charset="-120"/>
              </a:rPr>
              <a:t>•  FSI correctly ranks fleet severity — validated across all vocations</a:t>
            </a:r>
            <a:endParaRPr lang="en-US" sz="950" dirty="0"/>
          </a:p>
        </p:txBody>
      </p:sp>
      <p:sp>
        <p:nvSpPr>
          <p:cNvPr id="29" name="Shape 27"/>
          <p:cNvSpPr/>
          <p:nvPr/>
        </p:nvSpPr>
        <p:spPr>
          <a:xfrm>
            <a:off x="5989320" y="3639312"/>
            <a:ext cx="960120" cy="822960"/>
          </a:xfrm>
          <a:prstGeom prst="roundRect">
            <a:avLst>
              <a:gd name="adj" fmla="val 8889"/>
            </a:avLst>
          </a:prstGeom>
          <a:solidFill>
            <a:srgbClr val="EBF3FA"/>
          </a:solidFill>
          <a:ln w="25400">
            <a:solidFill>
              <a:srgbClr val="0E6B8C"/>
            </a:solidFill>
            <a:prstDash val="solid"/>
          </a:ln>
        </p:spPr>
      </p:sp>
      <p:sp>
        <p:nvSpPr>
          <p:cNvPr id="30" name="Text 28"/>
          <p:cNvSpPr/>
          <p:nvPr/>
        </p:nvSpPr>
        <p:spPr>
          <a:xfrm>
            <a:off x="5989320" y="3685032"/>
            <a:ext cx="960120" cy="452628"/>
          </a:xfrm>
          <a:prstGeom prst="rect">
            <a:avLst/>
          </a:prstGeom>
          <a:noFill/>
          <a:ln/>
        </p:spPr>
        <p:txBody>
          <a:bodyPr wrap="square" lIns="0" tIns="0" rIns="0" bIns="0" rtlCol="0" anchor="ctr"/>
          <a:lstStyle/>
          <a:p>
            <a:pPr marL="0" indent="0" algn="ctr">
              <a:buNone/>
            </a:pPr>
            <a:r>
              <a:rPr lang="en-US" sz="2600" b="1" dirty="0">
                <a:solidFill>
                  <a:srgbClr val="0E6B8C"/>
                </a:solidFill>
                <a:latin typeface="Calibri" pitchFamily="34" charset="0"/>
                <a:ea typeface="Calibri" pitchFamily="34" charset="-122"/>
                <a:cs typeface="Calibri" pitchFamily="34" charset="-120"/>
              </a:rPr>
              <a:t>3</a:t>
            </a:r>
            <a:endParaRPr lang="en-US" sz="2600" dirty="0"/>
          </a:p>
        </p:txBody>
      </p:sp>
      <p:sp>
        <p:nvSpPr>
          <p:cNvPr id="31" name="Text 29"/>
          <p:cNvSpPr/>
          <p:nvPr/>
        </p:nvSpPr>
        <p:spPr>
          <a:xfrm>
            <a:off x="5989320" y="4091940"/>
            <a:ext cx="960120" cy="345643"/>
          </a:xfrm>
          <a:prstGeom prst="rect">
            <a:avLst/>
          </a:prstGeom>
          <a:noFill/>
          <a:ln/>
        </p:spPr>
        <p:txBody>
          <a:bodyPr wrap="square" lIns="0" tIns="0" rIns="0" bIns="0" rtlCol="0" anchor="t"/>
          <a:lstStyle/>
          <a:p>
            <a:pPr marL="0" indent="0" algn="ctr">
              <a:buNone/>
            </a:pPr>
            <a:r>
              <a:rPr lang="en-US" sz="950" dirty="0">
                <a:solidFill>
                  <a:srgbClr val="6B8FA8"/>
                </a:solidFill>
                <a:latin typeface="Calibri" pitchFamily="34" charset="0"/>
                <a:ea typeface="Calibri" pitchFamily="34" charset="-122"/>
                <a:cs typeface="Calibri" pitchFamily="34" charset="-120"/>
              </a:rPr>
              <a:t>Fleet Types</a:t>
            </a:r>
            <a:endParaRPr lang="en-US" sz="950" dirty="0"/>
          </a:p>
        </p:txBody>
      </p:sp>
      <p:sp>
        <p:nvSpPr>
          <p:cNvPr id="32" name="Shape 30"/>
          <p:cNvSpPr/>
          <p:nvPr/>
        </p:nvSpPr>
        <p:spPr>
          <a:xfrm>
            <a:off x="7132320" y="777240"/>
            <a:ext cx="1783080" cy="3977640"/>
          </a:xfrm>
          <a:prstGeom prst="roundRect">
            <a:avLst>
              <a:gd name="adj" fmla="val 5128"/>
            </a:avLst>
          </a:prstGeom>
          <a:solidFill>
            <a:srgbClr val="0D2B45"/>
          </a:solidFill>
          <a:ln/>
        </p:spPr>
      </p:sp>
      <p:sp>
        <p:nvSpPr>
          <p:cNvPr id="33" name="Text 31"/>
          <p:cNvSpPr/>
          <p:nvPr/>
        </p:nvSpPr>
        <p:spPr>
          <a:xfrm>
            <a:off x="7178040" y="868680"/>
            <a:ext cx="1691640" cy="292608"/>
          </a:xfrm>
          <a:prstGeom prst="rect">
            <a:avLst/>
          </a:prstGeom>
          <a:noFill/>
          <a:ln/>
        </p:spPr>
        <p:txBody>
          <a:bodyPr wrap="square" rtlCol="0" anchor="ctr"/>
          <a:lstStyle/>
          <a:p>
            <a:pPr marL="0" indent="0" algn="ctr">
              <a:buNone/>
            </a:pPr>
            <a:r>
              <a:rPr lang="en-US" sz="900" b="1" dirty="0">
                <a:solidFill>
                  <a:srgbClr val="02C39A"/>
                </a:solidFill>
                <a:latin typeface="Calibri" pitchFamily="34" charset="0"/>
                <a:ea typeface="Calibri" pitchFamily="34" charset="-122"/>
                <a:cs typeface="Calibri" pitchFamily="34" charset="-120"/>
              </a:rPr>
              <a:t>FSI Formula</a:t>
            </a:r>
            <a:endParaRPr lang="en-US" sz="900" dirty="0"/>
          </a:p>
        </p:txBody>
      </p:sp>
      <p:sp>
        <p:nvSpPr>
          <p:cNvPr id="34" name="Shape 32"/>
          <p:cNvSpPr/>
          <p:nvPr/>
        </p:nvSpPr>
        <p:spPr>
          <a:xfrm>
            <a:off x="7242048" y="1261872"/>
            <a:ext cx="384048" cy="384048"/>
          </a:xfrm>
          <a:prstGeom prst="ellipse">
            <a:avLst/>
          </a:prstGeom>
          <a:solidFill>
            <a:srgbClr val="0E6B8C"/>
          </a:solidFill>
          <a:ln/>
        </p:spPr>
      </p:sp>
      <p:sp>
        <p:nvSpPr>
          <p:cNvPr id="35" name="Text 33"/>
          <p:cNvSpPr/>
          <p:nvPr/>
        </p:nvSpPr>
        <p:spPr>
          <a:xfrm>
            <a:off x="7242048" y="126187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KI</a:t>
            </a:r>
            <a:endParaRPr lang="en-US" sz="900" dirty="0"/>
          </a:p>
        </p:txBody>
      </p:sp>
      <p:sp>
        <p:nvSpPr>
          <p:cNvPr id="36" name="Text 34"/>
          <p:cNvSpPr/>
          <p:nvPr/>
        </p:nvSpPr>
        <p:spPr>
          <a:xfrm>
            <a:off x="7662672" y="1261872"/>
            <a:ext cx="384048" cy="384048"/>
          </a:xfrm>
          <a:prstGeom prst="rect">
            <a:avLst/>
          </a:prstGeom>
          <a:noFill/>
          <a:ln/>
        </p:spPr>
        <p:txBody>
          <a:bodyPr wrap="square" lIns="0" tIns="0" rIns="0" bIns="0" rtlCol="0" anchor="ctr"/>
          <a:lstStyle/>
          <a:p>
            <a:pPr marL="0" indent="0" algn="ctr">
              <a:buNone/>
            </a:pPr>
            <a:r>
              <a:rPr lang="en-US" sz="1400" b="1" dirty="0">
                <a:solidFill>
                  <a:srgbClr val="F4A100"/>
                </a:solidFill>
                <a:latin typeface="Calibri" pitchFamily="34" charset="0"/>
                <a:ea typeface="Calibri" pitchFamily="34" charset="-122"/>
                <a:cs typeface="Calibri" pitchFamily="34" charset="-120"/>
              </a:rPr>
              <a:t>0.30</a:t>
            </a:r>
            <a:endParaRPr lang="en-US" sz="1400" dirty="0"/>
          </a:p>
        </p:txBody>
      </p:sp>
      <p:sp>
        <p:nvSpPr>
          <p:cNvPr id="37" name="Text 35"/>
          <p:cNvSpPr/>
          <p:nvPr/>
        </p:nvSpPr>
        <p:spPr>
          <a:xfrm>
            <a:off x="8065008" y="1261872"/>
            <a:ext cx="777240" cy="384048"/>
          </a:xfrm>
          <a:prstGeom prst="rect">
            <a:avLst/>
          </a:prstGeom>
          <a:noFill/>
          <a:ln/>
        </p:spPr>
        <p:txBody>
          <a:bodyPr wrap="square" lIns="0" tIns="0" rIns="0" bIns="0" rtlCol="0" anchor="ctr"/>
          <a:lstStyle/>
          <a:p>
            <a:pPr marL="0" indent="0" algn="l">
              <a:buNone/>
            </a:pPr>
            <a:r>
              <a:rPr lang="en-US" sz="750" dirty="0">
                <a:solidFill>
                  <a:srgbClr val="E4EEF5"/>
                </a:solidFill>
                <a:latin typeface="Calibri" pitchFamily="34" charset="0"/>
                <a:ea typeface="Calibri" pitchFamily="34" charset="-122"/>
                <a:cs typeface="Calibri" pitchFamily="34" charset="-120"/>
              </a:rPr>
              <a:t>Kinetic</a:t>
            </a:r>
            <a:endParaRPr lang="en-US" sz="750" dirty="0"/>
          </a:p>
          <a:p>
            <a:pPr marL="0" indent="0" algn="l">
              <a:buNone/>
            </a:pPr>
            <a:r>
              <a:rPr lang="en-US" sz="750" dirty="0">
                <a:solidFill>
                  <a:srgbClr val="E4EEF5"/>
                </a:solidFill>
                <a:latin typeface="Calibri" pitchFamily="34" charset="0"/>
                <a:ea typeface="Calibri" pitchFamily="34" charset="-122"/>
                <a:cs typeface="Calibri" pitchFamily="34" charset="-120"/>
              </a:rPr>
              <a:t>Intensity</a:t>
            </a:r>
            <a:endParaRPr lang="en-US" sz="750" dirty="0"/>
          </a:p>
        </p:txBody>
      </p:sp>
      <p:sp>
        <p:nvSpPr>
          <p:cNvPr id="38" name="Shape 36"/>
          <p:cNvSpPr/>
          <p:nvPr/>
        </p:nvSpPr>
        <p:spPr>
          <a:xfrm>
            <a:off x="7242048" y="2130552"/>
            <a:ext cx="384048" cy="384048"/>
          </a:xfrm>
          <a:prstGeom prst="ellipse">
            <a:avLst/>
          </a:prstGeom>
          <a:solidFill>
            <a:srgbClr val="0E6B8C"/>
          </a:solidFill>
          <a:ln/>
        </p:spPr>
      </p:sp>
      <p:sp>
        <p:nvSpPr>
          <p:cNvPr id="39" name="Text 37"/>
          <p:cNvSpPr/>
          <p:nvPr/>
        </p:nvSpPr>
        <p:spPr>
          <a:xfrm>
            <a:off x="7242048" y="213055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DoD</a:t>
            </a:r>
            <a:endParaRPr lang="en-US" sz="900" dirty="0"/>
          </a:p>
        </p:txBody>
      </p:sp>
      <p:sp>
        <p:nvSpPr>
          <p:cNvPr id="40" name="Text 38"/>
          <p:cNvSpPr/>
          <p:nvPr/>
        </p:nvSpPr>
        <p:spPr>
          <a:xfrm>
            <a:off x="7662672" y="2130552"/>
            <a:ext cx="384048" cy="384048"/>
          </a:xfrm>
          <a:prstGeom prst="rect">
            <a:avLst/>
          </a:prstGeom>
          <a:noFill/>
          <a:ln/>
        </p:spPr>
        <p:txBody>
          <a:bodyPr wrap="square" lIns="0" tIns="0" rIns="0" bIns="0" rtlCol="0" anchor="ctr"/>
          <a:lstStyle/>
          <a:p>
            <a:pPr marL="0" indent="0" algn="ctr">
              <a:buNone/>
            </a:pPr>
            <a:r>
              <a:rPr lang="en-US" sz="1400" b="1" dirty="0">
                <a:solidFill>
                  <a:srgbClr val="F4A100"/>
                </a:solidFill>
                <a:latin typeface="Calibri" pitchFamily="34" charset="0"/>
                <a:ea typeface="Calibri" pitchFamily="34" charset="-122"/>
                <a:cs typeface="Calibri" pitchFamily="34" charset="-120"/>
              </a:rPr>
              <a:t>0.25</a:t>
            </a:r>
            <a:endParaRPr lang="en-US" sz="1400" dirty="0"/>
          </a:p>
        </p:txBody>
      </p:sp>
      <p:sp>
        <p:nvSpPr>
          <p:cNvPr id="41" name="Text 39"/>
          <p:cNvSpPr/>
          <p:nvPr/>
        </p:nvSpPr>
        <p:spPr>
          <a:xfrm>
            <a:off x="8065008" y="2130552"/>
            <a:ext cx="777240" cy="384048"/>
          </a:xfrm>
          <a:prstGeom prst="rect">
            <a:avLst/>
          </a:prstGeom>
          <a:noFill/>
          <a:ln/>
        </p:spPr>
        <p:txBody>
          <a:bodyPr wrap="square" lIns="0" tIns="0" rIns="0" bIns="0" rtlCol="0" anchor="ctr"/>
          <a:lstStyle/>
          <a:p>
            <a:pPr marL="0" indent="0" algn="l">
              <a:buNone/>
            </a:pPr>
            <a:r>
              <a:rPr lang="en-US" sz="750" dirty="0">
                <a:solidFill>
                  <a:srgbClr val="E4EEF5"/>
                </a:solidFill>
                <a:latin typeface="Calibri" pitchFamily="34" charset="0"/>
                <a:ea typeface="Calibri" pitchFamily="34" charset="-122"/>
                <a:cs typeface="Calibri" pitchFamily="34" charset="-120"/>
              </a:rPr>
              <a:t>Depth of</a:t>
            </a:r>
            <a:endParaRPr lang="en-US" sz="750" dirty="0"/>
          </a:p>
          <a:p>
            <a:pPr marL="0" indent="0" algn="l">
              <a:buNone/>
            </a:pPr>
            <a:r>
              <a:rPr lang="en-US" sz="750" dirty="0">
                <a:solidFill>
                  <a:srgbClr val="E4EEF5"/>
                </a:solidFill>
                <a:latin typeface="Calibri" pitchFamily="34" charset="0"/>
                <a:ea typeface="Calibri" pitchFamily="34" charset="-122"/>
                <a:cs typeface="Calibri" pitchFamily="34" charset="-120"/>
              </a:rPr>
              <a:t>Discharge</a:t>
            </a:r>
            <a:endParaRPr lang="en-US" sz="750" dirty="0"/>
          </a:p>
        </p:txBody>
      </p:sp>
      <p:sp>
        <p:nvSpPr>
          <p:cNvPr id="42" name="Shape 40"/>
          <p:cNvSpPr/>
          <p:nvPr/>
        </p:nvSpPr>
        <p:spPr>
          <a:xfrm>
            <a:off x="7242048" y="2999232"/>
            <a:ext cx="384048" cy="384048"/>
          </a:xfrm>
          <a:prstGeom prst="ellipse">
            <a:avLst/>
          </a:prstGeom>
          <a:solidFill>
            <a:srgbClr val="0E6B8C"/>
          </a:solidFill>
          <a:ln/>
        </p:spPr>
      </p:sp>
      <p:sp>
        <p:nvSpPr>
          <p:cNvPr id="43" name="Text 41"/>
          <p:cNvSpPr/>
          <p:nvPr/>
        </p:nvSpPr>
        <p:spPr>
          <a:xfrm>
            <a:off x="7242048" y="299923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a:t>
            </a:r>
            <a:endParaRPr lang="en-US" sz="900" dirty="0"/>
          </a:p>
        </p:txBody>
      </p:sp>
      <p:sp>
        <p:nvSpPr>
          <p:cNvPr id="44" name="Text 42"/>
          <p:cNvSpPr/>
          <p:nvPr/>
        </p:nvSpPr>
        <p:spPr>
          <a:xfrm>
            <a:off x="7662672" y="2999232"/>
            <a:ext cx="384048" cy="384048"/>
          </a:xfrm>
          <a:prstGeom prst="rect">
            <a:avLst/>
          </a:prstGeom>
          <a:noFill/>
          <a:ln/>
        </p:spPr>
        <p:txBody>
          <a:bodyPr wrap="square" lIns="0" tIns="0" rIns="0" bIns="0" rtlCol="0" anchor="ctr"/>
          <a:lstStyle/>
          <a:p>
            <a:pPr marL="0" indent="0" algn="ctr">
              <a:buNone/>
            </a:pPr>
            <a:r>
              <a:rPr lang="en-US" sz="1400" b="1" dirty="0">
                <a:solidFill>
                  <a:srgbClr val="F4A100"/>
                </a:solidFill>
                <a:latin typeface="Calibri" pitchFamily="34" charset="0"/>
                <a:ea typeface="Calibri" pitchFamily="34" charset="-122"/>
                <a:cs typeface="Calibri" pitchFamily="34" charset="-120"/>
              </a:rPr>
              <a:t>0.25</a:t>
            </a:r>
            <a:endParaRPr lang="en-US" sz="1400" dirty="0"/>
          </a:p>
        </p:txBody>
      </p:sp>
      <p:sp>
        <p:nvSpPr>
          <p:cNvPr id="45" name="Text 43"/>
          <p:cNvSpPr/>
          <p:nvPr/>
        </p:nvSpPr>
        <p:spPr>
          <a:xfrm>
            <a:off x="8065008" y="2999232"/>
            <a:ext cx="777240" cy="384048"/>
          </a:xfrm>
          <a:prstGeom prst="rect">
            <a:avLst/>
          </a:prstGeom>
          <a:noFill/>
          <a:ln/>
        </p:spPr>
        <p:txBody>
          <a:bodyPr wrap="square" lIns="0" tIns="0" rIns="0" bIns="0" rtlCol="0" anchor="ctr"/>
          <a:lstStyle/>
          <a:p>
            <a:pPr marL="0" indent="0" algn="l">
              <a:buNone/>
            </a:pPr>
            <a:r>
              <a:rPr lang="en-US" sz="750" dirty="0">
                <a:solidFill>
                  <a:srgbClr val="E4EEF5"/>
                </a:solidFill>
                <a:latin typeface="Calibri" pitchFamily="34" charset="0"/>
                <a:ea typeface="Calibri" pitchFamily="34" charset="-122"/>
                <a:cs typeface="Calibri" pitchFamily="34" charset="-120"/>
              </a:rPr>
              <a:t>Temperature</a:t>
            </a:r>
            <a:endParaRPr lang="en-US" sz="750" dirty="0"/>
          </a:p>
          <a:p>
            <a:pPr marL="0" indent="0" algn="l">
              <a:buNone/>
            </a:pPr>
            <a:r>
              <a:rPr lang="en-US" sz="750" dirty="0">
                <a:solidFill>
                  <a:srgbClr val="E4EEF5"/>
                </a:solidFill>
                <a:latin typeface="Calibri" pitchFamily="34" charset="0"/>
                <a:ea typeface="Calibri" pitchFamily="34" charset="-122"/>
                <a:cs typeface="Calibri" pitchFamily="34" charset="-120"/>
              </a:rPr>
              <a:t>Stress</a:t>
            </a:r>
            <a:endParaRPr lang="en-US" sz="750" dirty="0"/>
          </a:p>
        </p:txBody>
      </p:sp>
      <p:sp>
        <p:nvSpPr>
          <p:cNvPr id="46" name="Shape 44"/>
          <p:cNvSpPr/>
          <p:nvPr/>
        </p:nvSpPr>
        <p:spPr>
          <a:xfrm>
            <a:off x="7242048" y="3867912"/>
            <a:ext cx="384048" cy="384048"/>
          </a:xfrm>
          <a:prstGeom prst="ellipse">
            <a:avLst/>
          </a:prstGeom>
          <a:solidFill>
            <a:srgbClr val="0E6B8C"/>
          </a:solidFill>
          <a:ln/>
        </p:spPr>
      </p:sp>
      <p:sp>
        <p:nvSpPr>
          <p:cNvPr id="47" name="Text 45"/>
          <p:cNvSpPr/>
          <p:nvPr/>
        </p:nvSpPr>
        <p:spPr>
          <a:xfrm>
            <a:off x="7242048" y="386791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Cpk</a:t>
            </a:r>
            <a:endParaRPr lang="en-US" sz="900" dirty="0"/>
          </a:p>
        </p:txBody>
      </p:sp>
      <p:sp>
        <p:nvSpPr>
          <p:cNvPr id="48" name="Text 46"/>
          <p:cNvSpPr/>
          <p:nvPr/>
        </p:nvSpPr>
        <p:spPr>
          <a:xfrm>
            <a:off x="7662672" y="3867912"/>
            <a:ext cx="384048" cy="384048"/>
          </a:xfrm>
          <a:prstGeom prst="rect">
            <a:avLst/>
          </a:prstGeom>
          <a:noFill/>
          <a:ln/>
        </p:spPr>
        <p:txBody>
          <a:bodyPr wrap="square" lIns="0" tIns="0" rIns="0" bIns="0" rtlCol="0" anchor="ctr"/>
          <a:lstStyle/>
          <a:p>
            <a:pPr marL="0" indent="0" algn="ctr">
              <a:buNone/>
            </a:pPr>
            <a:r>
              <a:rPr lang="en-US" sz="1400" b="1" dirty="0">
                <a:solidFill>
                  <a:srgbClr val="F4A100"/>
                </a:solidFill>
                <a:latin typeface="Calibri" pitchFamily="34" charset="0"/>
                <a:ea typeface="Calibri" pitchFamily="34" charset="-122"/>
                <a:cs typeface="Calibri" pitchFamily="34" charset="-120"/>
              </a:rPr>
              <a:t>0.20</a:t>
            </a:r>
            <a:endParaRPr lang="en-US" sz="1400" dirty="0"/>
          </a:p>
        </p:txBody>
      </p:sp>
      <p:sp>
        <p:nvSpPr>
          <p:cNvPr id="49" name="Text 47"/>
          <p:cNvSpPr/>
          <p:nvPr/>
        </p:nvSpPr>
        <p:spPr>
          <a:xfrm>
            <a:off x="8065008" y="3867912"/>
            <a:ext cx="777240" cy="384048"/>
          </a:xfrm>
          <a:prstGeom prst="rect">
            <a:avLst/>
          </a:prstGeom>
          <a:noFill/>
          <a:ln/>
        </p:spPr>
        <p:txBody>
          <a:bodyPr wrap="square" lIns="0" tIns="0" rIns="0" bIns="0" rtlCol="0" anchor="ctr"/>
          <a:lstStyle/>
          <a:p>
            <a:pPr marL="0" indent="0" algn="l">
              <a:buNone/>
            </a:pPr>
            <a:r>
              <a:rPr lang="en-US" sz="750" dirty="0">
                <a:solidFill>
                  <a:srgbClr val="E4EEF5"/>
                </a:solidFill>
                <a:latin typeface="Calibri" pitchFamily="34" charset="0"/>
                <a:ea typeface="Calibri" pitchFamily="34" charset="-122"/>
                <a:cs typeface="Calibri" pitchFamily="34" charset="-120"/>
              </a:rPr>
              <a:t>Peak</a:t>
            </a:r>
            <a:endParaRPr lang="en-US" sz="750" dirty="0"/>
          </a:p>
          <a:p>
            <a:pPr marL="0" indent="0" algn="l">
              <a:buNone/>
            </a:pPr>
            <a:r>
              <a:rPr lang="en-US" sz="750" dirty="0">
                <a:solidFill>
                  <a:srgbClr val="E4EEF5"/>
                </a:solidFill>
                <a:latin typeface="Calibri" pitchFamily="34" charset="0"/>
                <a:ea typeface="Calibri" pitchFamily="34" charset="-122"/>
                <a:cs typeface="Calibri" pitchFamily="34" charset="-120"/>
              </a:rPr>
              <a:t>C-rate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B45"/>
          </a:solidFill>
          <a:ln/>
        </p:spPr>
      </p:sp>
      <p:sp>
        <p:nvSpPr>
          <p:cNvPr id="3" name="Shape 1"/>
          <p:cNvSpPr/>
          <p:nvPr/>
        </p:nvSpPr>
        <p:spPr>
          <a:xfrm>
            <a:off x="0" y="0"/>
            <a:ext cx="109728" cy="5143500"/>
          </a:xfrm>
          <a:prstGeom prst="rect">
            <a:avLst/>
          </a:prstGeom>
          <a:solidFill>
            <a:srgbClr val="02C39A"/>
          </a:solidFill>
          <a:ln/>
        </p:spPr>
      </p:sp>
      <p:sp>
        <p:nvSpPr>
          <p:cNvPr id="4" name="Text 2"/>
          <p:cNvSpPr/>
          <p:nvPr/>
        </p:nvSpPr>
        <p:spPr>
          <a:xfrm>
            <a:off x="256032" y="164592"/>
            <a:ext cx="8595360" cy="438912"/>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Key Findings — FSI Validation across 3 Fleet Types</a:t>
            </a:r>
            <a:endParaRPr lang="en-US" sz="2200" dirty="0"/>
          </a:p>
        </p:txBody>
      </p:sp>
      <p:sp>
        <p:nvSpPr>
          <p:cNvPr id="5" name="Shape 3"/>
          <p:cNvSpPr/>
          <p:nvPr/>
        </p:nvSpPr>
        <p:spPr>
          <a:xfrm>
            <a:off x="256032" y="731520"/>
            <a:ext cx="2057400" cy="932688"/>
          </a:xfrm>
          <a:prstGeom prst="roundRect">
            <a:avLst>
              <a:gd name="adj" fmla="val 7843"/>
            </a:avLst>
          </a:prstGeom>
          <a:solidFill>
            <a:srgbClr val="0A1F35"/>
          </a:solidFill>
          <a:ln w="25400">
            <a:solidFill>
              <a:srgbClr val="0E6B8C"/>
            </a:solidFill>
            <a:prstDash val="solid"/>
          </a:ln>
        </p:spPr>
      </p:sp>
      <p:sp>
        <p:nvSpPr>
          <p:cNvPr id="6" name="Text 4"/>
          <p:cNvSpPr/>
          <p:nvPr/>
        </p:nvSpPr>
        <p:spPr>
          <a:xfrm>
            <a:off x="256032" y="758952"/>
            <a:ext cx="2057400" cy="502920"/>
          </a:xfrm>
          <a:prstGeom prst="rect">
            <a:avLst/>
          </a:prstGeom>
          <a:noFill/>
          <a:ln/>
        </p:spPr>
        <p:txBody>
          <a:bodyPr wrap="square" lIns="0" tIns="0" rIns="0" bIns="0" rtlCol="0" anchor="ctr"/>
          <a:lstStyle/>
          <a:p>
            <a:pPr marL="0" indent="0" algn="ctr">
              <a:buNone/>
            </a:pPr>
            <a:r>
              <a:rPr lang="en-US" sz="2800" b="1" dirty="0">
                <a:solidFill>
                  <a:srgbClr val="0E6B8C"/>
                </a:solidFill>
                <a:latin typeface="Calibri" pitchFamily="34" charset="0"/>
                <a:ea typeface="Calibri" pitchFamily="34" charset="-122"/>
                <a:cs typeface="Calibri" pitchFamily="34" charset="-120"/>
              </a:rPr>
              <a:t>9,031</a:t>
            </a:r>
            <a:endParaRPr lang="en-US" sz="2800" dirty="0"/>
          </a:p>
        </p:txBody>
      </p:sp>
      <p:sp>
        <p:nvSpPr>
          <p:cNvPr id="7" name="Text 5"/>
          <p:cNvSpPr/>
          <p:nvPr/>
        </p:nvSpPr>
        <p:spPr>
          <a:xfrm>
            <a:off x="256032" y="1261872"/>
            <a:ext cx="2057400" cy="365760"/>
          </a:xfrm>
          <a:prstGeom prst="rect">
            <a:avLst/>
          </a:prstGeom>
          <a:noFill/>
          <a:ln/>
        </p:spPr>
        <p:txBody>
          <a:bodyPr wrap="square" lIns="0" tIns="0" rIns="0" bIns="0" rtlCol="0" anchor="t"/>
          <a:lstStyle/>
          <a:p>
            <a:pPr marL="0" indent="0" algn="ctr">
              <a:buNone/>
            </a:pPr>
            <a:r>
              <a:rPr lang="en-US" sz="900" dirty="0">
                <a:solidFill>
                  <a:srgbClr val="E4EEF5"/>
                </a:solidFill>
                <a:latin typeface="Calibri" pitchFamily="34" charset="0"/>
                <a:ea typeface="Calibri" pitchFamily="34" charset="-122"/>
                <a:cs typeface="Calibri" pitchFamily="34" charset="-120"/>
              </a:rPr>
              <a:t>Lab cycles</a:t>
            </a:r>
            <a:endParaRPr lang="en-US" sz="900" dirty="0"/>
          </a:p>
          <a:p>
            <a:pPr marL="0" indent="0" algn="ctr">
              <a:buNone/>
            </a:pPr>
            <a:r>
              <a:rPr lang="en-US" sz="900" dirty="0">
                <a:solidFill>
                  <a:srgbClr val="E4EEF5"/>
                </a:solidFill>
                <a:latin typeface="Calibri" pitchFamily="34" charset="0"/>
                <a:ea typeface="Calibri" pitchFamily="34" charset="-122"/>
                <a:cs typeface="Calibri" pitchFamily="34" charset="-120"/>
              </a:rPr>
              <a:t>processed</a:t>
            </a:r>
            <a:endParaRPr lang="en-US" sz="900" dirty="0"/>
          </a:p>
        </p:txBody>
      </p:sp>
      <p:sp>
        <p:nvSpPr>
          <p:cNvPr id="8" name="Shape 6"/>
          <p:cNvSpPr/>
          <p:nvPr/>
        </p:nvSpPr>
        <p:spPr>
          <a:xfrm>
            <a:off x="2468880" y="731520"/>
            <a:ext cx="2057400" cy="932688"/>
          </a:xfrm>
          <a:prstGeom prst="roundRect">
            <a:avLst>
              <a:gd name="adj" fmla="val 7843"/>
            </a:avLst>
          </a:prstGeom>
          <a:solidFill>
            <a:srgbClr val="0A1F35"/>
          </a:solidFill>
          <a:ln w="25400">
            <a:solidFill>
              <a:srgbClr val="02C39A"/>
            </a:solidFill>
            <a:prstDash val="solid"/>
          </a:ln>
        </p:spPr>
      </p:sp>
      <p:sp>
        <p:nvSpPr>
          <p:cNvPr id="9" name="Text 7"/>
          <p:cNvSpPr/>
          <p:nvPr/>
        </p:nvSpPr>
        <p:spPr>
          <a:xfrm>
            <a:off x="2468880" y="758952"/>
            <a:ext cx="2057400" cy="502920"/>
          </a:xfrm>
          <a:prstGeom prst="rect">
            <a:avLst/>
          </a:prstGeom>
          <a:noFill/>
          <a:ln/>
        </p:spPr>
        <p:txBody>
          <a:bodyPr wrap="square" lIns="0" tIns="0" rIns="0" bIns="0" rtlCol="0" anchor="ctr"/>
          <a:lstStyle/>
          <a:p>
            <a:pPr marL="0" indent="0" algn="ctr">
              <a:buNone/>
            </a:pPr>
            <a:r>
              <a:rPr lang="en-US" sz="2800" b="1" dirty="0">
                <a:solidFill>
                  <a:srgbClr val="02C39A"/>
                </a:solidFill>
                <a:latin typeface="Calibri" pitchFamily="34" charset="0"/>
                <a:ea typeface="Calibri" pitchFamily="34" charset="-122"/>
                <a:cs typeface="Calibri" pitchFamily="34" charset="-120"/>
              </a:rPr>
              <a:t>3</a:t>
            </a:r>
            <a:endParaRPr lang="en-US" sz="2800" dirty="0"/>
          </a:p>
        </p:txBody>
      </p:sp>
      <p:sp>
        <p:nvSpPr>
          <p:cNvPr id="10" name="Text 8"/>
          <p:cNvSpPr/>
          <p:nvPr/>
        </p:nvSpPr>
        <p:spPr>
          <a:xfrm>
            <a:off x="2468880" y="1261872"/>
            <a:ext cx="2057400" cy="365760"/>
          </a:xfrm>
          <a:prstGeom prst="rect">
            <a:avLst/>
          </a:prstGeom>
          <a:noFill/>
          <a:ln/>
        </p:spPr>
        <p:txBody>
          <a:bodyPr wrap="square" lIns="0" tIns="0" rIns="0" bIns="0" rtlCol="0" anchor="t"/>
          <a:lstStyle/>
          <a:p>
            <a:pPr marL="0" indent="0" algn="ctr">
              <a:buNone/>
            </a:pPr>
            <a:r>
              <a:rPr lang="en-US" sz="900" dirty="0">
                <a:solidFill>
                  <a:srgbClr val="E4EEF5"/>
                </a:solidFill>
                <a:latin typeface="Calibri" pitchFamily="34" charset="0"/>
                <a:ea typeface="Calibri" pitchFamily="34" charset="-122"/>
                <a:cs typeface="Calibri" pitchFamily="34" charset="-120"/>
              </a:rPr>
              <a:t>Fleet types</a:t>
            </a:r>
            <a:endParaRPr lang="en-US" sz="900" dirty="0"/>
          </a:p>
          <a:p>
            <a:pPr marL="0" indent="0" algn="ctr">
              <a:buNone/>
            </a:pPr>
            <a:r>
              <a:rPr lang="en-US" sz="900" dirty="0">
                <a:solidFill>
                  <a:srgbClr val="E4EEF5"/>
                </a:solidFill>
                <a:latin typeface="Calibri" pitchFamily="34" charset="0"/>
                <a:ea typeface="Calibri" pitchFamily="34" charset="-122"/>
                <a:cs typeface="Calibri" pitchFamily="34" charset="-120"/>
              </a:rPr>
              <a:t>compared</a:t>
            </a:r>
            <a:endParaRPr lang="en-US" sz="900" dirty="0"/>
          </a:p>
        </p:txBody>
      </p:sp>
      <p:sp>
        <p:nvSpPr>
          <p:cNvPr id="11" name="Shape 9"/>
          <p:cNvSpPr/>
          <p:nvPr/>
        </p:nvSpPr>
        <p:spPr>
          <a:xfrm>
            <a:off x="4681728" y="731520"/>
            <a:ext cx="2057400" cy="932688"/>
          </a:xfrm>
          <a:prstGeom prst="roundRect">
            <a:avLst>
              <a:gd name="adj" fmla="val 7843"/>
            </a:avLst>
          </a:prstGeom>
          <a:solidFill>
            <a:srgbClr val="0A1F35"/>
          </a:solidFill>
          <a:ln w="25400">
            <a:solidFill>
              <a:srgbClr val="F4A100"/>
            </a:solidFill>
            <a:prstDash val="solid"/>
          </a:ln>
        </p:spPr>
      </p:sp>
      <p:sp>
        <p:nvSpPr>
          <p:cNvPr id="12" name="Text 10"/>
          <p:cNvSpPr/>
          <p:nvPr/>
        </p:nvSpPr>
        <p:spPr>
          <a:xfrm>
            <a:off x="4681728" y="758952"/>
            <a:ext cx="2057400" cy="502920"/>
          </a:xfrm>
          <a:prstGeom prst="rect">
            <a:avLst/>
          </a:prstGeom>
          <a:noFill/>
          <a:ln/>
        </p:spPr>
        <p:txBody>
          <a:bodyPr wrap="square" lIns="0" tIns="0" rIns="0" bIns="0" rtlCol="0" anchor="ctr"/>
          <a:lstStyle/>
          <a:p>
            <a:pPr marL="0" indent="0" algn="ctr">
              <a:buNone/>
            </a:pPr>
            <a:r>
              <a:rPr lang="en-US" sz="2800" b="1" dirty="0">
                <a:solidFill>
                  <a:srgbClr val="F4A100"/>
                </a:solidFill>
                <a:latin typeface="Calibri" pitchFamily="34" charset="0"/>
                <a:ea typeface="Calibri" pitchFamily="34" charset="-122"/>
                <a:cs typeface="Calibri" pitchFamily="34" charset="-120"/>
              </a:rPr>
              <a:t>+70%</a:t>
            </a:r>
            <a:endParaRPr lang="en-US" sz="2800" dirty="0"/>
          </a:p>
        </p:txBody>
      </p:sp>
      <p:sp>
        <p:nvSpPr>
          <p:cNvPr id="13" name="Text 11"/>
          <p:cNvSpPr/>
          <p:nvPr/>
        </p:nvSpPr>
        <p:spPr>
          <a:xfrm>
            <a:off x="4681728" y="1261872"/>
            <a:ext cx="2057400" cy="365760"/>
          </a:xfrm>
          <a:prstGeom prst="rect">
            <a:avLst/>
          </a:prstGeom>
          <a:noFill/>
          <a:ln/>
        </p:spPr>
        <p:txBody>
          <a:bodyPr wrap="square" lIns="0" tIns="0" rIns="0" bIns="0" rtlCol="0" anchor="t"/>
          <a:lstStyle/>
          <a:p>
            <a:pPr marL="0" indent="0" algn="ctr">
              <a:buNone/>
            </a:pPr>
            <a:r>
              <a:rPr lang="en-US" sz="900" dirty="0">
                <a:solidFill>
                  <a:srgbClr val="E4EEF5"/>
                </a:solidFill>
                <a:latin typeface="Calibri" pitchFamily="34" charset="0"/>
                <a:ea typeface="Calibri" pitchFamily="34" charset="-122"/>
                <a:cs typeface="Calibri" pitchFamily="34" charset="-120"/>
              </a:rPr>
              <a:t>Transit FSI above</a:t>
            </a:r>
            <a:endParaRPr lang="en-US" sz="900" dirty="0"/>
          </a:p>
          <a:p>
            <a:pPr marL="0" indent="0" algn="ctr">
              <a:buNone/>
            </a:pPr>
            <a:r>
              <a:rPr lang="en-US" sz="900" dirty="0">
                <a:solidFill>
                  <a:srgbClr val="E4EEF5"/>
                </a:solidFill>
                <a:latin typeface="Calibri" pitchFamily="34" charset="0"/>
                <a:ea typeface="Calibri" pitchFamily="34" charset="-122"/>
                <a:cs typeface="Calibri" pitchFamily="34" charset="-120"/>
              </a:rPr>
              <a:t>lab baseline</a:t>
            </a:r>
            <a:endParaRPr lang="en-US" sz="900" dirty="0"/>
          </a:p>
        </p:txBody>
      </p:sp>
      <p:sp>
        <p:nvSpPr>
          <p:cNvPr id="14" name="Shape 12"/>
          <p:cNvSpPr/>
          <p:nvPr/>
        </p:nvSpPr>
        <p:spPr>
          <a:xfrm>
            <a:off x="6894576" y="731520"/>
            <a:ext cx="2057400" cy="932688"/>
          </a:xfrm>
          <a:prstGeom prst="roundRect">
            <a:avLst>
              <a:gd name="adj" fmla="val 7843"/>
            </a:avLst>
          </a:prstGeom>
          <a:solidFill>
            <a:srgbClr val="0A1F35"/>
          </a:solidFill>
          <a:ln w="25400">
            <a:solidFill>
              <a:srgbClr val="E03A3A"/>
            </a:solidFill>
            <a:prstDash val="solid"/>
          </a:ln>
        </p:spPr>
      </p:sp>
      <p:sp>
        <p:nvSpPr>
          <p:cNvPr id="15" name="Text 13"/>
          <p:cNvSpPr/>
          <p:nvPr/>
        </p:nvSpPr>
        <p:spPr>
          <a:xfrm>
            <a:off x="6894576" y="758952"/>
            <a:ext cx="2057400" cy="502920"/>
          </a:xfrm>
          <a:prstGeom prst="rect">
            <a:avLst/>
          </a:prstGeom>
          <a:noFill/>
          <a:ln/>
        </p:spPr>
        <p:txBody>
          <a:bodyPr wrap="square" lIns="0" tIns="0" rIns="0" bIns="0" rtlCol="0" anchor="ctr"/>
          <a:lstStyle/>
          <a:p>
            <a:pPr marL="0" indent="0" algn="ctr">
              <a:buNone/>
            </a:pPr>
            <a:r>
              <a:rPr lang="en-US" sz="2800" b="1" dirty="0">
                <a:solidFill>
                  <a:srgbClr val="E03A3A"/>
                </a:solidFill>
                <a:latin typeface="Calibri" pitchFamily="34" charset="0"/>
                <a:ea typeface="Calibri" pitchFamily="34" charset="-122"/>
                <a:cs typeface="Calibri" pitchFamily="34" charset="-120"/>
              </a:rPr>
              <a:t>KI=0</a:t>
            </a:r>
            <a:endParaRPr lang="en-US" sz="2800" dirty="0"/>
          </a:p>
        </p:txBody>
      </p:sp>
      <p:sp>
        <p:nvSpPr>
          <p:cNvPr id="16" name="Text 14"/>
          <p:cNvSpPr/>
          <p:nvPr/>
        </p:nvSpPr>
        <p:spPr>
          <a:xfrm>
            <a:off x="6894576" y="1261872"/>
            <a:ext cx="2057400" cy="365760"/>
          </a:xfrm>
          <a:prstGeom prst="rect">
            <a:avLst/>
          </a:prstGeom>
          <a:noFill/>
          <a:ln/>
        </p:spPr>
        <p:txBody>
          <a:bodyPr wrap="square" lIns="0" tIns="0" rIns="0" bIns="0" rtlCol="0" anchor="t"/>
          <a:lstStyle/>
          <a:p>
            <a:pPr marL="0" indent="0" algn="ctr">
              <a:buNone/>
            </a:pPr>
            <a:r>
              <a:rPr lang="en-US" sz="900" dirty="0">
                <a:solidFill>
                  <a:srgbClr val="E4EEF5"/>
                </a:solidFill>
                <a:latin typeface="Calibri" pitchFamily="34" charset="0"/>
                <a:ea typeface="Calibri" pitchFamily="34" charset="-122"/>
                <a:cs typeface="Calibri" pitchFamily="34" charset="-120"/>
              </a:rPr>
              <a:t>Lab tests miss</a:t>
            </a:r>
            <a:endParaRPr lang="en-US" sz="900" dirty="0"/>
          </a:p>
          <a:p>
            <a:pPr marL="0" indent="0" algn="ctr">
              <a:buNone/>
            </a:pPr>
            <a:r>
              <a:rPr lang="en-US" sz="900" dirty="0">
                <a:solidFill>
                  <a:srgbClr val="E4EEF5"/>
                </a:solidFill>
                <a:latin typeface="Calibri" pitchFamily="34" charset="0"/>
                <a:ea typeface="Calibri" pitchFamily="34" charset="-122"/>
                <a:cs typeface="Calibri" pitchFamily="34" charset="-120"/>
              </a:rPr>
              <a:t>all kinetic stress</a:t>
            </a:r>
            <a:endParaRPr lang="en-US" sz="900" dirty="0"/>
          </a:p>
        </p:txBody>
      </p:sp>
      <p:sp>
        <p:nvSpPr>
          <p:cNvPr id="17" name="Shape 15"/>
          <p:cNvSpPr/>
          <p:nvPr/>
        </p:nvSpPr>
        <p:spPr>
          <a:xfrm>
            <a:off x="256032" y="1847088"/>
            <a:ext cx="1874520" cy="310896"/>
          </a:xfrm>
          <a:prstGeom prst="rect">
            <a:avLst/>
          </a:prstGeom>
          <a:solidFill>
            <a:srgbClr val="0E6B8C"/>
          </a:solidFill>
          <a:ln/>
        </p:spPr>
      </p:sp>
      <p:sp>
        <p:nvSpPr>
          <p:cNvPr id="18" name="Text 16"/>
          <p:cNvSpPr/>
          <p:nvPr/>
        </p:nvSpPr>
        <p:spPr>
          <a:xfrm>
            <a:off x="256032" y="1847088"/>
            <a:ext cx="18745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Fleet Type</a:t>
            </a:r>
            <a:endParaRPr lang="en-US" sz="850" dirty="0"/>
          </a:p>
        </p:txBody>
      </p:sp>
      <p:sp>
        <p:nvSpPr>
          <p:cNvPr id="19" name="Shape 17"/>
          <p:cNvSpPr/>
          <p:nvPr/>
        </p:nvSpPr>
        <p:spPr>
          <a:xfrm>
            <a:off x="2130552" y="1847088"/>
            <a:ext cx="1508760" cy="310896"/>
          </a:xfrm>
          <a:prstGeom prst="rect">
            <a:avLst/>
          </a:prstGeom>
          <a:solidFill>
            <a:srgbClr val="0E6B8C"/>
          </a:solidFill>
          <a:ln/>
        </p:spPr>
      </p:sp>
      <p:sp>
        <p:nvSpPr>
          <p:cNvPr id="20" name="Text 18"/>
          <p:cNvSpPr/>
          <p:nvPr/>
        </p:nvSpPr>
        <p:spPr>
          <a:xfrm>
            <a:off x="2130552" y="1847088"/>
            <a:ext cx="150876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Trips / Vehicles</a:t>
            </a:r>
            <a:endParaRPr lang="en-US" sz="850" dirty="0"/>
          </a:p>
        </p:txBody>
      </p:sp>
      <p:sp>
        <p:nvSpPr>
          <p:cNvPr id="21" name="Shape 19"/>
          <p:cNvSpPr/>
          <p:nvPr/>
        </p:nvSpPr>
        <p:spPr>
          <a:xfrm>
            <a:off x="3639312" y="1847088"/>
            <a:ext cx="841248" cy="310896"/>
          </a:xfrm>
          <a:prstGeom prst="rect">
            <a:avLst/>
          </a:prstGeom>
          <a:solidFill>
            <a:srgbClr val="0E6B8C"/>
          </a:solidFill>
          <a:ln/>
        </p:spPr>
      </p:sp>
      <p:sp>
        <p:nvSpPr>
          <p:cNvPr id="22" name="Text 20"/>
          <p:cNvSpPr/>
          <p:nvPr/>
        </p:nvSpPr>
        <p:spPr>
          <a:xfrm>
            <a:off x="3639312" y="1847088"/>
            <a:ext cx="841248"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KI Mean</a:t>
            </a:r>
            <a:endParaRPr lang="en-US" sz="850" dirty="0"/>
          </a:p>
        </p:txBody>
      </p:sp>
      <p:sp>
        <p:nvSpPr>
          <p:cNvPr id="23" name="Shape 21"/>
          <p:cNvSpPr/>
          <p:nvPr/>
        </p:nvSpPr>
        <p:spPr>
          <a:xfrm>
            <a:off x="4480560" y="1847088"/>
            <a:ext cx="841248" cy="310896"/>
          </a:xfrm>
          <a:prstGeom prst="rect">
            <a:avLst/>
          </a:prstGeom>
          <a:solidFill>
            <a:srgbClr val="0E6B8C"/>
          </a:solidFill>
          <a:ln/>
        </p:spPr>
      </p:sp>
      <p:sp>
        <p:nvSpPr>
          <p:cNvPr id="24" name="Text 22"/>
          <p:cNvSpPr/>
          <p:nvPr/>
        </p:nvSpPr>
        <p:spPr>
          <a:xfrm>
            <a:off x="4480560" y="1847088"/>
            <a:ext cx="841248"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FSI Mean</a:t>
            </a:r>
            <a:endParaRPr lang="en-US" sz="850" dirty="0"/>
          </a:p>
        </p:txBody>
      </p:sp>
      <p:sp>
        <p:nvSpPr>
          <p:cNvPr id="25" name="Shape 23"/>
          <p:cNvSpPr/>
          <p:nvPr/>
        </p:nvSpPr>
        <p:spPr>
          <a:xfrm>
            <a:off x="5321808" y="1847088"/>
            <a:ext cx="804672" cy="310896"/>
          </a:xfrm>
          <a:prstGeom prst="rect">
            <a:avLst/>
          </a:prstGeom>
          <a:solidFill>
            <a:srgbClr val="0E6B8C"/>
          </a:solidFill>
          <a:ln/>
        </p:spPr>
      </p:sp>
      <p:sp>
        <p:nvSpPr>
          <p:cNvPr id="26" name="Text 24"/>
          <p:cNvSpPr/>
          <p:nvPr/>
        </p:nvSpPr>
        <p:spPr>
          <a:xfrm>
            <a:off x="5321808" y="1847088"/>
            <a:ext cx="804672"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vs Lab</a:t>
            </a:r>
            <a:endParaRPr lang="en-US" sz="850" dirty="0"/>
          </a:p>
        </p:txBody>
      </p:sp>
      <p:sp>
        <p:nvSpPr>
          <p:cNvPr id="27" name="Shape 25"/>
          <p:cNvSpPr/>
          <p:nvPr/>
        </p:nvSpPr>
        <p:spPr>
          <a:xfrm>
            <a:off x="6126480" y="1847088"/>
            <a:ext cx="1417320" cy="310896"/>
          </a:xfrm>
          <a:prstGeom prst="rect">
            <a:avLst/>
          </a:prstGeom>
          <a:solidFill>
            <a:srgbClr val="0E6B8C"/>
          </a:solidFill>
          <a:ln/>
        </p:spPr>
      </p:sp>
      <p:sp>
        <p:nvSpPr>
          <p:cNvPr id="28" name="Text 26"/>
          <p:cNvSpPr/>
          <p:nvPr/>
        </p:nvSpPr>
        <p:spPr>
          <a:xfrm>
            <a:off x="6126480" y="1847088"/>
            <a:ext cx="1417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Proj. SoH</a:t>
            </a:r>
            <a:endParaRPr lang="en-US" sz="850" dirty="0"/>
          </a:p>
        </p:txBody>
      </p:sp>
      <p:sp>
        <p:nvSpPr>
          <p:cNvPr id="29" name="Shape 27"/>
          <p:cNvSpPr/>
          <p:nvPr/>
        </p:nvSpPr>
        <p:spPr>
          <a:xfrm>
            <a:off x="256032" y="2157984"/>
            <a:ext cx="1874520" cy="347472"/>
          </a:xfrm>
          <a:prstGeom prst="rect">
            <a:avLst/>
          </a:prstGeom>
          <a:solidFill>
            <a:srgbClr val="081929"/>
          </a:solidFill>
          <a:ln/>
        </p:spPr>
      </p:sp>
      <p:sp>
        <p:nvSpPr>
          <p:cNvPr id="30" name="Text 28"/>
          <p:cNvSpPr/>
          <p:nvPr/>
        </p:nvSpPr>
        <p:spPr>
          <a:xfrm>
            <a:off x="301752" y="2157984"/>
            <a:ext cx="1783080" cy="347472"/>
          </a:xfrm>
          <a:prstGeom prst="rect">
            <a:avLst/>
          </a:prstGeom>
          <a:noFill/>
          <a:ln/>
        </p:spPr>
        <p:txBody>
          <a:bodyPr wrap="square" lIns="0" tIns="0" rIns="0" bIns="0" rtlCol="0" anchor="ctr"/>
          <a:lstStyle/>
          <a:p>
            <a:pPr marL="0" indent="0" algn="l">
              <a:buNone/>
            </a:pPr>
            <a:r>
              <a:rPr lang="en-US" sz="900" b="1" dirty="0">
                <a:solidFill>
                  <a:srgbClr val="E4EEF5"/>
                </a:solidFill>
                <a:latin typeface="Calibri" pitchFamily="34" charset="0"/>
                <a:ea typeface="Calibri" pitchFamily="34" charset="-122"/>
                <a:cs typeface="Calibri" pitchFamily="34" charset="-120"/>
              </a:rPr>
              <a:t>Lab (CC baseline)</a:t>
            </a:r>
            <a:endParaRPr lang="en-US" sz="900" dirty="0"/>
          </a:p>
        </p:txBody>
      </p:sp>
      <p:sp>
        <p:nvSpPr>
          <p:cNvPr id="31" name="Shape 29"/>
          <p:cNvSpPr/>
          <p:nvPr/>
        </p:nvSpPr>
        <p:spPr>
          <a:xfrm>
            <a:off x="2130552" y="2157984"/>
            <a:ext cx="1508760" cy="347472"/>
          </a:xfrm>
          <a:prstGeom prst="rect">
            <a:avLst/>
          </a:prstGeom>
          <a:solidFill>
            <a:srgbClr val="081929"/>
          </a:solidFill>
          <a:ln/>
        </p:spPr>
      </p:sp>
      <p:sp>
        <p:nvSpPr>
          <p:cNvPr id="32" name="Text 30"/>
          <p:cNvSpPr/>
          <p:nvPr/>
        </p:nvSpPr>
        <p:spPr>
          <a:xfrm>
            <a:off x="2176272" y="2157984"/>
            <a:ext cx="1417320"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9,031 cycles</a:t>
            </a:r>
            <a:endParaRPr lang="en-US" sz="900" dirty="0"/>
          </a:p>
        </p:txBody>
      </p:sp>
      <p:sp>
        <p:nvSpPr>
          <p:cNvPr id="33" name="Shape 31"/>
          <p:cNvSpPr/>
          <p:nvPr/>
        </p:nvSpPr>
        <p:spPr>
          <a:xfrm>
            <a:off x="3639312" y="2157984"/>
            <a:ext cx="841248" cy="347472"/>
          </a:xfrm>
          <a:prstGeom prst="rect">
            <a:avLst/>
          </a:prstGeom>
          <a:solidFill>
            <a:srgbClr val="081929"/>
          </a:solidFill>
          <a:ln/>
        </p:spPr>
      </p:sp>
      <p:sp>
        <p:nvSpPr>
          <p:cNvPr id="34" name="Text 32"/>
          <p:cNvSpPr/>
          <p:nvPr/>
        </p:nvSpPr>
        <p:spPr>
          <a:xfrm>
            <a:off x="3685032" y="215798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0.000</a:t>
            </a:r>
            <a:endParaRPr lang="en-US" sz="900" dirty="0"/>
          </a:p>
        </p:txBody>
      </p:sp>
      <p:sp>
        <p:nvSpPr>
          <p:cNvPr id="35" name="Shape 33"/>
          <p:cNvSpPr/>
          <p:nvPr/>
        </p:nvSpPr>
        <p:spPr>
          <a:xfrm>
            <a:off x="4480560" y="2157984"/>
            <a:ext cx="841248" cy="347472"/>
          </a:xfrm>
          <a:prstGeom prst="rect">
            <a:avLst/>
          </a:prstGeom>
          <a:solidFill>
            <a:srgbClr val="081929"/>
          </a:solidFill>
          <a:ln/>
        </p:spPr>
      </p:sp>
      <p:sp>
        <p:nvSpPr>
          <p:cNvPr id="36" name="Text 34"/>
          <p:cNvSpPr/>
          <p:nvPr/>
        </p:nvSpPr>
        <p:spPr>
          <a:xfrm>
            <a:off x="4526280" y="215798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0.305</a:t>
            </a:r>
            <a:endParaRPr lang="en-US" sz="900" dirty="0"/>
          </a:p>
        </p:txBody>
      </p:sp>
      <p:sp>
        <p:nvSpPr>
          <p:cNvPr id="37" name="Shape 35"/>
          <p:cNvSpPr/>
          <p:nvPr/>
        </p:nvSpPr>
        <p:spPr>
          <a:xfrm>
            <a:off x="5321808" y="2157984"/>
            <a:ext cx="804672" cy="347472"/>
          </a:xfrm>
          <a:prstGeom prst="rect">
            <a:avLst/>
          </a:prstGeom>
          <a:solidFill>
            <a:srgbClr val="081929"/>
          </a:solidFill>
          <a:ln/>
        </p:spPr>
      </p:sp>
      <p:sp>
        <p:nvSpPr>
          <p:cNvPr id="38" name="Text 36"/>
          <p:cNvSpPr/>
          <p:nvPr/>
        </p:nvSpPr>
        <p:spPr>
          <a:xfrm>
            <a:off x="5367528" y="2157984"/>
            <a:ext cx="713232"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a:t>
            </a:r>
            <a:endParaRPr lang="en-US" sz="900" dirty="0"/>
          </a:p>
        </p:txBody>
      </p:sp>
      <p:sp>
        <p:nvSpPr>
          <p:cNvPr id="39" name="Shape 37"/>
          <p:cNvSpPr/>
          <p:nvPr/>
        </p:nvSpPr>
        <p:spPr>
          <a:xfrm>
            <a:off x="6126480" y="2157984"/>
            <a:ext cx="1417320" cy="347472"/>
          </a:xfrm>
          <a:prstGeom prst="rect">
            <a:avLst/>
          </a:prstGeom>
          <a:solidFill>
            <a:srgbClr val="081929"/>
          </a:solidFill>
          <a:ln/>
        </p:spPr>
      </p:sp>
      <p:sp>
        <p:nvSpPr>
          <p:cNvPr id="40" name="Text 38"/>
          <p:cNvSpPr/>
          <p:nvPr/>
        </p:nvSpPr>
        <p:spPr>
          <a:xfrm>
            <a:off x="6172200" y="2157984"/>
            <a:ext cx="1325880" cy="347472"/>
          </a:xfrm>
          <a:prstGeom prst="rect">
            <a:avLst/>
          </a:prstGeom>
          <a:noFill/>
          <a:ln/>
        </p:spPr>
        <p:txBody>
          <a:bodyPr wrap="square" lIns="0" tIns="0" rIns="0" bIns="0" rtlCol="0" anchor="ctr"/>
          <a:lstStyle/>
          <a:p>
            <a:pPr marL="0" indent="0" algn="ctr">
              <a:buNone/>
            </a:pPr>
            <a:r>
              <a:rPr lang="en-US" sz="900" dirty="0">
                <a:solidFill>
                  <a:srgbClr val="02C39A"/>
                </a:solidFill>
                <a:latin typeface="Calibri" pitchFamily="34" charset="0"/>
                <a:ea typeface="Calibri" pitchFamily="34" charset="-122"/>
                <a:cs typeface="Calibri" pitchFamily="34" charset="-120"/>
              </a:rPr>
              <a:t>Measured</a:t>
            </a:r>
            <a:endParaRPr lang="en-US" sz="900" dirty="0"/>
          </a:p>
        </p:txBody>
      </p:sp>
      <p:sp>
        <p:nvSpPr>
          <p:cNvPr id="41" name="Shape 39"/>
          <p:cNvSpPr/>
          <p:nvPr/>
        </p:nvSpPr>
        <p:spPr>
          <a:xfrm>
            <a:off x="256032" y="2523744"/>
            <a:ext cx="1874520" cy="347472"/>
          </a:xfrm>
          <a:prstGeom prst="rect">
            <a:avLst/>
          </a:prstGeom>
          <a:solidFill>
            <a:srgbClr val="0A2030"/>
          </a:solidFill>
          <a:ln/>
        </p:spPr>
      </p:sp>
      <p:sp>
        <p:nvSpPr>
          <p:cNvPr id="42" name="Text 40"/>
          <p:cNvSpPr/>
          <p:nvPr/>
        </p:nvSpPr>
        <p:spPr>
          <a:xfrm>
            <a:off x="301752" y="2523744"/>
            <a:ext cx="1783080" cy="347472"/>
          </a:xfrm>
          <a:prstGeom prst="rect">
            <a:avLst/>
          </a:prstGeom>
          <a:noFill/>
          <a:ln/>
        </p:spPr>
        <p:txBody>
          <a:bodyPr wrap="square" lIns="0" tIns="0" rIns="0" bIns="0" rtlCol="0" anchor="ctr"/>
          <a:lstStyle/>
          <a:p>
            <a:pPr marL="0" indent="0" algn="l">
              <a:buNone/>
            </a:pPr>
            <a:r>
              <a:rPr lang="en-US" sz="900" b="1" dirty="0">
                <a:solidFill>
                  <a:srgbClr val="0E6B8C"/>
                </a:solidFill>
                <a:latin typeface="Calibri" pitchFamily="34" charset="0"/>
                <a:ea typeface="Calibri" pitchFamily="34" charset="-122"/>
                <a:cs typeface="Calibri" pitchFamily="34" charset="-120"/>
              </a:rPr>
              <a:t>Delivery Trucks</a:t>
            </a:r>
            <a:endParaRPr lang="en-US" sz="900" dirty="0"/>
          </a:p>
        </p:txBody>
      </p:sp>
      <p:sp>
        <p:nvSpPr>
          <p:cNvPr id="43" name="Shape 41"/>
          <p:cNvSpPr/>
          <p:nvPr/>
        </p:nvSpPr>
        <p:spPr>
          <a:xfrm>
            <a:off x="2130552" y="2523744"/>
            <a:ext cx="1508760" cy="347472"/>
          </a:xfrm>
          <a:prstGeom prst="rect">
            <a:avLst/>
          </a:prstGeom>
          <a:solidFill>
            <a:srgbClr val="0A2030"/>
          </a:solidFill>
          <a:ln/>
        </p:spPr>
      </p:sp>
      <p:sp>
        <p:nvSpPr>
          <p:cNvPr id="44" name="Text 42"/>
          <p:cNvSpPr/>
          <p:nvPr/>
        </p:nvSpPr>
        <p:spPr>
          <a:xfrm>
            <a:off x="2176272" y="2523744"/>
            <a:ext cx="1417320"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553 / 36 veh</a:t>
            </a:r>
            <a:endParaRPr lang="en-US" sz="900" dirty="0"/>
          </a:p>
        </p:txBody>
      </p:sp>
      <p:sp>
        <p:nvSpPr>
          <p:cNvPr id="45" name="Shape 43"/>
          <p:cNvSpPr/>
          <p:nvPr/>
        </p:nvSpPr>
        <p:spPr>
          <a:xfrm>
            <a:off x="3639312" y="2523744"/>
            <a:ext cx="841248" cy="347472"/>
          </a:xfrm>
          <a:prstGeom prst="rect">
            <a:avLst/>
          </a:prstGeom>
          <a:solidFill>
            <a:srgbClr val="0A2030"/>
          </a:solidFill>
          <a:ln/>
        </p:spPr>
      </p:sp>
      <p:sp>
        <p:nvSpPr>
          <p:cNvPr id="46" name="Text 44"/>
          <p:cNvSpPr/>
          <p:nvPr/>
        </p:nvSpPr>
        <p:spPr>
          <a:xfrm>
            <a:off x="3685032" y="252374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0.661</a:t>
            </a:r>
            <a:endParaRPr lang="en-US" sz="900" dirty="0"/>
          </a:p>
        </p:txBody>
      </p:sp>
      <p:sp>
        <p:nvSpPr>
          <p:cNvPr id="47" name="Shape 45"/>
          <p:cNvSpPr/>
          <p:nvPr/>
        </p:nvSpPr>
        <p:spPr>
          <a:xfrm>
            <a:off x="4480560" y="2523744"/>
            <a:ext cx="841248" cy="347472"/>
          </a:xfrm>
          <a:prstGeom prst="rect">
            <a:avLst/>
          </a:prstGeom>
          <a:solidFill>
            <a:srgbClr val="0A2030"/>
          </a:solidFill>
          <a:ln/>
        </p:spPr>
      </p:sp>
      <p:sp>
        <p:nvSpPr>
          <p:cNvPr id="48" name="Text 46"/>
          <p:cNvSpPr/>
          <p:nvPr/>
        </p:nvSpPr>
        <p:spPr>
          <a:xfrm>
            <a:off x="4526280" y="252374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0.450</a:t>
            </a:r>
            <a:endParaRPr lang="en-US" sz="900" dirty="0"/>
          </a:p>
        </p:txBody>
      </p:sp>
      <p:sp>
        <p:nvSpPr>
          <p:cNvPr id="49" name="Shape 47"/>
          <p:cNvSpPr/>
          <p:nvPr/>
        </p:nvSpPr>
        <p:spPr>
          <a:xfrm>
            <a:off x="5321808" y="2523744"/>
            <a:ext cx="804672" cy="347472"/>
          </a:xfrm>
          <a:prstGeom prst="rect">
            <a:avLst/>
          </a:prstGeom>
          <a:solidFill>
            <a:srgbClr val="0A2030"/>
          </a:solidFill>
          <a:ln/>
        </p:spPr>
      </p:sp>
      <p:sp>
        <p:nvSpPr>
          <p:cNvPr id="50" name="Text 48"/>
          <p:cNvSpPr/>
          <p:nvPr/>
        </p:nvSpPr>
        <p:spPr>
          <a:xfrm>
            <a:off x="5367528" y="2523744"/>
            <a:ext cx="713232" cy="347472"/>
          </a:xfrm>
          <a:prstGeom prst="rect">
            <a:avLst/>
          </a:prstGeom>
          <a:noFill/>
          <a:ln/>
        </p:spPr>
        <p:txBody>
          <a:bodyPr wrap="square" lIns="0" tIns="0" rIns="0" bIns="0" rtlCol="0" anchor="ctr"/>
          <a:lstStyle/>
          <a:p>
            <a:pPr marL="0" indent="0" algn="ctr">
              <a:buNone/>
            </a:pPr>
            <a:r>
              <a:rPr lang="en-US" sz="900" dirty="0">
                <a:solidFill>
                  <a:srgbClr val="F4A100"/>
                </a:solidFill>
                <a:latin typeface="Calibri" pitchFamily="34" charset="0"/>
                <a:ea typeface="Calibri" pitchFamily="34" charset="-122"/>
                <a:cs typeface="Calibri" pitchFamily="34" charset="-120"/>
              </a:rPr>
              <a:t>+47.6%</a:t>
            </a:r>
            <a:endParaRPr lang="en-US" sz="900" dirty="0"/>
          </a:p>
        </p:txBody>
      </p:sp>
      <p:sp>
        <p:nvSpPr>
          <p:cNvPr id="51" name="Shape 49"/>
          <p:cNvSpPr/>
          <p:nvPr/>
        </p:nvSpPr>
        <p:spPr>
          <a:xfrm>
            <a:off x="6126480" y="2523744"/>
            <a:ext cx="1417320" cy="347472"/>
          </a:xfrm>
          <a:prstGeom prst="rect">
            <a:avLst/>
          </a:prstGeom>
          <a:solidFill>
            <a:srgbClr val="0A2030"/>
          </a:solidFill>
          <a:ln/>
        </p:spPr>
        <p:txBody>
          <a:bodyPr/>
          <a:lstStyle/>
          <a:p>
            <a:endParaRPr lang="en-IN" dirty="0"/>
          </a:p>
        </p:txBody>
      </p:sp>
      <p:sp>
        <p:nvSpPr>
          <p:cNvPr id="52" name="Text 50"/>
          <p:cNvSpPr/>
          <p:nvPr/>
        </p:nvSpPr>
        <p:spPr>
          <a:xfrm>
            <a:off x="6172200" y="2523744"/>
            <a:ext cx="1325880" cy="347472"/>
          </a:xfrm>
          <a:prstGeom prst="rect">
            <a:avLst/>
          </a:prstGeom>
          <a:noFill/>
          <a:ln/>
        </p:spPr>
        <p:txBody>
          <a:bodyPr wrap="square" lIns="0" tIns="0" rIns="0" bIns="0" rtlCol="0" anchor="ctr"/>
          <a:lstStyle/>
          <a:p>
            <a:pPr marL="0" indent="0" algn="ctr">
              <a:buNone/>
            </a:pPr>
            <a:r>
              <a:rPr lang="en-US" sz="900" dirty="0">
                <a:solidFill>
                  <a:srgbClr val="E03A3A"/>
                </a:solidFill>
                <a:latin typeface="Calibri" pitchFamily="34" charset="0"/>
                <a:ea typeface="Calibri" pitchFamily="34" charset="-122"/>
                <a:cs typeface="Calibri" pitchFamily="34" charset="-120"/>
              </a:rPr>
              <a:t>~77% (EOL)</a:t>
            </a:r>
            <a:endParaRPr lang="en-US" sz="900" dirty="0"/>
          </a:p>
        </p:txBody>
      </p:sp>
      <p:sp>
        <p:nvSpPr>
          <p:cNvPr id="53" name="Shape 51"/>
          <p:cNvSpPr/>
          <p:nvPr/>
        </p:nvSpPr>
        <p:spPr>
          <a:xfrm>
            <a:off x="256032" y="2889504"/>
            <a:ext cx="1874520" cy="347472"/>
          </a:xfrm>
          <a:prstGeom prst="rect">
            <a:avLst/>
          </a:prstGeom>
          <a:solidFill>
            <a:srgbClr val="081929"/>
          </a:solidFill>
          <a:ln/>
        </p:spPr>
      </p:sp>
      <p:sp>
        <p:nvSpPr>
          <p:cNvPr id="54" name="Text 52"/>
          <p:cNvSpPr/>
          <p:nvPr/>
        </p:nvSpPr>
        <p:spPr>
          <a:xfrm>
            <a:off x="301752" y="2889504"/>
            <a:ext cx="1783080" cy="347472"/>
          </a:xfrm>
          <a:prstGeom prst="rect">
            <a:avLst/>
          </a:prstGeom>
          <a:noFill/>
          <a:ln/>
        </p:spPr>
        <p:txBody>
          <a:bodyPr wrap="square" lIns="0" tIns="0" rIns="0" bIns="0" rtlCol="0" anchor="ctr"/>
          <a:lstStyle/>
          <a:p>
            <a:pPr marL="0" indent="0" algn="l">
              <a:buNone/>
            </a:pPr>
            <a:r>
              <a:rPr lang="en-US" sz="900" b="1" dirty="0">
                <a:solidFill>
                  <a:srgbClr val="1BAF7A"/>
                </a:solidFill>
                <a:latin typeface="Calibri" pitchFamily="34" charset="0"/>
                <a:ea typeface="Calibri" pitchFamily="34" charset="-122"/>
                <a:cs typeface="Calibri" pitchFamily="34" charset="-120"/>
              </a:rPr>
              <a:t>Transit Buses</a:t>
            </a:r>
            <a:endParaRPr lang="en-US" sz="900" dirty="0"/>
          </a:p>
        </p:txBody>
      </p:sp>
      <p:sp>
        <p:nvSpPr>
          <p:cNvPr id="55" name="Shape 53"/>
          <p:cNvSpPr/>
          <p:nvPr/>
        </p:nvSpPr>
        <p:spPr>
          <a:xfrm>
            <a:off x="2130552" y="2889504"/>
            <a:ext cx="1508760" cy="347472"/>
          </a:xfrm>
          <a:prstGeom prst="rect">
            <a:avLst/>
          </a:prstGeom>
          <a:solidFill>
            <a:srgbClr val="081929"/>
          </a:solidFill>
          <a:ln/>
        </p:spPr>
      </p:sp>
      <p:sp>
        <p:nvSpPr>
          <p:cNvPr id="56" name="Text 54"/>
          <p:cNvSpPr/>
          <p:nvPr/>
        </p:nvSpPr>
        <p:spPr>
          <a:xfrm>
            <a:off x="2176272" y="2889504"/>
            <a:ext cx="1417320"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472 / 19 veh</a:t>
            </a:r>
            <a:endParaRPr lang="en-US" sz="900" dirty="0"/>
          </a:p>
        </p:txBody>
      </p:sp>
      <p:sp>
        <p:nvSpPr>
          <p:cNvPr id="57" name="Shape 55"/>
          <p:cNvSpPr/>
          <p:nvPr/>
        </p:nvSpPr>
        <p:spPr>
          <a:xfrm>
            <a:off x="3639312" y="2889504"/>
            <a:ext cx="841248" cy="347472"/>
          </a:xfrm>
          <a:prstGeom prst="rect">
            <a:avLst/>
          </a:prstGeom>
          <a:solidFill>
            <a:srgbClr val="081929"/>
          </a:solidFill>
          <a:ln/>
        </p:spPr>
      </p:sp>
      <p:sp>
        <p:nvSpPr>
          <p:cNvPr id="58" name="Text 56"/>
          <p:cNvSpPr/>
          <p:nvPr/>
        </p:nvSpPr>
        <p:spPr>
          <a:xfrm>
            <a:off x="3685032" y="288950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1.862</a:t>
            </a:r>
            <a:endParaRPr lang="en-US" sz="900" dirty="0"/>
          </a:p>
        </p:txBody>
      </p:sp>
      <p:sp>
        <p:nvSpPr>
          <p:cNvPr id="59" name="Shape 57"/>
          <p:cNvSpPr/>
          <p:nvPr/>
        </p:nvSpPr>
        <p:spPr>
          <a:xfrm>
            <a:off x="4480560" y="2889504"/>
            <a:ext cx="841248" cy="347472"/>
          </a:xfrm>
          <a:prstGeom prst="rect">
            <a:avLst/>
          </a:prstGeom>
          <a:solidFill>
            <a:srgbClr val="081929"/>
          </a:solidFill>
          <a:ln/>
        </p:spPr>
      </p:sp>
      <p:sp>
        <p:nvSpPr>
          <p:cNvPr id="60" name="Text 58"/>
          <p:cNvSpPr/>
          <p:nvPr/>
        </p:nvSpPr>
        <p:spPr>
          <a:xfrm>
            <a:off x="4526280" y="288950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0.518</a:t>
            </a:r>
            <a:endParaRPr lang="en-US" sz="900" dirty="0"/>
          </a:p>
        </p:txBody>
      </p:sp>
      <p:sp>
        <p:nvSpPr>
          <p:cNvPr id="61" name="Shape 59"/>
          <p:cNvSpPr/>
          <p:nvPr/>
        </p:nvSpPr>
        <p:spPr>
          <a:xfrm>
            <a:off x="5321808" y="2889504"/>
            <a:ext cx="804672" cy="347472"/>
          </a:xfrm>
          <a:prstGeom prst="rect">
            <a:avLst/>
          </a:prstGeom>
          <a:solidFill>
            <a:srgbClr val="081929"/>
          </a:solidFill>
          <a:ln/>
        </p:spPr>
      </p:sp>
      <p:sp>
        <p:nvSpPr>
          <p:cNvPr id="62" name="Text 60"/>
          <p:cNvSpPr/>
          <p:nvPr/>
        </p:nvSpPr>
        <p:spPr>
          <a:xfrm>
            <a:off x="5367528" y="2889504"/>
            <a:ext cx="713232" cy="347472"/>
          </a:xfrm>
          <a:prstGeom prst="rect">
            <a:avLst/>
          </a:prstGeom>
          <a:noFill/>
          <a:ln/>
        </p:spPr>
        <p:txBody>
          <a:bodyPr wrap="square" lIns="0" tIns="0" rIns="0" bIns="0" rtlCol="0" anchor="ctr"/>
          <a:lstStyle/>
          <a:p>
            <a:pPr marL="0" indent="0" algn="ctr">
              <a:buNone/>
            </a:pPr>
            <a:r>
              <a:rPr lang="en-US" sz="900" dirty="0">
                <a:solidFill>
                  <a:srgbClr val="F4A100"/>
                </a:solidFill>
                <a:latin typeface="Calibri" pitchFamily="34" charset="0"/>
                <a:ea typeface="Calibri" pitchFamily="34" charset="-122"/>
                <a:cs typeface="Calibri" pitchFamily="34" charset="-120"/>
              </a:rPr>
              <a:t>+70.1%</a:t>
            </a:r>
            <a:endParaRPr lang="en-US" sz="900" dirty="0"/>
          </a:p>
        </p:txBody>
      </p:sp>
      <p:sp>
        <p:nvSpPr>
          <p:cNvPr id="63" name="Shape 61"/>
          <p:cNvSpPr/>
          <p:nvPr/>
        </p:nvSpPr>
        <p:spPr>
          <a:xfrm>
            <a:off x="6126480" y="2889504"/>
            <a:ext cx="1417320" cy="347472"/>
          </a:xfrm>
          <a:prstGeom prst="rect">
            <a:avLst/>
          </a:prstGeom>
          <a:solidFill>
            <a:srgbClr val="081929"/>
          </a:solidFill>
          <a:ln/>
        </p:spPr>
      </p:sp>
      <p:sp>
        <p:nvSpPr>
          <p:cNvPr id="64" name="Text 62"/>
          <p:cNvSpPr/>
          <p:nvPr/>
        </p:nvSpPr>
        <p:spPr>
          <a:xfrm>
            <a:off x="6172200" y="2889504"/>
            <a:ext cx="1325880" cy="347472"/>
          </a:xfrm>
          <a:prstGeom prst="rect">
            <a:avLst/>
          </a:prstGeom>
          <a:noFill/>
          <a:ln/>
        </p:spPr>
        <p:txBody>
          <a:bodyPr wrap="square" lIns="0" tIns="0" rIns="0" bIns="0" rtlCol="0" anchor="ctr"/>
          <a:lstStyle/>
          <a:p>
            <a:pPr marL="0" indent="0" algn="ctr">
              <a:buNone/>
            </a:pPr>
            <a:r>
              <a:rPr lang="en-US" sz="900" dirty="0">
                <a:solidFill>
                  <a:srgbClr val="F4A100"/>
                </a:solidFill>
                <a:latin typeface="Calibri" pitchFamily="34" charset="0"/>
                <a:ea typeface="Calibri" pitchFamily="34" charset="-122"/>
                <a:cs typeface="Calibri" pitchFamily="34" charset="-120"/>
              </a:rPr>
              <a:t>~86% (Degraded)</a:t>
            </a:r>
            <a:endParaRPr lang="en-US" sz="900" dirty="0"/>
          </a:p>
        </p:txBody>
      </p:sp>
      <p:sp>
        <p:nvSpPr>
          <p:cNvPr id="65" name="Shape 63"/>
          <p:cNvSpPr/>
          <p:nvPr/>
        </p:nvSpPr>
        <p:spPr>
          <a:xfrm>
            <a:off x="256032" y="3255264"/>
            <a:ext cx="1874520" cy="347472"/>
          </a:xfrm>
          <a:prstGeom prst="rect">
            <a:avLst/>
          </a:prstGeom>
          <a:solidFill>
            <a:srgbClr val="0A2030"/>
          </a:solidFill>
          <a:ln/>
        </p:spPr>
      </p:sp>
      <p:sp>
        <p:nvSpPr>
          <p:cNvPr id="66" name="Text 64"/>
          <p:cNvSpPr/>
          <p:nvPr/>
        </p:nvSpPr>
        <p:spPr>
          <a:xfrm>
            <a:off x="301752" y="3255264"/>
            <a:ext cx="1783080" cy="347472"/>
          </a:xfrm>
          <a:prstGeom prst="rect">
            <a:avLst/>
          </a:prstGeom>
          <a:noFill/>
          <a:ln/>
        </p:spPr>
        <p:txBody>
          <a:bodyPr wrap="square" lIns="0" tIns="0" rIns="0" bIns="0" rtlCol="0" anchor="ctr"/>
          <a:lstStyle/>
          <a:p>
            <a:pPr marL="0" indent="0" algn="l">
              <a:buNone/>
            </a:pPr>
            <a:r>
              <a:rPr lang="en-US" sz="900" b="1" dirty="0">
                <a:solidFill>
                  <a:srgbClr val="E03A3A"/>
                </a:solidFill>
                <a:latin typeface="Calibri" pitchFamily="34" charset="0"/>
                <a:ea typeface="Calibri" pitchFamily="34" charset="-122"/>
                <a:cs typeface="Calibri" pitchFamily="34" charset="-120"/>
              </a:rPr>
              <a:t>Refuse Trucks</a:t>
            </a:r>
            <a:endParaRPr lang="en-US" sz="900" dirty="0"/>
          </a:p>
        </p:txBody>
      </p:sp>
      <p:sp>
        <p:nvSpPr>
          <p:cNvPr id="67" name="Shape 65"/>
          <p:cNvSpPr/>
          <p:nvPr/>
        </p:nvSpPr>
        <p:spPr>
          <a:xfrm>
            <a:off x="2130552" y="3255264"/>
            <a:ext cx="1508760" cy="347472"/>
          </a:xfrm>
          <a:prstGeom prst="rect">
            <a:avLst/>
          </a:prstGeom>
          <a:solidFill>
            <a:srgbClr val="0A2030"/>
          </a:solidFill>
          <a:ln/>
        </p:spPr>
      </p:sp>
      <p:sp>
        <p:nvSpPr>
          <p:cNvPr id="68" name="Text 66"/>
          <p:cNvSpPr/>
          <p:nvPr/>
        </p:nvSpPr>
        <p:spPr>
          <a:xfrm>
            <a:off x="2176272" y="3255264"/>
            <a:ext cx="1417320"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387 / 39 veh</a:t>
            </a:r>
            <a:endParaRPr lang="en-US" sz="900" dirty="0"/>
          </a:p>
        </p:txBody>
      </p:sp>
      <p:sp>
        <p:nvSpPr>
          <p:cNvPr id="69" name="Shape 67"/>
          <p:cNvSpPr/>
          <p:nvPr/>
        </p:nvSpPr>
        <p:spPr>
          <a:xfrm>
            <a:off x="3639312" y="3255264"/>
            <a:ext cx="841248" cy="347472"/>
          </a:xfrm>
          <a:prstGeom prst="rect">
            <a:avLst/>
          </a:prstGeom>
          <a:solidFill>
            <a:srgbClr val="0A2030"/>
          </a:solidFill>
          <a:ln/>
        </p:spPr>
      </p:sp>
      <p:sp>
        <p:nvSpPr>
          <p:cNvPr id="70" name="Text 68"/>
          <p:cNvSpPr/>
          <p:nvPr/>
        </p:nvSpPr>
        <p:spPr>
          <a:xfrm>
            <a:off x="3685032" y="325526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1.077</a:t>
            </a:r>
            <a:endParaRPr lang="en-US" sz="900" dirty="0"/>
          </a:p>
        </p:txBody>
      </p:sp>
      <p:sp>
        <p:nvSpPr>
          <p:cNvPr id="71" name="Shape 69"/>
          <p:cNvSpPr/>
          <p:nvPr/>
        </p:nvSpPr>
        <p:spPr>
          <a:xfrm>
            <a:off x="4480560" y="3255264"/>
            <a:ext cx="841248" cy="347472"/>
          </a:xfrm>
          <a:prstGeom prst="rect">
            <a:avLst/>
          </a:prstGeom>
          <a:solidFill>
            <a:srgbClr val="0A2030"/>
          </a:solidFill>
          <a:ln/>
        </p:spPr>
      </p:sp>
      <p:sp>
        <p:nvSpPr>
          <p:cNvPr id="72" name="Text 70"/>
          <p:cNvSpPr/>
          <p:nvPr/>
        </p:nvSpPr>
        <p:spPr>
          <a:xfrm>
            <a:off x="4526280" y="3255264"/>
            <a:ext cx="749808" cy="347472"/>
          </a:xfrm>
          <a:prstGeom prst="rect">
            <a:avLst/>
          </a:prstGeom>
          <a:noFill/>
          <a:ln/>
        </p:spPr>
        <p:txBody>
          <a:bodyPr wrap="square" lIns="0" tIns="0" rIns="0" bIns="0" rtlCol="0" anchor="ctr"/>
          <a:lstStyle/>
          <a:p>
            <a:pPr marL="0" indent="0" algn="ctr">
              <a:buNone/>
            </a:pPr>
            <a:r>
              <a:rPr lang="en-US" sz="900" dirty="0">
                <a:solidFill>
                  <a:srgbClr val="E4EEF5"/>
                </a:solidFill>
                <a:latin typeface="Calibri" pitchFamily="34" charset="0"/>
                <a:ea typeface="Calibri" pitchFamily="34" charset="-122"/>
                <a:cs typeface="Calibri" pitchFamily="34" charset="-120"/>
              </a:rPr>
              <a:t>0.456</a:t>
            </a:r>
            <a:endParaRPr lang="en-US" sz="900" dirty="0"/>
          </a:p>
        </p:txBody>
      </p:sp>
      <p:sp>
        <p:nvSpPr>
          <p:cNvPr id="73" name="Shape 71"/>
          <p:cNvSpPr/>
          <p:nvPr/>
        </p:nvSpPr>
        <p:spPr>
          <a:xfrm>
            <a:off x="5321808" y="3255264"/>
            <a:ext cx="804672" cy="347472"/>
          </a:xfrm>
          <a:prstGeom prst="rect">
            <a:avLst/>
          </a:prstGeom>
          <a:solidFill>
            <a:srgbClr val="0A2030"/>
          </a:solidFill>
          <a:ln/>
        </p:spPr>
      </p:sp>
      <p:sp>
        <p:nvSpPr>
          <p:cNvPr id="74" name="Text 72"/>
          <p:cNvSpPr/>
          <p:nvPr/>
        </p:nvSpPr>
        <p:spPr>
          <a:xfrm>
            <a:off x="5367528" y="3255264"/>
            <a:ext cx="713232" cy="347472"/>
          </a:xfrm>
          <a:prstGeom prst="rect">
            <a:avLst/>
          </a:prstGeom>
          <a:noFill/>
          <a:ln/>
        </p:spPr>
        <p:txBody>
          <a:bodyPr wrap="square" lIns="0" tIns="0" rIns="0" bIns="0" rtlCol="0" anchor="ctr"/>
          <a:lstStyle/>
          <a:p>
            <a:pPr marL="0" indent="0" algn="ctr">
              <a:buNone/>
            </a:pPr>
            <a:r>
              <a:rPr lang="en-US" sz="900" dirty="0">
                <a:solidFill>
                  <a:srgbClr val="F4A100"/>
                </a:solidFill>
                <a:latin typeface="Calibri" pitchFamily="34" charset="0"/>
                <a:ea typeface="Calibri" pitchFamily="34" charset="-122"/>
                <a:cs typeface="Calibri" pitchFamily="34" charset="-120"/>
              </a:rPr>
              <a:t>+49.8%</a:t>
            </a:r>
            <a:endParaRPr lang="en-US" sz="900" dirty="0"/>
          </a:p>
        </p:txBody>
      </p:sp>
      <p:sp>
        <p:nvSpPr>
          <p:cNvPr id="75" name="Shape 73"/>
          <p:cNvSpPr/>
          <p:nvPr/>
        </p:nvSpPr>
        <p:spPr>
          <a:xfrm>
            <a:off x="6126480" y="3255264"/>
            <a:ext cx="1417320" cy="347472"/>
          </a:xfrm>
          <a:prstGeom prst="rect">
            <a:avLst/>
          </a:prstGeom>
          <a:solidFill>
            <a:srgbClr val="0A2030"/>
          </a:solidFill>
          <a:ln/>
        </p:spPr>
      </p:sp>
      <p:sp>
        <p:nvSpPr>
          <p:cNvPr id="76" name="Text 74"/>
          <p:cNvSpPr/>
          <p:nvPr/>
        </p:nvSpPr>
        <p:spPr>
          <a:xfrm>
            <a:off x="6172200" y="3255264"/>
            <a:ext cx="1325880" cy="347472"/>
          </a:xfrm>
          <a:prstGeom prst="rect">
            <a:avLst/>
          </a:prstGeom>
          <a:noFill/>
          <a:ln/>
        </p:spPr>
        <p:txBody>
          <a:bodyPr wrap="square" lIns="0" tIns="0" rIns="0" bIns="0" rtlCol="0" anchor="ctr"/>
          <a:lstStyle/>
          <a:p>
            <a:pPr marL="0" indent="0" algn="ctr">
              <a:buNone/>
            </a:pPr>
            <a:r>
              <a:rPr lang="en-US" sz="900" dirty="0">
                <a:solidFill>
                  <a:srgbClr val="E03A3A"/>
                </a:solidFill>
                <a:latin typeface="Calibri" pitchFamily="34" charset="0"/>
                <a:ea typeface="Calibri" pitchFamily="34" charset="-122"/>
                <a:cs typeface="Calibri" pitchFamily="34" charset="-120"/>
              </a:rPr>
              <a:t>~79% (EOL)</a:t>
            </a:r>
            <a:endParaRPr lang="en-US" sz="900" dirty="0"/>
          </a:p>
        </p:txBody>
      </p:sp>
      <p:sp>
        <p:nvSpPr>
          <p:cNvPr id="77" name="Shape 75"/>
          <p:cNvSpPr/>
          <p:nvPr/>
        </p:nvSpPr>
        <p:spPr>
          <a:xfrm>
            <a:off x="256032" y="3822192"/>
            <a:ext cx="2834640" cy="896112"/>
          </a:xfrm>
          <a:prstGeom prst="roundRect">
            <a:avLst>
              <a:gd name="adj" fmla="val 8163"/>
            </a:avLst>
          </a:prstGeom>
          <a:solidFill>
            <a:srgbClr val="0A1F35"/>
          </a:solidFill>
          <a:ln w="19050">
            <a:solidFill>
              <a:srgbClr val="0E6B8C"/>
            </a:solidFill>
            <a:prstDash val="solid"/>
          </a:ln>
        </p:spPr>
      </p:sp>
      <p:sp>
        <p:nvSpPr>
          <p:cNvPr id="78" name="Text 76"/>
          <p:cNvSpPr/>
          <p:nvPr/>
        </p:nvSpPr>
        <p:spPr>
          <a:xfrm>
            <a:off x="365760" y="3858768"/>
            <a:ext cx="2615184" cy="274320"/>
          </a:xfrm>
          <a:prstGeom prst="rect">
            <a:avLst/>
          </a:prstGeom>
          <a:noFill/>
          <a:ln/>
        </p:spPr>
        <p:txBody>
          <a:bodyPr wrap="square" lIns="0" tIns="0" rIns="0" bIns="0" rtlCol="0" anchor="ctr"/>
          <a:lstStyle/>
          <a:p>
            <a:pPr marL="0" indent="0" algn="l">
              <a:buNone/>
            </a:pPr>
            <a:r>
              <a:rPr lang="en-US" sz="950" b="1" dirty="0">
                <a:solidFill>
                  <a:srgbClr val="0E6B8C"/>
                </a:solidFill>
                <a:latin typeface="Calibri" pitchFamily="34" charset="0"/>
                <a:ea typeface="Calibri" pitchFamily="34" charset="-122"/>
                <a:cs typeface="Calibri" pitchFamily="34" charset="-120"/>
              </a:rPr>
              <a:t>KI is the key gap</a:t>
            </a:r>
            <a:endParaRPr lang="en-US" sz="950" dirty="0"/>
          </a:p>
        </p:txBody>
      </p:sp>
      <p:sp>
        <p:nvSpPr>
          <p:cNvPr id="79" name="Text 77"/>
          <p:cNvSpPr/>
          <p:nvPr/>
        </p:nvSpPr>
        <p:spPr>
          <a:xfrm>
            <a:off x="365760" y="4133088"/>
            <a:ext cx="2615184" cy="530352"/>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Lab CC tests have KI=0. Real fleets range 0.66-1.86. Lab underestimates degradation by 47-70%.</a:t>
            </a:r>
            <a:endParaRPr lang="en-US" sz="850" dirty="0"/>
          </a:p>
        </p:txBody>
      </p:sp>
      <p:sp>
        <p:nvSpPr>
          <p:cNvPr id="80" name="Shape 78"/>
          <p:cNvSpPr/>
          <p:nvPr/>
        </p:nvSpPr>
        <p:spPr>
          <a:xfrm>
            <a:off x="3246120" y="3808476"/>
            <a:ext cx="2834640" cy="896112"/>
          </a:xfrm>
          <a:prstGeom prst="roundRect">
            <a:avLst>
              <a:gd name="adj" fmla="val 8163"/>
            </a:avLst>
          </a:prstGeom>
          <a:solidFill>
            <a:srgbClr val="0A1F35"/>
          </a:solidFill>
          <a:ln w="19050">
            <a:solidFill>
              <a:srgbClr val="02C39A"/>
            </a:solidFill>
            <a:prstDash val="solid"/>
          </a:ln>
        </p:spPr>
      </p:sp>
      <p:sp>
        <p:nvSpPr>
          <p:cNvPr id="81" name="Text 79"/>
          <p:cNvSpPr/>
          <p:nvPr/>
        </p:nvSpPr>
        <p:spPr>
          <a:xfrm>
            <a:off x="3355848" y="3858768"/>
            <a:ext cx="2615184" cy="274320"/>
          </a:xfrm>
          <a:prstGeom prst="rect">
            <a:avLst/>
          </a:prstGeom>
          <a:noFill/>
          <a:ln/>
        </p:spPr>
        <p:txBody>
          <a:bodyPr wrap="square" lIns="0" tIns="0" rIns="0" bIns="0" rtlCol="0" anchor="ctr"/>
          <a:lstStyle/>
          <a:p>
            <a:pPr marL="0" indent="0" algn="l">
              <a:buNone/>
            </a:pPr>
            <a:r>
              <a:rPr lang="en-US" sz="950" b="1" dirty="0">
                <a:solidFill>
                  <a:srgbClr val="02C39A"/>
                </a:solidFill>
                <a:latin typeface="Calibri" pitchFamily="34" charset="0"/>
                <a:ea typeface="Calibri" pitchFamily="34" charset="-122"/>
                <a:cs typeface="Calibri" pitchFamily="34" charset="-120"/>
              </a:rPr>
              <a:t>FSI multi-component</a:t>
            </a:r>
            <a:endParaRPr lang="en-US" sz="950" dirty="0"/>
          </a:p>
        </p:txBody>
      </p:sp>
      <p:sp>
        <p:nvSpPr>
          <p:cNvPr id="82" name="Text 80"/>
          <p:cNvSpPr/>
          <p:nvPr/>
        </p:nvSpPr>
        <p:spPr>
          <a:xfrm>
            <a:off x="3355848" y="4133088"/>
            <a:ext cx="2615184" cy="530352"/>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Refuse trucks have higher KI than delivery but same FSI — IRMS lower. FSI correctly weights all stress factors.</a:t>
            </a:r>
            <a:endParaRPr lang="en-US" sz="850" dirty="0"/>
          </a:p>
        </p:txBody>
      </p:sp>
      <p:sp>
        <p:nvSpPr>
          <p:cNvPr id="83" name="Shape 81"/>
          <p:cNvSpPr/>
          <p:nvPr/>
        </p:nvSpPr>
        <p:spPr>
          <a:xfrm>
            <a:off x="6236208" y="3822192"/>
            <a:ext cx="2834640" cy="896112"/>
          </a:xfrm>
          <a:prstGeom prst="roundRect">
            <a:avLst>
              <a:gd name="adj" fmla="val 8163"/>
            </a:avLst>
          </a:prstGeom>
          <a:solidFill>
            <a:srgbClr val="0A1F35"/>
          </a:solidFill>
          <a:ln w="19050">
            <a:solidFill>
              <a:srgbClr val="F4A100"/>
            </a:solidFill>
            <a:prstDash val="solid"/>
          </a:ln>
        </p:spPr>
      </p:sp>
      <p:sp>
        <p:nvSpPr>
          <p:cNvPr id="84" name="Text 82"/>
          <p:cNvSpPr/>
          <p:nvPr/>
        </p:nvSpPr>
        <p:spPr>
          <a:xfrm>
            <a:off x="6345936" y="3858768"/>
            <a:ext cx="2615184" cy="274320"/>
          </a:xfrm>
          <a:prstGeom prst="rect">
            <a:avLst/>
          </a:prstGeom>
          <a:noFill/>
          <a:ln/>
        </p:spPr>
        <p:txBody>
          <a:bodyPr wrap="square" lIns="0" tIns="0" rIns="0" bIns="0" rtlCol="0" anchor="ctr"/>
          <a:lstStyle/>
          <a:p>
            <a:pPr marL="0" indent="0" algn="l">
              <a:buNone/>
            </a:pPr>
            <a:r>
              <a:rPr lang="en-US" sz="950" b="1" dirty="0">
                <a:solidFill>
                  <a:srgbClr val="F4A100"/>
                </a:solidFill>
                <a:latin typeface="Calibri" pitchFamily="34" charset="0"/>
                <a:ea typeface="Calibri" pitchFamily="34" charset="-122"/>
                <a:cs typeface="Calibri" pitchFamily="34" charset="-120"/>
              </a:rPr>
              <a:t>Counter-intuitive result</a:t>
            </a:r>
            <a:endParaRPr lang="en-US" sz="950" dirty="0"/>
          </a:p>
        </p:txBody>
      </p:sp>
      <p:sp>
        <p:nvSpPr>
          <p:cNvPr id="85" name="Text 83"/>
          <p:cNvSpPr/>
          <p:nvPr/>
        </p:nvSpPr>
        <p:spPr>
          <a:xfrm>
            <a:off x="6345936" y="4133088"/>
            <a:ext cx="2615184" cy="530352"/>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Transit buses project best SoH (86%) despite highest KI — because FSI, not KI alone, drives degradation.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6FA"/>
          </a:solidFill>
          <a:ln/>
        </p:spPr>
      </p:sp>
      <p:sp>
        <p:nvSpPr>
          <p:cNvPr id="3" name="Shape 1"/>
          <p:cNvSpPr/>
          <p:nvPr/>
        </p:nvSpPr>
        <p:spPr>
          <a:xfrm>
            <a:off x="0" y="0"/>
            <a:ext cx="109728" cy="5143500"/>
          </a:xfrm>
          <a:prstGeom prst="rect">
            <a:avLst/>
          </a:prstGeom>
          <a:solidFill>
            <a:srgbClr val="0D2B45"/>
          </a:solidFill>
          <a:ln/>
        </p:spPr>
      </p:sp>
      <p:sp>
        <p:nvSpPr>
          <p:cNvPr id="4" name="Text 2"/>
          <p:cNvSpPr/>
          <p:nvPr/>
        </p:nvSpPr>
        <p:spPr>
          <a:xfrm>
            <a:off x="256032" y="164592"/>
            <a:ext cx="8595360" cy="420624"/>
          </a:xfrm>
          <a:prstGeom prst="rect">
            <a:avLst/>
          </a:prstGeom>
          <a:noFill/>
          <a:ln/>
        </p:spPr>
        <p:txBody>
          <a:bodyPr wrap="square" rtlCol="0" anchor="ctr"/>
          <a:lstStyle/>
          <a:p>
            <a:pPr marL="0" indent="0" algn="l">
              <a:buNone/>
            </a:pPr>
            <a:r>
              <a:rPr lang="en-US" sz="2400" b="1" dirty="0">
                <a:solidFill>
                  <a:srgbClr val="0D2B45"/>
                </a:solidFill>
                <a:latin typeface="Cambria" pitchFamily="34" charset="0"/>
                <a:ea typeface="Cambria" pitchFamily="34" charset="-122"/>
                <a:cs typeface="Cambria" pitchFamily="34" charset="-120"/>
              </a:rPr>
              <a:t>Next Steps &amp; Questions for Discussion</a:t>
            </a:r>
            <a:endParaRPr lang="en-US" sz="2400" dirty="0"/>
          </a:p>
        </p:txBody>
      </p:sp>
      <p:sp>
        <p:nvSpPr>
          <p:cNvPr id="5" name="Text 3"/>
          <p:cNvSpPr/>
          <p:nvPr/>
        </p:nvSpPr>
        <p:spPr>
          <a:xfrm>
            <a:off x="256032" y="713232"/>
            <a:ext cx="4754880" cy="237744"/>
          </a:xfrm>
          <a:prstGeom prst="rect">
            <a:avLst/>
          </a:prstGeom>
          <a:noFill/>
          <a:ln/>
        </p:spPr>
        <p:txBody>
          <a:bodyPr wrap="square" rtlCol="0" anchor="ctr"/>
          <a:lstStyle/>
          <a:p>
            <a:pPr marL="0" indent="0" algn="l">
              <a:buNone/>
            </a:pPr>
            <a:r>
              <a:rPr lang="en-US" sz="900" b="1" dirty="0">
                <a:solidFill>
                  <a:srgbClr val="0E6B8C"/>
                </a:solidFill>
                <a:latin typeface="Calibri" pitchFamily="34" charset="0"/>
                <a:ea typeface="Calibri" pitchFamily="34" charset="-122"/>
                <a:cs typeface="Calibri" pitchFamily="34" charset="-120"/>
              </a:rPr>
              <a:t>UPCOMING STAGES</a:t>
            </a:r>
            <a:endParaRPr lang="en-US" sz="900" dirty="0"/>
          </a:p>
        </p:txBody>
      </p:sp>
      <p:sp>
        <p:nvSpPr>
          <p:cNvPr id="6" name="Shape 4"/>
          <p:cNvSpPr/>
          <p:nvPr/>
        </p:nvSpPr>
        <p:spPr>
          <a:xfrm>
            <a:off x="493776" y="1005840"/>
            <a:ext cx="36576" cy="3456432"/>
          </a:xfrm>
          <a:prstGeom prst="rect">
            <a:avLst/>
          </a:prstGeom>
          <a:solidFill>
            <a:srgbClr val="E4EEF5"/>
          </a:solidFill>
          <a:ln/>
        </p:spPr>
      </p:sp>
      <p:sp>
        <p:nvSpPr>
          <p:cNvPr id="7" name="Shape 5"/>
          <p:cNvSpPr/>
          <p:nvPr/>
        </p:nvSpPr>
        <p:spPr>
          <a:xfrm>
            <a:off x="347472" y="1060704"/>
            <a:ext cx="329184" cy="329184"/>
          </a:xfrm>
          <a:prstGeom prst="ellipse">
            <a:avLst/>
          </a:prstGeom>
          <a:solidFill>
            <a:srgbClr val="0E6B8C"/>
          </a:solidFill>
          <a:ln/>
        </p:spPr>
      </p:sp>
      <p:sp>
        <p:nvSpPr>
          <p:cNvPr id="8" name="Text 6"/>
          <p:cNvSpPr/>
          <p:nvPr/>
        </p:nvSpPr>
        <p:spPr>
          <a:xfrm>
            <a:off x="347472" y="106070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9" name="Shape 7"/>
          <p:cNvSpPr/>
          <p:nvPr/>
        </p:nvSpPr>
        <p:spPr>
          <a:xfrm>
            <a:off x="777240" y="1042416"/>
            <a:ext cx="960120" cy="256032"/>
          </a:xfrm>
          <a:prstGeom prst="roundRect">
            <a:avLst>
              <a:gd name="adj" fmla="val 17857"/>
            </a:avLst>
          </a:prstGeom>
          <a:solidFill>
            <a:srgbClr val="0E6B8C"/>
          </a:solidFill>
          <a:ln/>
        </p:spPr>
      </p:sp>
      <p:sp>
        <p:nvSpPr>
          <p:cNvPr id="10" name="Text 8"/>
          <p:cNvSpPr/>
          <p:nvPr/>
        </p:nvSpPr>
        <p:spPr>
          <a:xfrm>
            <a:off x="777240" y="1042416"/>
            <a:ext cx="96012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Stage 4</a:t>
            </a:r>
            <a:endParaRPr lang="en-US" sz="850" dirty="0"/>
          </a:p>
        </p:txBody>
      </p:sp>
      <p:sp>
        <p:nvSpPr>
          <p:cNvPr id="11" name="Text 9"/>
          <p:cNvSpPr/>
          <p:nvPr/>
        </p:nvSpPr>
        <p:spPr>
          <a:xfrm>
            <a:off x="1828800" y="1024128"/>
            <a:ext cx="2560320" cy="256032"/>
          </a:xfrm>
          <a:prstGeom prst="rect">
            <a:avLst/>
          </a:prstGeom>
          <a:noFill/>
          <a:ln/>
        </p:spPr>
        <p:txBody>
          <a:bodyPr wrap="square" lIns="0" tIns="0" rIns="0" bIns="0" rtlCol="0" anchor="ctr"/>
          <a:lstStyle/>
          <a:p>
            <a:pPr marL="0" indent="0" algn="l">
              <a:buNone/>
            </a:pPr>
            <a:r>
              <a:rPr lang="en-US" sz="1100" b="1" dirty="0">
                <a:solidFill>
                  <a:srgbClr val="0D2B45"/>
                </a:solidFill>
                <a:latin typeface="Calibri" pitchFamily="34" charset="0"/>
                <a:ea typeface="Calibri" pitchFamily="34" charset="-122"/>
                <a:cs typeface="Calibri" pitchFamily="34" charset="-120"/>
              </a:rPr>
              <a:t>ML Models</a:t>
            </a:r>
            <a:endParaRPr lang="en-US" sz="1100" dirty="0"/>
          </a:p>
        </p:txBody>
      </p:sp>
      <p:sp>
        <p:nvSpPr>
          <p:cNvPr id="12" name="Text 10"/>
          <p:cNvSpPr/>
          <p:nvPr/>
        </p:nvSpPr>
        <p:spPr>
          <a:xfrm>
            <a:off x="4434840" y="1024128"/>
            <a:ext cx="868680" cy="256032"/>
          </a:xfrm>
          <a:prstGeom prst="rect">
            <a:avLst/>
          </a:prstGeom>
          <a:noFill/>
          <a:ln/>
        </p:spPr>
        <p:txBody>
          <a:bodyPr wrap="square" lIns="0" tIns="0" rIns="0" bIns="0" rtlCol="0" anchor="ctr"/>
          <a:lstStyle/>
          <a:p>
            <a:pPr marL="0" indent="0" algn="r">
              <a:buNone/>
            </a:pPr>
            <a:r>
              <a:rPr lang="en-US" sz="850" b="1" dirty="0">
                <a:solidFill>
                  <a:srgbClr val="0E6B8C"/>
                </a:solidFill>
                <a:latin typeface="Calibri" pitchFamily="34" charset="0"/>
                <a:ea typeface="Calibri" pitchFamily="34" charset="-122"/>
                <a:cs typeface="Calibri" pitchFamily="34" charset="-120"/>
              </a:rPr>
              <a:t>This week</a:t>
            </a:r>
            <a:endParaRPr lang="en-US" sz="850" dirty="0"/>
          </a:p>
        </p:txBody>
      </p:sp>
      <p:sp>
        <p:nvSpPr>
          <p:cNvPr id="13" name="Text 11"/>
          <p:cNvSpPr/>
          <p:nvPr/>
        </p:nvSpPr>
        <p:spPr>
          <a:xfrm>
            <a:off x="1828800" y="1307592"/>
            <a:ext cx="3493008" cy="502920"/>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RF, XGBoost, LSTM on master dataset — 9,031 rows x 24 features</a:t>
            </a:r>
            <a:endParaRPr lang="en-US" sz="850" dirty="0"/>
          </a:p>
          <a:p>
            <a:pPr marL="0" indent="0" algn="l">
              <a:buNone/>
            </a:pPr>
            <a:r>
              <a:rPr lang="en-US" sz="850" dirty="0">
                <a:solidFill>
                  <a:srgbClr val="555555"/>
                </a:solidFill>
                <a:latin typeface="Calibri" pitchFamily="34" charset="0"/>
                <a:ea typeface="Calibri" pitchFamily="34" charset="-122"/>
                <a:cs typeface="Calibri" pitchFamily="34" charset="-120"/>
              </a:rPr>
              <a:t>Health classification + SoH regression, replace placeholder results</a:t>
            </a:r>
            <a:endParaRPr lang="en-US" sz="850" dirty="0"/>
          </a:p>
        </p:txBody>
      </p:sp>
      <p:sp>
        <p:nvSpPr>
          <p:cNvPr id="14" name="Shape 12"/>
          <p:cNvSpPr/>
          <p:nvPr/>
        </p:nvSpPr>
        <p:spPr>
          <a:xfrm>
            <a:off x="347472" y="1956816"/>
            <a:ext cx="329184" cy="329184"/>
          </a:xfrm>
          <a:prstGeom prst="ellipse">
            <a:avLst/>
          </a:prstGeom>
          <a:solidFill>
            <a:srgbClr val="02C39A"/>
          </a:solidFill>
          <a:ln/>
        </p:spPr>
      </p:sp>
      <p:sp>
        <p:nvSpPr>
          <p:cNvPr id="15" name="Text 13"/>
          <p:cNvSpPr/>
          <p:nvPr/>
        </p:nvSpPr>
        <p:spPr>
          <a:xfrm>
            <a:off x="347472" y="195681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6" name="Shape 14"/>
          <p:cNvSpPr/>
          <p:nvPr/>
        </p:nvSpPr>
        <p:spPr>
          <a:xfrm>
            <a:off x="777240" y="1938528"/>
            <a:ext cx="960120" cy="256032"/>
          </a:xfrm>
          <a:prstGeom prst="roundRect">
            <a:avLst>
              <a:gd name="adj" fmla="val 17857"/>
            </a:avLst>
          </a:prstGeom>
          <a:solidFill>
            <a:srgbClr val="02C39A"/>
          </a:solidFill>
          <a:ln/>
        </p:spPr>
      </p:sp>
      <p:sp>
        <p:nvSpPr>
          <p:cNvPr id="17" name="Text 15"/>
          <p:cNvSpPr/>
          <p:nvPr/>
        </p:nvSpPr>
        <p:spPr>
          <a:xfrm>
            <a:off x="777240" y="1938528"/>
            <a:ext cx="96012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Stage 5</a:t>
            </a:r>
            <a:endParaRPr lang="en-US" sz="850" dirty="0"/>
          </a:p>
        </p:txBody>
      </p:sp>
      <p:sp>
        <p:nvSpPr>
          <p:cNvPr id="18" name="Text 16"/>
          <p:cNvSpPr/>
          <p:nvPr/>
        </p:nvSpPr>
        <p:spPr>
          <a:xfrm>
            <a:off x="1828800" y="1920240"/>
            <a:ext cx="2560320" cy="256032"/>
          </a:xfrm>
          <a:prstGeom prst="rect">
            <a:avLst/>
          </a:prstGeom>
          <a:noFill/>
          <a:ln/>
        </p:spPr>
        <p:txBody>
          <a:bodyPr wrap="square" lIns="0" tIns="0" rIns="0" bIns="0" rtlCol="0" anchor="ctr"/>
          <a:lstStyle/>
          <a:p>
            <a:pPr marL="0" indent="0" algn="l">
              <a:buNone/>
            </a:pPr>
            <a:r>
              <a:rPr lang="en-US" sz="1100" b="1" dirty="0">
                <a:solidFill>
                  <a:srgbClr val="0D2B45"/>
                </a:solidFill>
                <a:latin typeface="Calibri" pitchFamily="34" charset="0"/>
                <a:ea typeface="Calibri" pitchFamily="34" charset="-122"/>
                <a:cs typeface="Calibri" pitchFamily="34" charset="-120"/>
              </a:rPr>
              <a:t>SHAP Explainability</a:t>
            </a:r>
            <a:endParaRPr lang="en-US" sz="1100" dirty="0"/>
          </a:p>
        </p:txBody>
      </p:sp>
      <p:sp>
        <p:nvSpPr>
          <p:cNvPr id="19" name="Text 17"/>
          <p:cNvSpPr/>
          <p:nvPr/>
        </p:nvSpPr>
        <p:spPr>
          <a:xfrm>
            <a:off x="4434840" y="1920240"/>
            <a:ext cx="868680" cy="256032"/>
          </a:xfrm>
          <a:prstGeom prst="rect">
            <a:avLst/>
          </a:prstGeom>
          <a:noFill/>
          <a:ln/>
        </p:spPr>
        <p:txBody>
          <a:bodyPr wrap="square" lIns="0" tIns="0" rIns="0" bIns="0" rtlCol="0" anchor="ctr"/>
          <a:lstStyle/>
          <a:p>
            <a:pPr marL="0" indent="0" algn="r">
              <a:buNone/>
            </a:pPr>
            <a:r>
              <a:rPr lang="en-US" sz="850" b="1" dirty="0">
                <a:solidFill>
                  <a:srgbClr val="02C39A"/>
                </a:solidFill>
                <a:latin typeface="Calibri" pitchFamily="34" charset="0"/>
                <a:ea typeface="Calibri" pitchFamily="34" charset="-122"/>
                <a:cs typeface="Calibri" pitchFamily="34" charset="-120"/>
              </a:rPr>
              <a:t>Next week</a:t>
            </a:r>
            <a:endParaRPr lang="en-US" sz="850" dirty="0"/>
          </a:p>
        </p:txBody>
      </p:sp>
      <p:sp>
        <p:nvSpPr>
          <p:cNvPr id="20" name="Text 18"/>
          <p:cNvSpPr/>
          <p:nvPr/>
        </p:nvSpPr>
        <p:spPr>
          <a:xfrm>
            <a:off x="1828800" y="2203704"/>
            <a:ext cx="3493008" cy="502920"/>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TreeExplainer on XGBoost — quantify KI vs DoD vs T importance</a:t>
            </a:r>
            <a:endParaRPr lang="en-US" sz="850" dirty="0"/>
          </a:p>
          <a:p>
            <a:pPr marL="0" indent="0" algn="l">
              <a:buNone/>
            </a:pPr>
            <a:r>
              <a:rPr lang="en-US" sz="850" dirty="0">
                <a:solidFill>
                  <a:srgbClr val="555555"/>
                </a:solidFill>
                <a:latin typeface="Calibri" pitchFamily="34" charset="0"/>
                <a:ea typeface="Calibri" pitchFamily="34" charset="-122"/>
                <a:cs typeface="Calibri" pitchFamily="34" charset="-120"/>
              </a:rPr>
              <a:t>Validates FSI weighting (30/25/25/20) as novel contribution</a:t>
            </a:r>
            <a:endParaRPr lang="en-US" sz="850" dirty="0"/>
          </a:p>
        </p:txBody>
      </p:sp>
      <p:sp>
        <p:nvSpPr>
          <p:cNvPr id="21" name="Shape 19"/>
          <p:cNvSpPr/>
          <p:nvPr/>
        </p:nvSpPr>
        <p:spPr>
          <a:xfrm>
            <a:off x="347472" y="2852928"/>
            <a:ext cx="329184" cy="329184"/>
          </a:xfrm>
          <a:prstGeom prst="ellipse">
            <a:avLst/>
          </a:prstGeom>
          <a:solidFill>
            <a:srgbClr val="F4A100"/>
          </a:solidFill>
          <a:ln/>
        </p:spPr>
      </p:sp>
      <p:sp>
        <p:nvSpPr>
          <p:cNvPr id="22" name="Text 20"/>
          <p:cNvSpPr/>
          <p:nvPr/>
        </p:nvSpPr>
        <p:spPr>
          <a:xfrm>
            <a:off x="347472" y="285292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3" name="Shape 21"/>
          <p:cNvSpPr/>
          <p:nvPr/>
        </p:nvSpPr>
        <p:spPr>
          <a:xfrm>
            <a:off x="777240" y="2834640"/>
            <a:ext cx="960120" cy="256032"/>
          </a:xfrm>
          <a:prstGeom prst="roundRect">
            <a:avLst>
              <a:gd name="adj" fmla="val 17857"/>
            </a:avLst>
          </a:prstGeom>
          <a:solidFill>
            <a:srgbClr val="F4A100"/>
          </a:solidFill>
          <a:ln/>
        </p:spPr>
      </p:sp>
      <p:sp>
        <p:nvSpPr>
          <p:cNvPr id="24" name="Text 22"/>
          <p:cNvSpPr/>
          <p:nvPr/>
        </p:nvSpPr>
        <p:spPr>
          <a:xfrm>
            <a:off x="777240" y="2834640"/>
            <a:ext cx="96012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Stage 6</a:t>
            </a:r>
            <a:endParaRPr lang="en-US" sz="850" dirty="0"/>
          </a:p>
        </p:txBody>
      </p:sp>
      <p:sp>
        <p:nvSpPr>
          <p:cNvPr id="25" name="Text 23"/>
          <p:cNvSpPr/>
          <p:nvPr/>
        </p:nvSpPr>
        <p:spPr>
          <a:xfrm>
            <a:off x="1828800" y="2816352"/>
            <a:ext cx="2560320" cy="256032"/>
          </a:xfrm>
          <a:prstGeom prst="rect">
            <a:avLst/>
          </a:prstGeom>
          <a:noFill/>
          <a:ln/>
        </p:spPr>
        <p:txBody>
          <a:bodyPr wrap="square" lIns="0" tIns="0" rIns="0" bIns="0" rtlCol="0" anchor="ctr"/>
          <a:lstStyle/>
          <a:p>
            <a:pPr marL="0" indent="0" algn="l">
              <a:buNone/>
            </a:pPr>
            <a:r>
              <a:rPr lang="en-US" sz="1100" b="1" dirty="0">
                <a:solidFill>
                  <a:srgbClr val="0D2B45"/>
                </a:solidFill>
                <a:latin typeface="Calibri" pitchFamily="34" charset="0"/>
                <a:ea typeface="Calibri" pitchFamily="34" charset="-122"/>
                <a:cs typeface="Calibri" pitchFamily="34" charset="-120"/>
              </a:rPr>
              <a:t>PyBaMM Simulation</a:t>
            </a:r>
            <a:endParaRPr lang="en-US" sz="1100" dirty="0"/>
          </a:p>
        </p:txBody>
      </p:sp>
      <p:sp>
        <p:nvSpPr>
          <p:cNvPr id="26" name="Text 24"/>
          <p:cNvSpPr/>
          <p:nvPr/>
        </p:nvSpPr>
        <p:spPr>
          <a:xfrm>
            <a:off x="4434840" y="2816352"/>
            <a:ext cx="868680" cy="256032"/>
          </a:xfrm>
          <a:prstGeom prst="rect">
            <a:avLst/>
          </a:prstGeom>
          <a:noFill/>
          <a:ln/>
        </p:spPr>
        <p:txBody>
          <a:bodyPr wrap="square" lIns="0" tIns="0" rIns="0" bIns="0" rtlCol="0" anchor="ctr"/>
          <a:lstStyle/>
          <a:p>
            <a:pPr marL="0" indent="0" algn="r">
              <a:buNone/>
            </a:pPr>
            <a:r>
              <a:rPr lang="en-US" sz="850" b="1" dirty="0">
                <a:solidFill>
                  <a:srgbClr val="F4A100"/>
                </a:solidFill>
                <a:latin typeface="Calibri" pitchFamily="34" charset="0"/>
                <a:ea typeface="Calibri" pitchFamily="34" charset="-122"/>
                <a:cs typeface="Calibri" pitchFamily="34" charset="-120"/>
              </a:rPr>
              <a:t>Late July</a:t>
            </a:r>
            <a:endParaRPr lang="en-US" sz="850" dirty="0"/>
          </a:p>
        </p:txBody>
      </p:sp>
      <p:sp>
        <p:nvSpPr>
          <p:cNvPr id="27" name="Text 25"/>
          <p:cNvSpPr/>
          <p:nvPr/>
        </p:nvSpPr>
        <p:spPr>
          <a:xfrm>
            <a:off x="1828800" y="3099816"/>
            <a:ext cx="3493008" cy="502920"/>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SPMe physics model, NMC-811 Chen2020 parameters</a:t>
            </a:r>
            <a:endParaRPr lang="en-US" sz="850" dirty="0"/>
          </a:p>
          <a:p>
            <a:pPr marL="0" indent="0" algn="l">
              <a:buNone/>
            </a:pPr>
            <a:r>
              <a:rPr lang="en-US" sz="850" dirty="0">
                <a:solidFill>
                  <a:srgbClr val="555555"/>
                </a:solidFill>
                <a:latin typeface="Calibri" pitchFamily="34" charset="0"/>
                <a:ea typeface="Calibri" pitchFamily="34" charset="-122"/>
                <a:cs typeface="Calibri" pitchFamily="34" charset="-120"/>
              </a:rPr>
              <a:t>Validates lab degradation trends with electrochemical physics</a:t>
            </a:r>
            <a:endParaRPr lang="en-US" sz="850" dirty="0"/>
          </a:p>
        </p:txBody>
      </p:sp>
      <p:sp>
        <p:nvSpPr>
          <p:cNvPr id="28" name="Shape 26"/>
          <p:cNvSpPr/>
          <p:nvPr/>
        </p:nvSpPr>
        <p:spPr>
          <a:xfrm>
            <a:off x="347472" y="3749040"/>
            <a:ext cx="329184" cy="329184"/>
          </a:xfrm>
          <a:prstGeom prst="ellipse">
            <a:avLst/>
          </a:prstGeom>
          <a:solidFill>
            <a:srgbClr val="0D2B45"/>
          </a:solidFill>
          <a:ln/>
        </p:spPr>
      </p:sp>
      <p:sp>
        <p:nvSpPr>
          <p:cNvPr id="29" name="Text 27"/>
          <p:cNvSpPr/>
          <p:nvPr/>
        </p:nvSpPr>
        <p:spPr>
          <a:xfrm>
            <a:off x="347472" y="3749040"/>
            <a:ext cx="329184" cy="329184"/>
          </a:xfrm>
          <a:prstGeom prst="rect">
            <a:avLst/>
          </a:prstGeom>
          <a:noFill/>
          <a:ln/>
        </p:spPr>
        <p:txBody>
          <a:bodyPr wrap="square" lIns="0" tIns="0" rIns="0" bIns="0" rtlCol="0" anchor="ctr"/>
          <a:lstStyle/>
          <a:p>
            <a:pPr marL="0" indent="0" algn="ctr">
              <a:buNone/>
            </a:pPr>
            <a:r>
              <a:rPr lang="en-US" sz="1000" b="1" dirty="0">
                <a:solidFill>
                  <a:srgbClr val="E4EEF5"/>
                </a:solidFill>
                <a:latin typeface="Calibri" pitchFamily="34" charset="0"/>
                <a:ea typeface="Calibri" pitchFamily="34" charset="-122"/>
                <a:cs typeface="Calibri" pitchFamily="34" charset="-120"/>
              </a:rPr>
              <a:t>7</a:t>
            </a:r>
            <a:endParaRPr lang="en-US" sz="1000" dirty="0"/>
          </a:p>
        </p:txBody>
      </p:sp>
      <p:sp>
        <p:nvSpPr>
          <p:cNvPr id="30" name="Shape 28"/>
          <p:cNvSpPr/>
          <p:nvPr/>
        </p:nvSpPr>
        <p:spPr>
          <a:xfrm>
            <a:off x="777240" y="3730752"/>
            <a:ext cx="960120" cy="256032"/>
          </a:xfrm>
          <a:prstGeom prst="roundRect">
            <a:avLst>
              <a:gd name="adj" fmla="val 17857"/>
            </a:avLst>
          </a:prstGeom>
          <a:solidFill>
            <a:srgbClr val="0D2B45"/>
          </a:solidFill>
          <a:ln/>
        </p:spPr>
      </p:sp>
      <p:sp>
        <p:nvSpPr>
          <p:cNvPr id="31" name="Text 29"/>
          <p:cNvSpPr/>
          <p:nvPr/>
        </p:nvSpPr>
        <p:spPr>
          <a:xfrm>
            <a:off x="777240" y="3730752"/>
            <a:ext cx="960120" cy="256032"/>
          </a:xfrm>
          <a:prstGeom prst="rect">
            <a:avLst/>
          </a:prstGeom>
          <a:noFill/>
          <a:ln/>
        </p:spPr>
        <p:txBody>
          <a:bodyPr wrap="square" lIns="0" tIns="0" rIns="0" bIns="0" rtlCol="0" anchor="ctr"/>
          <a:lstStyle/>
          <a:p>
            <a:pPr marL="0" indent="0" algn="ctr">
              <a:buNone/>
            </a:pPr>
            <a:r>
              <a:rPr lang="en-US" sz="850" b="1" dirty="0">
                <a:solidFill>
                  <a:srgbClr val="E4EEF5"/>
                </a:solidFill>
                <a:latin typeface="Calibri" pitchFamily="34" charset="0"/>
                <a:ea typeface="Calibri" pitchFamily="34" charset="-122"/>
                <a:cs typeface="Calibri" pitchFamily="34" charset="-120"/>
              </a:rPr>
              <a:t>Stage 7</a:t>
            </a:r>
            <a:endParaRPr lang="en-US" sz="850" dirty="0"/>
          </a:p>
        </p:txBody>
      </p:sp>
      <p:sp>
        <p:nvSpPr>
          <p:cNvPr id="32" name="Text 30"/>
          <p:cNvSpPr/>
          <p:nvPr/>
        </p:nvSpPr>
        <p:spPr>
          <a:xfrm>
            <a:off x="1828800" y="3712464"/>
            <a:ext cx="2560320" cy="256032"/>
          </a:xfrm>
          <a:prstGeom prst="rect">
            <a:avLst/>
          </a:prstGeom>
          <a:noFill/>
          <a:ln/>
        </p:spPr>
        <p:txBody>
          <a:bodyPr wrap="square" lIns="0" tIns="0" rIns="0" bIns="0" rtlCol="0" anchor="ctr"/>
          <a:lstStyle/>
          <a:p>
            <a:pPr marL="0" indent="0" algn="l">
              <a:buNone/>
            </a:pPr>
            <a:r>
              <a:rPr lang="en-US" sz="1100" b="1" dirty="0">
                <a:solidFill>
                  <a:srgbClr val="0D2B45"/>
                </a:solidFill>
                <a:latin typeface="Calibri" pitchFamily="34" charset="0"/>
                <a:ea typeface="Calibri" pitchFamily="34" charset="-122"/>
                <a:cs typeface="Calibri" pitchFamily="34" charset="-120"/>
              </a:rPr>
              <a:t>FSI Finalisation + Writing</a:t>
            </a:r>
            <a:endParaRPr lang="en-US" sz="1100" dirty="0"/>
          </a:p>
        </p:txBody>
      </p:sp>
      <p:sp>
        <p:nvSpPr>
          <p:cNvPr id="33" name="Text 31"/>
          <p:cNvSpPr/>
          <p:nvPr/>
        </p:nvSpPr>
        <p:spPr>
          <a:xfrm>
            <a:off x="4434840" y="3712464"/>
            <a:ext cx="868680" cy="256032"/>
          </a:xfrm>
          <a:prstGeom prst="rect">
            <a:avLst/>
          </a:prstGeom>
          <a:noFill/>
          <a:ln/>
        </p:spPr>
        <p:txBody>
          <a:bodyPr wrap="square" lIns="0" tIns="0" rIns="0" bIns="0" rtlCol="0" anchor="ctr"/>
          <a:lstStyle/>
          <a:p>
            <a:pPr marL="0" indent="0" algn="r">
              <a:buNone/>
            </a:pPr>
            <a:r>
              <a:rPr lang="en-US" sz="850" b="1" dirty="0">
                <a:solidFill>
                  <a:srgbClr val="0D2B45"/>
                </a:solidFill>
                <a:latin typeface="Calibri" pitchFamily="34" charset="0"/>
                <a:ea typeface="Calibri" pitchFamily="34" charset="-122"/>
                <a:cs typeface="Calibri" pitchFamily="34" charset="-120"/>
              </a:rPr>
              <a:t>August</a:t>
            </a:r>
            <a:endParaRPr lang="en-US" sz="850" dirty="0"/>
          </a:p>
        </p:txBody>
      </p:sp>
      <p:sp>
        <p:nvSpPr>
          <p:cNvPr id="34" name="Text 32"/>
          <p:cNvSpPr/>
          <p:nvPr/>
        </p:nvSpPr>
        <p:spPr>
          <a:xfrm>
            <a:off x="1828800" y="3995928"/>
            <a:ext cx="3493008" cy="502920"/>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Replace placeholder ML numbers with real computed values</a:t>
            </a:r>
            <a:endParaRPr lang="en-US" sz="850" dirty="0"/>
          </a:p>
          <a:p>
            <a:pPr marL="0" indent="0" algn="l">
              <a:buNone/>
            </a:pPr>
            <a:r>
              <a:rPr lang="en-US" sz="850" dirty="0">
                <a:solidFill>
                  <a:srgbClr val="555555"/>
                </a:solidFill>
                <a:latin typeface="Calibri" pitchFamily="34" charset="0"/>
                <a:ea typeface="Calibri" pitchFamily="34" charset="-122"/>
                <a:cs typeface="Calibri" pitchFamily="34" charset="-120"/>
              </a:rPr>
              <a:t>FSI formula alignment + fleet severity ranking</a:t>
            </a:r>
            <a:endParaRPr lang="en-US" sz="850" dirty="0"/>
          </a:p>
        </p:txBody>
      </p:sp>
      <p:sp>
        <p:nvSpPr>
          <p:cNvPr id="35" name="Shape 33"/>
          <p:cNvSpPr/>
          <p:nvPr/>
        </p:nvSpPr>
        <p:spPr>
          <a:xfrm>
            <a:off x="5468112" y="621792"/>
            <a:ext cx="3310128" cy="4160520"/>
          </a:xfrm>
          <a:prstGeom prst="roundRect">
            <a:avLst>
              <a:gd name="adj" fmla="val 2762"/>
            </a:avLst>
          </a:prstGeom>
          <a:solidFill>
            <a:srgbClr val="0D2B45"/>
          </a:solidFill>
          <a:ln/>
        </p:spPr>
      </p:sp>
      <p:sp>
        <p:nvSpPr>
          <p:cNvPr id="36" name="Text 34"/>
          <p:cNvSpPr/>
          <p:nvPr/>
        </p:nvSpPr>
        <p:spPr>
          <a:xfrm>
            <a:off x="5650992" y="731520"/>
            <a:ext cx="3127248" cy="256032"/>
          </a:xfrm>
          <a:prstGeom prst="rect">
            <a:avLst/>
          </a:prstGeom>
          <a:noFill/>
          <a:ln/>
        </p:spPr>
        <p:txBody>
          <a:bodyPr wrap="square" rtlCol="0" anchor="ctr"/>
          <a:lstStyle/>
          <a:p>
            <a:pPr marL="0" indent="0" algn="ctr">
              <a:buNone/>
            </a:pPr>
            <a:r>
              <a:rPr lang="en-US" sz="850" b="1" dirty="0">
                <a:solidFill>
                  <a:srgbClr val="02C39A"/>
                </a:solidFill>
                <a:latin typeface="Calibri" pitchFamily="34" charset="0"/>
                <a:ea typeface="Calibri" pitchFamily="34" charset="-122"/>
                <a:cs typeface="Calibri" pitchFamily="34" charset="-120"/>
              </a:rPr>
              <a:t>QUESTIONS FOR DISCUSSION</a:t>
            </a:r>
            <a:endParaRPr lang="en-US" sz="850" dirty="0"/>
          </a:p>
        </p:txBody>
      </p:sp>
      <p:sp>
        <p:nvSpPr>
          <p:cNvPr id="37" name="Shape 35"/>
          <p:cNvSpPr/>
          <p:nvPr/>
        </p:nvSpPr>
        <p:spPr>
          <a:xfrm>
            <a:off x="5669280" y="1097280"/>
            <a:ext cx="365760" cy="365760"/>
          </a:xfrm>
          <a:prstGeom prst="ellipse">
            <a:avLst/>
          </a:prstGeom>
          <a:solidFill>
            <a:srgbClr val="02C39A"/>
          </a:solidFill>
          <a:ln/>
        </p:spPr>
      </p:sp>
      <p:sp>
        <p:nvSpPr>
          <p:cNvPr id="38" name="Text 36"/>
          <p:cNvSpPr/>
          <p:nvPr/>
        </p:nvSpPr>
        <p:spPr>
          <a:xfrm>
            <a:off x="5669280" y="1097280"/>
            <a:ext cx="365760" cy="365760"/>
          </a:xfrm>
          <a:prstGeom prst="rect">
            <a:avLst/>
          </a:prstGeom>
          <a:noFill/>
          <a:ln/>
        </p:spPr>
        <p:txBody>
          <a:bodyPr wrap="square" lIns="0" tIns="0" rIns="0" bIns="0" rtlCol="0" anchor="ctr"/>
          <a:lstStyle/>
          <a:p>
            <a:pPr marL="0" indent="0" algn="ctr">
              <a:buNone/>
            </a:pPr>
            <a:r>
              <a:rPr lang="en-US" sz="900" b="1" dirty="0">
                <a:solidFill>
                  <a:srgbClr val="0D2B45"/>
                </a:solidFill>
                <a:latin typeface="Calibri" pitchFamily="34" charset="0"/>
                <a:ea typeface="Calibri" pitchFamily="34" charset="-122"/>
                <a:cs typeface="Calibri" pitchFamily="34" charset="-120"/>
              </a:rPr>
              <a:t>Q1</a:t>
            </a:r>
            <a:endParaRPr lang="en-US" sz="900" dirty="0"/>
          </a:p>
        </p:txBody>
      </p:sp>
      <p:sp>
        <p:nvSpPr>
          <p:cNvPr id="39" name="Text 37"/>
          <p:cNvSpPr/>
          <p:nvPr/>
        </p:nvSpPr>
        <p:spPr>
          <a:xfrm>
            <a:off x="6108192" y="1097280"/>
            <a:ext cx="2651760" cy="310896"/>
          </a:xfrm>
          <a:prstGeom prst="rect">
            <a:avLst/>
          </a:prstGeom>
          <a:noFill/>
          <a:ln/>
        </p:spPr>
        <p:txBody>
          <a:bodyPr wrap="square" lIns="0" tIns="0" rIns="0" bIns="0" rtlCol="0" anchor="ctr"/>
          <a:lstStyle/>
          <a:p>
            <a:pPr marL="0" indent="0" algn="l">
              <a:buNone/>
            </a:pPr>
            <a:r>
              <a:rPr lang="en-US" sz="1050" b="1" dirty="0">
                <a:solidFill>
                  <a:srgbClr val="02C39A"/>
                </a:solidFill>
                <a:latin typeface="Calibri" pitchFamily="34" charset="0"/>
                <a:ea typeface="Calibri" pitchFamily="34" charset="-122"/>
                <a:cs typeface="Calibri" pitchFamily="34" charset="-120"/>
              </a:rPr>
              <a:t>FSI Formula Alignment</a:t>
            </a:r>
            <a:endParaRPr lang="en-US" sz="1050" dirty="0"/>
          </a:p>
        </p:txBody>
      </p:sp>
      <p:sp>
        <p:nvSpPr>
          <p:cNvPr id="40" name="Text 38"/>
          <p:cNvSpPr/>
          <p:nvPr/>
        </p:nvSpPr>
        <p:spPr>
          <a:xfrm>
            <a:off x="5669280" y="1499616"/>
            <a:ext cx="3090672" cy="731520"/>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Dissertation draft uses a different FSI formula based on SoH prediction. Should I align with the KI-based formula computed here, or keep both versions?</a:t>
            </a:r>
            <a:endParaRPr lang="en-US" sz="850" dirty="0"/>
          </a:p>
        </p:txBody>
      </p:sp>
      <p:sp>
        <p:nvSpPr>
          <p:cNvPr id="41" name="Shape 39"/>
          <p:cNvSpPr/>
          <p:nvPr/>
        </p:nvSpPr>
        <p:spPr>
          <a:xfrm>
            <a:off x="5669280" y="2304288"/>
            <a:ext cx="365760" cy="365760"/>
          </a:xfrm>
          <a:prstGeom prst="ellipse">
            <a:avLst/>
          </a:prstGeom>
          <a:solidFill>
            <a:srgbClr val="F4A100"/>
          </a:solidFill>
          <a:ln/>
        </p:spPr>
      </p:sp>
      <p:sp>
        <p:nvSpPr>
          <p:cNvPr id="42" name="Text 40"/>
          <p:cNvSpPr/>
          <p:nvPr/>
        </p:nvSpPr>
        <p:spPr>
          <a:xfrm>
            <a:off x="5669280" y="2304288"/>
            <a:ext cx="365760" cy="365760"/>
          </a:xfrm>
          <a:prstGeom prst="rect">
            <a:avLst/>
          </a:prstGeom>
          <a:noFill/>
          <a:ln/>
        </p:spPr>
        <p:txBody>
          <a:bodyPr wrap="square" lIns="0" tIns="0" rIns="0" bIns="0" rtlCol="0" anchor="ctr"/>
          <a:lstStyle/>
          <a:p>
            <a:pPr marL="0" indent="0" algn="ctr">
              <a:buNone/>
            </a:pPr>
            <a:r>
              <a:rPr lang="en-US" sz="900" b="1" dirty="0">
                <a:solidFill>
                  <a:srgbClr val="0D2B45"/>
                </a:solidFill>
                <a:latin typeface="Calibri" pitchFamily="34" charset="0"/>
                <a:ea typeface="Calibri" pitchFamily="34" charset="-122"/>
                <a:cs typeface="Calibri" pitchFamily="34" charset="-120"/>
              </a:rPr>
              <a:t>Q2</a:t>
            </a:r>
            <a:endParaRPr lang="en-US" sz="900" dirty="0"/>
          </a:p>
        </p:txBody>
      </p:sp>
      <p:sp>
        <p:nvSpPr>
          <p:cNvPr id="43" name="Text 41"/>
          <p:cNvSpPr/>
          <p:nvPr/>
        </p:nvSpPr>
        <p:spPr>
          <a:xfrm>
            <a:off x="6108192" y="2304288"/>
            <a:ext cx="2651760" cy="310896"/>
          </a:xfrm>
          <a:prstGeom prst="rect">
            <a:avLst/>
          </a:prstGeom>
          <a:noFill/>
          <a:ln/>
        </p:spPr>
        <p:txBody>
          <a:bodyPr wrap="square" lIns="0" tIns="0" rIns="0" bIns="0" rtlCol="0" anchor="ctr"/>
          <a:lstStyle/>
          <a:p>
            <a:pPr marL="0" indent="0" algn="l">
              <a:buNone/>
            </a:pPr>
            <a:r>
              <a:rPr lang="en-US" sz="1050" b="1" dirty="0">
                <a:solidFill>
                  <a:srgbClr val="F4A100"/>
                </a:solidFill>
                <a:latin typeface="Calibri" pitchFamily="34" charset="0"/>
                <a:ea typeface="Calibri" pitchFamily="34" charset="-122"/>
                <a:cs typeface="Calibri" pitchFamily="34" charset="-120"/>
              </a:rPr>
              <a:t>Class Imbalance in ML</a:t>
            </a:r>
            <a:endParaRPr lang="en-US" sz="1050" dirty="0"/>
          </a:p>
        </p:txBody>
      </p:sp>
      <p:sp>
        <p:nvSpPr>
          <p:cNvPr id="44" name="Text 42"/>
          <p:cNvSpPr/>
          <p:nvPr/>
        </p:nvSpPr>
        <p:spPr>
          <a:xfrm>
            <a:off x="5669280" y="2706624"/>
            <a:ext cx="3090672" cy="731520"/>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Master dataset is highly imbalanced:</a:t>
            </a:r>
            <a:endParaRPr lang="en-US" sz="850" dirty="0"/>
          </a:p>
          <a:p>
            <a:pPr marL="0" indent="0" algn="l">
              <a:buNone/>
            </a:pPr>
            <a:r>
              <a:rPr lang="en-US" sz="850" dirty="0">
                <a:solidFill>
                  <a:srgbClr val="E4EEF5"/>
                </a:solidFill>
                <a:latin typeface="Calibri" pitchFamily="34" charset="0"/>
                <a:ea typeface="Calibri" pitchFamily="34" charset="-122"/>
                <a:cs typeface="Calibri" pitchFamily="34" charset="-120"/>
              </a:rPr>
              <a:t>End-of-Life: 7,100  |  Degraded: 1,099  |  Healthy: 832</a:t>
            </a:r>
            <a:endParaRPr lang="en-US" sz="850" dirty="0"/>
          </a:p>
          <a:p>
            <a:pPr marL="0" indent="0" algn="l">
              <a:buNone/>
            </a:pPr>
            <a:r>
              <a:rPr lang="en-US" sz="850" dirty="0">
                <a:solidFill>
                  <a:srgbClr val="E4EEF5"/>
                </a:solidFill>
                <a:latin typeface="Calibri" pitchFamily="34" charset="0"/>
                <a:ea typeface="Calibri" pitchFamily="34" charset="-122"/>
                <a:cs typeface="Calibri" pitchFamily="34" charset="-120"/>
              </a:rPr>
              <a:t>Should I use SMOTE oversampling or class weights?</a:t>
            </a:r>
            <a:endParaRPr lang="en-US" sz="850" dirty="0"/>
          </a:p>
        </p:txBody>
      </p:sp>
      <p:sp>
        <p:nvSpPr>
          <p:cNvPr id="45" name="Shape 43"/>
          <p:cNvSpPr/>
          <p:nvPr/>
        </p:nvSpPr>
        <p:spPr>
          <a:xfrm>
            <a:off x="5669280" y="3511296"/>
            <a:ext cx="365760" cy="365760"/>
          </a:xfrm>
          <a:prstGeom prst="ellipse">
            <a:avLst/>
          </a:prstGeom>
          <a:solidFill>
            <a:srgbClr val="E03A3A"/>
          </a:solidFill>
          <a:ln/>
        </p:spPr>
      </p:sp>
      <p:sp>
        <p:nvSpPr>
          <p:cNvPr id="46" name="Text 44"/>
          <p:cNvSpPr/>
          <p:nvPr/>
        </p:nvSpPr>
        <p:spPr>
          <a:xfrm>
            <a:off x="5669280" y="3511296"/>
            <a:ext cx="365760" cy="365760"/>
          </a:xfrm>
          <a:prstGeom prst="rect">
            <a:avLst/>
          </a:prstGeom>
          <a:noFill/>
          <a:ln/>
        </p:spPr>
        <p:txBody>
          <a:bodyPr wrap="square" lIns="0" tIns="0" rIns="0" bIns="0" rtlCol="0" anchor="ctr"/>
          <a:lstStyle/>
          <a:p>
            <a:pPr marL="0" indent="0" algn="ctr">
              <a:buNone/>
            </a:pPr>
            <a:r>
              <a:rPr lang="en-US" sz="900" b="1" dirty="0">
                <a:solidFill>
                  <a:srgbClr val="0D2B45"/>
                </a:solidFill>
                <a:latin typeface="Calibri" pitchFamily="34" charset="0"/>
                <a:ea typeface="Calibri" pitchFamily="34" charset="-122"/>
                <a:cs typeface="Calibri" pitchFamily="34" charset="-120"/>
              </a:rPr>
              <a:t>Q3</a:t>
            </a:r>
            <a:endParaRPr lang="en-US" sz="900" dirty="0"/>
          </a:p>
        </p:txBody>
      </p:sp>
      <p:sp>
        <p:nvSpPr>
          <p:cNvPr id="47" name="Text 45"/>
          <p:cNvSpPr/>
          <p:nvPr/>
        </p:nvSpPr>
        <p:spPr>
          <a:xfrm>
            <a:off x="6108192" y="3511296"/>
            <a:ext cx="2651760" cy="310896"/>
          </a:xfrm>
          <a:prstGeom prst="rect">
            <a:avLst/>
          </a:prstGeom>
          <a:noFill/>
          <a:ln/>
        </p:spPr>
        <p:txBody>
          <a:bodyPr wrap="square" lIns="0" tIns="0" rIns="0" bIns="0" rtlCol="0" anchor="ctr"/>
          <a:lstStyle/>
          <a:p>
            <a:pPr marL="0" indent="0" algn="l">
              <a:buNone/>
            </a:pPr>
            <a:r>
              <a:rPr lang="en-US" sz="1050" b="1" dirty="0">
                <a:solidFill>
                  <a:srgbClr val="E03A3A"/>
                </a:solidFill>
                <a:latin typeface="Calibri" pitchFamily="34" charset="0"/>
                <a:ea typeface="Calibri" pitchFamily="34" charset="-122"/>
                <a:cs typeface="Calibri" pitchFamily="34" charset="-120"/>
              </a:rPr>
              <a:t>4th Real-World Dataset</a:t>
            </a:r>
            <a:endParaRPr lang="en-US" sz="1050" dirty="0"/>
          </a:p>
        </p:txBody>
      </p:sp>
      <p:sp>
        <p:nvSpPr>
          <p:cNvPr id="48" name="Text 46"/>
          <p:cNvSpPr/>
          <p:nvPr/>
        </p:nvSpPr>
        <p:spPr>
          <a:xfrm>
            <a:off x="5669280" y="3913632"/>
            <a:ext cx="3090672" cy="731520"/>
          </a:xfrm>
          <a:prstGeom prst="rect">
            <a:avLst/>
          </a:prstGeom>
          <a:noFill/>
          <a:ln/>
        </p:spPr>
        <p:txBody>
          <a:bodyPr wrap="square" lIns="0" tIns="0" rIns="0" bIns="0" rtlCol="0" anchor="t"/>
          <a:lstStyle/>
          <a:p>
            <a:pPr marL="0" indent="0" algn="l">
              <a:buNone/>
            </a:pPr>
            <a:r>
              <a:rPr lang="en-US" sz="850" dirty="0">
                <a:solidFill>
                  <a:srgbClr val="E4EEF5"/>
                </a:solidFill>
                <a:latin typeface="Calibri" pitchFamily="34" charset="0"/>
                <a:ea typeface="Calibri" pitchFamily="34" charset="-122"/>
                <a:cs typeface="Calibri" pitchFamily="34" charset="-120"/>
              </a:rPr>
              <a:t>Considering Mendeley real EV driving dataset (1-year BEV data with measurable SoH). Worth adding to validate FSI projections with actual capacity results?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1440</Words>
  <Application>Microsoft Office PowerPoint</Application>
  <PresentationFormat>On-screen Show (16:9)</PresentationFormat>
  <Paragraphs>154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Usha Rani V</cp:lastModifiedBy>
  <cp:revision>3</cp:revision>
  <dcterms:created xsi:type="dcterms:W3CDTF">2026-07-14T17:39:46Z</dcterms:created>
  <dcterms:modified xsi:type="dcterms:W3CDTF">2026-07-14T22:10:09Z</dcterms:modified>
</cp:coreProperties>
</file>