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80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F66FB-9CD0-B149-AF09-FB2E5ECAB726}" type="datetimeFigureOut">
              <a:rPr lang="en-US" smtClean="0"/>
              <a:t>03/02/2019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D151-42E0-7140-9D93-FABBD8065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00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F66FB-9CD0-B149-AF09-FB2E5ECAB726}" type="datetimeFigureOut">
              <a:rPr lang="en-US" smtClean="0"/>
              <a:t>03/02/2019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D151-42E0-7140-9D93-FABBD8065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1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F66FB-9CD0-B149-AF09-FB2E5ECAB726}" type="datetimeFigureOut">
              <a:rPr lang="en-US" smtClean="0"/>
              <a:t>03/02/2019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D151-42E0-7140-9D93-FABBD8065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6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F66FB-9CD0-B149-AF09-FB2E5ECAB726}" type="datetimeFigureOut">
              <a:rPr lang="en-US" smtClean="0"/>
              <a:t>03/02/2019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D151-42E0-7140-9D93-FABBD8065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07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F66FB-9CD0-B149-AF09-FB2E5ECAB726}" type="datetimeFigureOut">
              <a:rPr lang="en-US" smtClean="0"/>
              <a:t>03/02/2019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D151-42E0-7140-9D93-FABBD8065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8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F66FB-9CD0-B149-AF09-FB2E5ECAB726}" type="datetimeFigureOut">
              <a:rPr lang="en-US" smtClean="0"/>
              <a:t>03/02/2019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D151-42E0-7140-9D93-FABBD8065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8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F66FB-9CD0-B149-AF09-FB2E5ECAB726}" type="datetimeFigureOut">
              <a:rPr lang="en-US" smtClean="0"/>
              <a:t>03/02/2019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D151-42E0-7140-9D93-FABBD8065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67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F66FB-9CD0-B149-AF09-FB2E5ECAB726}" type="datetimeFigureOut">
              <a:rPr lang="en-US" smtClean="0"/>
              <a:t>03/02/2019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D151-42E0-7140-9D93-FABBD8065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32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F66FB-9CD0-B149-AF09-FB2E5ECAB726}" type="datetimeFigureOut">
              <a:rPr lang="en-US" smtClean="0"/>
              <a:t>03/02/2019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D151-42E0-7140-9D93-FABBD8065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23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F66FB-9CD0-B149-AF09-FB2E5ECAB726}" type="datetimeFigureOut">
              <a:rPr lang="en-US" smtClean="0"/>
              <a:t>03/02/2019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D151-42E0-7140-9D93-FABBD8065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1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F66FB-9CD0-B149-AF09-FB2E5ECAB726}" type="datetimeFigureOut">
              <a:rPr lang="en-US" smtClean="0"/>
              <a:t>03/02/2019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D151-42E0-7140-9D93-FABBD8065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9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F66FB-9CD0-B149-AF09-FB2E5ECAB726}" type="datetimeFigureOut">
              <a:rPr lang="en-US" smtClean="0"/>
              <a:t>03/02/2019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6D151-42E0-7140-9D93-FABBD8065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2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esearch-methodology.net/research-methodology/research-aims-and-objectives/" TargetMode="External"/><Relationship Id="rId3" Type="http://schemas.openxmlformats.org/officeDocument/2006/relationships/hyperlink" Target="https://learn.solent.ac.uk/mod/book/view.php?id=116233&amp;chapterid=1529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56677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Writing Research Aims and Objectives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21728" y="4035171"/>
            <a:ext cx="4691965" cy="1296381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Mark </a:t>
            </a:r>
            <a:r>
              <a:rPr lang="en-US" dirty="0" err="1" smtClean="0">
                <a:solidFill>
                  <a:schemeClr val="tx1"/>
                </a:solidFill>
              </a:rPr>
              <a:t>Unwin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sz="2100" dirty="0" smtClean="0">
                <a:solidFill>
                  <a:schemeClr val="tx1"/>
                </a:solidFill>
              </a:rPr>
              <a:t>(adapted from various sources)</a:t>
            </a:r>
            <a:endParaRPr lang="en-US" sz="2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869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3200" b="1" dirty="0" smtClean="0"/>
              <a:t>Formulating research aim and objectives 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O</a:t>
            </a:r>
            <a:r>
              <a:rPr lang="en-GB" dirty="0" smtClean="0"/>
              <a:t>ne </a:t>
            </a:r>
            <a:r>
              <a:rPr lang="en-GB" dirty="0"/>
              <a:t>of </a:t>
            </a:r>
            <a:r>
              <a:rPr lang="en-GB" dirty="0" smtClean="0"/>
              <a:t>most </a:t>
            </a:r>
            <a:r>
              <a:rPr lang="en-GB" dirty="0"/>
              <a:t>important aspects </a:t>
            </a:r>
            <a:r>
              <a:rPr lang="en-GB" dirty="0" smtClean="0"/>
              <a:t>of thesis</a:t>
            </a:r>
          </a:p>
          <a:p>
            <a:pPr marL="0" indent="0">
              <a:buNone/>
            </a:pPr>
            <a:endParaRPr lang="en-GB" dirty="0" smtClean="0"/>
          </a:p>
          <a:p>
            <a:r>
              <a:rPr lang="en-GB" b="1" dirty="0"/>
              <a:t>R</a:t>
            </a:r>
            <a:r>
              <a:rPr lang="en-GB" b="1" dirty="0" smtClean="0"/>
              <a:t>esearch </a:t>
            </a:r>
            <a:r>
              <a:rPr lang="en-GB" b="1" dirty="0"/>
              <a:t>aim and objectives </a:t>
            </a:r>
            <a:r>
              <a:rPr lang="en-GB" b="1" dirty="0" smtClean="0"/>
              <a:t>determine</a:t>
            </a:r>
            <a:r>
              <a:rPr lang="en-GB" dirty="0" smtClean="0"/>
              <a:t>:</a:t>
            </a:r>
          </a:p>
          <a:p>
            <a:endParaRPr lang="en-GB" dirty="0" smtClean="0"/>
          </a:p>
          <a:p>
            <a:pPr marL="0" indent="0" algn="ctr">
              <a:buNone/>
            </a:pPr>
            <a:r>
              <a:rPr lang="en-GB" dirty="0" smtClean="0"/>
              <a:t> 	</a:t>
            </a:r>
            <a:r>
              <a:rPr lang="en-GB" i="1" dirty="0" smtClean="0"/>
              <a:t>scope, </a:t>
            </a:r>
            <a:r>
              <a:rPr lang="en-GB" i="1" dirty="0"/>
              <a:t>depth and </a:t>
            </a:r>
            <a:r>
              <a:rPr lang="en-GB" i="1" dirty="0" smtClean="0"/>
              <a:t>overall </a:t>
            </a:r>
            <a:r>
              <a:rPr lang="en-GB" i="1" dirty="0"/>
              <a:t>direction of </a:t>
            </a:r>
            <a:r>
              <a:rPr lang="en-GB" i="1" dirty="0" smtClean="0"/>
              <a:t>research</a:t>
            </a:r>
          </a:p>
          <a:p>
            <a:pPr marL="0" indent="0">
              <a:buNone/>
            </a:pPr>
            <a:endParaRPr lang="en-GB" i="1" dirty="0" smtClean="0"/>
          </a:p>
          <a:p>
            <a:r>
              <a:rPr lang="en-GB" b="1" dirty="0" smtClean="0"/>
              <a:t>Research Question </a:t>
            </a:r>
            <a:r>
              <a:rPr lang="en-GB" dirty="0"/>
              <a:t>is </a:t>
            </a:r>
            <a:r>
              <a:rPr lang="en-GB" dirty="0" smtClean="0"/>
              <a:t>the central </a:t>
            </a:r>
            <a:r>
              <a:rPr lang="en-GB" dirty="0"/>
              <a:t>question of </a:t>
            </a:r>
            <a:r>
              <a:rPr lang="en-GB" dirty="0" smtClean="0"/>
              <a:t>study</a:t>
            </a:r>
          </a:p>
          <a:p>
            <a:pPr lvl="1"/>
            <a:r>
              <a:rPr lang="en-GB" dirty="0" smtClean="0"/>
              <a:t>has </a:t>
            </a:r>
            <a:r>
              <a:rPr lang="en-GB" dirty="0"/>
              <a:t>to be answered on </a:t>
            </a:r>
            <a:r>
              <a:rPr lang="en-GB" dirty="0" smtClean="0"/>
              <a:t>basis </a:t>
            </a:r>
            <a:r>
              <a:rPr lang="en-GB" dirty="0"/>
              <a:t>of research </a:t>
            </a:r>
            <a:r>
              <a:rPr lang="en-GB" dirty="0" smtClean="0"/>
              <a:t>findings</a:t>
            </a:r>
          </a:p>
          <a:p>
            <a:endParaRPr lang="en-GB" dirty="0"/>
          </a:p>
          <a:p>
            <a:r>
              <a:rPr lang="en-GB" dirty="0" smtClean="0"/>
              <a:t>Achievement </a:t>
            </a:r>
            <a:r>
              <a:rPr lang="en-GB" dirty="0"/>
              <a:t>of </a:t>
            </a:r>
            <a:r>
              <a:rPr lang="en-GB" b="1" dirty="0"/>
              <a:t>R</a:t>
            </a:r>
            <a:r>
              <a:rPr lang="en-GB" b="1" dirty="0" smtClean="0"/>
              <a:t>esearch </a:t>
            </a:r>
            <a:r>
              <a:rPr lang="en-GB" b="1" dirty="0"/>
              <a:t>A</a:t>
            </a:r>
            <a:r>
              <a:rPr lang="en-GB" b="1" dirty="0" smtClean="0"/>
              <a:t>im </a:t>
            </a:r>
            <a:r>
              <a:rPr lang="en-GB" dirty="0"/>
              <a:t>provides the answer to the </a:t>
            </a:r>
            <a:r>
              <a:rPr lang="en-GB" b="1" dirty="0" smtClean="0"/>
              <a:t>Research Question</a:t>
            </a:r>
          </a:p>
          <a:p>
            <a:r>
              <a:rPr lang="en-GB" dirty="0" smtClean="0"/>
              <a:t>Research aim </a:t>
            </a:r>
            <a:r>
              <a:rPr lang="en-GB" dirty="0"/>
              <a:t>specifies </a:t>
            </a:r>
            <a:r>
              <a:rPr lang="en-GB" dirty="0" smtClean="0"/>
              <a:t>WHAT you hope to achieve</a:t>
            </a:r>
          </a:p>
          <a:p>
            <a:r>
              <a:rPr lang="en-GB" dirty="0"/>
              <a:t>R</a:t>
            </a:r>
            <a:r>
              <a:rPr lang="en-GB" dirty="0" smtClean="0"/>
              <a:t>esearch </a:t>
            </a:r>
            <a:r>
              <a:rPr lang="en-GB" dirty="0"/>
              <a:t>objectives </a:t>
            </a:r>
            <a:r>
              <a:rPr lang="en-GB" dirty="0" smtClean="0"/>
              <a:t>are steps </a:t>
            </a:r>
            <a:r>
              <a:rPr lang="en-GB" dirty="0"/>
              <a:t>that </a:t>
            </a:r>
            <a:r>
              <a:rPr lang="en-GB" dirty="0" smtClean="0"/>
              <a:t>address HOW you</a:t>
            </a:r>
          </a:p>
          <a:p>
            <a:pPr marL="0" indent="0">
              <a:buNone/>
            </a:pPr>
            <a:r>
              <a:rPr lang="en-GB" dirty="0" smtClean="0"/>
              <a:t>      will achieve your research aim</a:t>
            </a:r>
          </a:p>
          <a:p>
            <a:pPr marL="0" indent="0">
              <a:buNone/>
            </a:pPr>
            <a:r>
              <a:rPr lang="en-GB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862" y="5103089"/>
            <a:ext cx="1674091" cy="167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79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 smtClean="0"/>
              <a:t>Aims and Objectives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Aims</a:t>
            </a:r>
            <a:r>
              <a:rPr lang="en-GB" dirty="0"/>
              <a:t> are statements of intent. They are usually written in broad terms. They set out what you hope to achieve at </a:t>
            </a:r>
            <a:r>
              <a:rPr lang="en-GB" dirty="0" smtClean="0"/>
              <a:t>end </a:t>
            </a:r>
            <a:r>
              <a:rPr lang="en-GB" dirty="0"/>
              <a:t>of </a:t>
            </a:r>
            <a:r>
              <a:rPr lang="en-GB" dirty="0" smtClean="0"/>
              <a:t>project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b="1" dirty="0"/>
              <a:t>Objectives</a:t>
            </a:r>
            <a:r>
              <a:rPr lang="en-GB" dirty="0"/>
              <a:t>, on the other hand, should </a:t>
            </a:r>
            <a:r>
              <a:rPr lang="en-GB" dirty="0" smtClean="0"/>
              <a:t>ideally be </a:t>
            </a:r>
            <a:r>
              <a:rPr lang="en-GB" i="1" dirty="0"/>
              <a:t>specific </a:t>
            </a:r>
            <a:r>
              <a:rPr lang="en-GB" dirty="0"/>
              <a:t>statements that define </a:t>
            </a:r>
            <a:r>
              <a:rPr lang="en-GB" i="1" dirty="0"/>
              <a:t>measurable</a:t>
            </a:r>
            <a:r>
              <a:rPr lang="en-GB" dirty="0"/>
              <a:t> outcomes, e.g. what steps will be taken to achieve </a:t>
            </a:r>
            <a:r>
              <a:rPr lang="en-GB" dirty="0" smtClean="0"/>
              <a:t>desired outcome</a:t>
            </a:r>
          </a:p>
          <a:p>
            <a:endParaRPr lang="en-GB" dirty="0"/>
          </a:p>
          <a:p>
            <a:r>
              <a:rPr lang="en-GB" dirty="0" smtClean="0"/>
              <a:t>It is common to have ONE aim and SEVERAL objectives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862" y="5103089"/>
            <a:ext cx="1674091" cy="167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27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/>
              <a:t>Choice of vocabulary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b="1" dirty="0"/>
          </a:p>
          <a:p>
            <a:r>
              <a:rPr lang="en-GB" b="1" dirty="0" smtClean="0"/>
              <a:t>Strong </a:t>
            </a:r>
            <a:r>
              <a:rPr lang="en-GB" b="1" dirty="0"/>
              <a:t>verbs - </a:t>
            </a:r>
            <a:r>
              <a:rPr lang="en-GB" dirty="0"/>
              <a:t>collect, </a:t>
            </a:r>
            <a:r>
              <a:rPr lang="en-GB" dirty="0" smtClean="0"/>
              <a:t>extract, construct</a:t>
            </a:r>
            <a:r>
              <a:rPr lang="en-GB" dirty="0"/>
              <a:t>, classify, develop, devise, measure, produce, revise, select, synthesise </a:t>
            </a:r>
            <a:endParaRPr lang="en-GB" dirty="0" smtClean="0"/>
          </a:p>
          <a:p>
            <a:r>
              <a:rPr lang="en-GB" b="1" dirty="0" smtClean="0"/>
              <a:t>Weak </a:t>
            </a:r>
            <a:r>
              <a:rPr lang="en-GB" b="1" dirty="0"/>
              <a:t>verbs</a:t>
            </a:r>
            <a:r>
              <a:rPr lang="en-GB" dirty="0"/>
              <a:t> - appreciate, consider, enquire, learn, know, understand, be aware of, appreciate, listen, perceive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348" y="4999181"/>
            <a:ext cx="2207269" cy="176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587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348" y="4999181"/>
            <a:ext cx="2207269" cy="17664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/>
              <a:t>An example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Aim: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To investigate the relationship between tectonic-plate movement and the gravitational effect of the alignment of the major planets.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b="1" dirty="0"/>
              <a:t>Objectives: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  <a:p>
            <a:pPr lvl="0"/>
            <a:r>
              <a:rPr lang="en-GB" dirty="0" smtClean="0"/>
              <a:t>To extract data </a:t>
            </a:r>
            <a:r>
              <a:rPr lang="en-GB" dirty="0"/>
              <a:t>sets </a:t>
            </a:r>
            <a:r>
              <a:rPr lang="en-GB" dirty="0" smtClean="0"/>
              <a:t>from </a:t>
            </a:r>
            <a:r>
              <a:rPr lang="en-GB" dirty="0"/>
              <a:t>the known historical record of tectonic-plate </a:t>
            </a:r>
            <a:r>
              <a:rPr lang="en-GB" dirty="0" smtClean="0"/>
              <a:t>movement.</a:t>
            </a:r>
            <a:endParaRPr lang="en-GB" dirty="0"/>
          </a:p>
          <a:p>
            <a:pPr lvl="0"/>
            <a:r>
              <a:rPr lang="en-GB" dirty="0" smtClean="0"/>
              <a:t>To extract data sets from</a:t>
            </a:r>
            <a:r>
              <a:rPr lang="en-GB" dirty="0" smtClean="0"/>
              <a:t> </a:t>
            </a:r>
            <a:r>
              <a:rPr lang="en-GB" dirty="0"/>
              <a:t>astronomical </a:t>
            </a:r>
            <a:r>
              <a:rPr lang="en-GB" dirty="0" smtClean="0"/>
              <a:t>tables, </a:t>
            </a:r>
            <a:r>
              <a:rPr lang="en-GB" dirty="0"/>
              <a:t>detailing the various alignments of the major planets covering the same period as data from the geological record.</a:t>
            </a:r>
          </a:p>
          <a:p>
            <a:pPr lvl="0"/>
            <a:r>
              <a:rPr lang="en-GB" dirty="0" smtClean="0"/>
              <a:t>To synthesise </a:t>
            </a:r>
            <a:r>
              <a:rPr lang="en-GB" dirty="0"/>
              <a:t>t</a:t>
            </a:r>
            <a:r>
              <a:rPr lang="en-GB" dirty="0" smtClean="0"/>
              <a:t>he data from both sets </a:t>
            </a:r>
            <a:r>
              <a:rPr lang="en-GB" dirty="0" smtClean="0"/>
              <a:t>to </a:t>
            </a:r>
            <a:r>
              <a:rPr lang="en-GB" dirty="0"/>
              <a:t>establish if correlation points exist between major geological events and planetary alignments.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567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/>
              <a:t>Typical errors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b="1" dirty="0" smtClean="0"/>
              <a:t>1. Choosing too broad a topic</a:t>
            </a:r>
          </a:p>
          <a:p>
            <a:pPr marL="0" indent="0">
              <a:buNone/>
            </a:pPr>
            <a:r>
              <a:rPr lang="en-GB" dirty="0" err="1" smtClean="0"/>
              <a:t>eg</a:t>
            </a:r>
            <a:r>
              <a:rPr lang="en-GB" dirty="0" smtClean="0"/>
              <a:t> research title: </a:t>
            </a:r>
            <a:r>
              <a:rPr lang="en-GB" i="1" dirty="0" smtClean="0"/>
              <a:t>‘An </a:t>
            </a:r>
            <a:r>
              <a:rPr lang="en-GB" i="1" dirty="0"/>
              <a:t>analysis of leadership </a:t>
            </a:r>
            <a:r>
              <a:rPr lang="en-GB" i="1" dirty="0" smtClean="0"/>
              <a:t>practices’</a:t>
            </a:r>
          </a:p>
          <a:p>
            <a:pPr marL="0" indent="0">
              <a:buNone/>
            </a:pPr>
            <a:endParaRPr lang="en-GB" i="1" dirty="0" smtClean="0"/>
          </a:p>
          <a:p>
            <a:r>
              <a:rPr lang="en-GB" dirty="0" smtClean="0"/>
              <a:t>Fails to answer </a:t>
            </a:r>
            <a:r>
              <a:rPr lang="en-GB" dirty="0"/>
              <a:t>the following </a:t>
            </a:r>
            <a:r>
              <a:rPr lang="en-GB" dirty="0" smtClean="0"/>
              <a:t>questions:</a:t>
            </a:r>
          </a:p>
          <a:p>
            <a:r>
              <a:rPr lang="en-GB" dirty="0" smtClean="0"/>
              <a:t>A) Which </a:t>
            </a:r>
            <a:r>
              <a:rPr lang="en-GB" dirty="0"/>
              <a:t>aspects of leadership </a:t>
            </a:r>
            <a:r>
              <a:rPr lang="en-GB" dirty="0" smtClean="0"/>
              <a:t>practices?</a:t>
            </a:r>
          </a:p>
          <a:p>
            <a:r>
              <a:rPr lang="en-GB" dirty="0" smtClean="0"/>
              <a:t>B) An </a:t>
            </a:r>
            <a:r>
              <a:rPr lang="en-GB" dirty="0"/>
              <a:t>analysis of leadership practices in which </a:t>
            </a:r>
            <a:r>
              <a:rPr lang="en-GB" dirty="0" smtClean="0"/>
              <a:t>country?</a:t>
            </a:r>
          </a:p>
          <a:p>
            <a:r>
              <a:rPr lang="en-GB" dirty="0" smtClean="0"/>
              <a:t>C) An analysis </a:t>
            </a:r>
            <a:r>
              <a:rPr lang="en-GB" dirty="0"/>
              <a:t>of leadership practices in which company or </a:t>
            </a:r>
            <a:r>
              <a:rPr lang="en-GB" dirty="0" smtClean="0"/>
              <a:t>industry?</a:t>
            </a:r>
          </a:p>
          <a:p>
            <a:endParaRPr lang="en-GB" dirty="0"/>
          </a:p>
          <a:p>
            <a:r>
              <a:rPr lang="en-GB" dirty="0" smtClean="0"/>
              <a:t>Much better:</a:t>
            </a:r>
          </a:p>
          <a:p>
            <a:endParaRPr lang="en-GB" dirty="0" smtClean="0"/>
          </a:p>
          <a:p>
            <a:pPr marL="0" indent="0">
              <a:buNone/>
            </a:pPr>
            <a:r>
              <a:rPr lang="en-GB" i="1" dirty="0" smtClean="0"/>
              <a:t>	‘A study </a:t>
            </a:r>
            <a:r>
              <a:rPr lang="en-GB" i="1" dirty="0"/>
              <a:t>into the </a:t>
            </a:r>
            <a:r>
              <a:rPr lang="en-GB" i="1" dirty="0" smtClean="0"/>
              <a:t>impacts </a:t>
            </a:r>
            <a:r>
              <a:rPr lang="en-GB" i="1" dirty="0"/>
              <a:t>of ethical </a:t>
            </a:r>
            <a:r>
              <a:rPr lang="en-GB" i="1" dirty="0" smtClean="0"/>
              <a:t>behaviour</a:t>
            </a:r>
          </a:p>
          <a:p>
            <a:pPr marL="0" indent="0">
              <a:buNone/>
            </a:pPr>
            <a:r>
              <a:rPr lang="en-GB" i="1" dirty="0"/>
              <a:t>	</a:t>
            </a:r>
            <a:r>
              <a:rPr lang="en-GB" i="1" dirty="0" smtClean="0"/>
              <a:t>of a leader </a:t>
            </a:r>
            <a:r>
              <a:rPr lang="en-GB" i="1" dirty="0"/>
              <a:t>on the </a:t>
            </a:r>
            <a:r>
              <a:rPr lang="en-GB" i="1" dirty="0" smtClean="0"/>
              <a:t>level </a:t>
            </a:r>
            <a:r>
              <a:rPr lang="en-GB" i="1" dirty="0"/>
              <a:t>of employee </a:t>
            </a:r>
            <a:r>
              <a:rPr lang="en-GB" i="1" dirty="0" smtClean="0"/>
              <a:t>motivation</a:t>
            </a:r>
          </a:p>
          <a:p>
            <a:pPr marL="0" indent="0">
              <a:buNone/>
            </a:pPr>
            <a:r>
              <a:rPr lang="en-GB" i="1" dirty="0"/>
              <a:t>	</a:t>
            </a:r>
            <a:r>
              <a:rPr lang="en-GB" i="1" dirty="0" smtClean="0"/>
              <a:t>in the US </a:t>
            </a:r>
            <a:r>
              <a:rPr lang="en-GB" i="1" dirty="0"/>
              <a:t>healthcare </a:t>
            </a:r>
            <a:r>
              <a:rPr lang="en-GB" i="1" dirty="0" smtClean="0"/>
              <a:t>sector.’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290" y="4860636"/>
            <a:ext cx="1881909" cy="188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461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/>
              <a:t>Typical errors (</a:t>
            </a:r>
            <a:r>
              <a:rPr lang="en-US" sz="3200" b="1" dirty="0" err="1" smtClean="0"/>
              <a:t>cont</a:t>
            </a:r>
            <a:r>
              <a:rPr lang="en-US" sz="3200" b="1" dirty="0" smtClean="0"/>
              <a:t>)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2. Setting an unrealistic aim.</a:t>
            </a:r>
          </a:p>
          <a:p>
            <a:r>
              <a:rPr lang="en-GB" sz="2400" dirty="0"/>
              <a:t>Y</a:t>
            </a:r>
            <a:r>
              <a:rPr lang="en-GB" sz="2400" dirty="0" smtClean="0"/>
              <a:t>ou may wish to conduct a face-to-face interview with Bill Gates- You may have to settle with a regional manager of Microsoft instead!</a:t>
            </a:r>
          </a:p>
          <a:p>
            <a:pPr marL="0" indent="0">
              <a:buNone/>
            </a:pPr>
            <a:r>
              <a:rPr lang="en-GB" dirty="0" smtClean="0"/>
              <a:t>3. Choosing </a:t>
            </a:r>
            <a:r>
              <a:rPr lang="en-GB" dirty="0"/>
              <a:t>research methods incompatible </a:t>
            </a:r>
            <a:r>
              <a:rPr lang="en-GB" dirty="0" smtClean="0"/>
              <a:t>	with </a:t>
            </a:r>
            <a:r>
              <a:rPr lang="en-GB" dirty="0"/>
              <a:t>the </a:t>
            </a:r>
            <a:r>
              <a:rPr lang="en-GB" dirty="0" smtClean="0"/>
              <a:t>timeframe.  </a:t>
            </a:r>
          </a:p>
          <a:p>
            <a:r>
              <a:rPr lang="en-GB" sz="2400" dirty="0" smtClean="0"/>
              <a:t>Using SMART Research objectives will enable your research.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290" y="4860636"/>
            <a:ext cx="1881909" cy="188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24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SMART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 smtClean="0"/>
              <a:t>Specific</a:t>
            </a:r>
            <a:r>
              <a:rPr lang="en-GB" sz="2400" dirty="0"/>
              <a:t> – be precise about what you are going to do</a:t>
            </a:r>
            <a:br>
              <a:rPr lang="en-GB" sz="2400" dirty="0"/>
            </a:br>
            <a:r>
              <a:rPr lang="en-GB" sz="2400" b="1" dirty="0"/>
              <a:t>Measureable</a:t>
            </a:r>
            <a:r>
              <a:rPr lang="en-GB" sz="2400" dirty="0"/>
              <a:t> –you will know when you have reached your goal</a:t>
            </a:r>
            <a:br>
              <a:rPr lang="en-GB" sz="2400" dirty="0"/>
            </a:br>
            <a:r>
              <a:rPr lang="en-GB" sz="2400" b="1" dirty="0"/>
              <a:t>Achievable</a:t>
            </a:r>
            <a:r>
              <a:rPr lang="en-GB" sz="2400" dirty="0"/>
              <a:t> – Don’t attempt too much – a less ambitious but completed objective is better than an over-ambitious one that you cannot possible achieve.</a:t>
            </a:r>
            <a:br>
              <a:rPr lang="en-GB" sz="2400" dirty="0"/>
            </a:br>
            <a:r>
              <a:rPr lang="en-GB" sz="2400" b="1" dirty="0"/>
              <a:t>Realistic </a:t>
            </a:r>
            <a:r>
              <a:rPr lang="en-GB" sz="2400" dirty="0"/>
              <a:t>– do you have the necessary resources to achieve the objective – time, money, skills, etc.</a:t>
            </a:r>
            <a:br>
              <a:rPr lang="en-GB" sz="2400" dirty="0"/>
            </a:br>
            <a:r>
              <a:rPr lang="en-GB" sz="2400" b="1" dirty="0"/>
              <a:t>Time constrained</a:t>
            </a:r>
            <a:r>
              <a:rPr lang="en-GB" sz="2400" dirty="0"/>
              <a:t> – determine when each stage needs to be completed. Is there time</a:t>
            </a:r>
            <a:r>
              <a:rPr lang="en-GB" sz="2800" dirty="0"/>
              <a:t> </a:t>
            </a:r>
            <a:r>
              <a:rPr lang="en-GB" sz="2400" dirty="0"/>
              <a:t>in </a:t>
            </a:r>
            <a:r>
              <a:rPr lang="en-GB" sz="2400" dirty="0" smtClean="0"/>
              <a:t>your </a:t>
            </a:r>
            <a:r>
              <a:rPr lang="en-GB" sz="2400" dirty="0"/>
              <a:t>schedule to allow for unexpected </a:t>
            </a:r>
            <a:r>
              <a:rPr lang="en-GB" sz="2400" dirty="0" smtClean="0"/>
              <a:t>delays?</a:t>
            </a:r>
            <a:endParaRPr lang="en-GB" sz="24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727" y="5040745"/>
            <a:ext cx="1644073" cy="164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00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 shot 2019-02-03 at 14.41.07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7" b="48"/>
          <a:stretch/>
        </p:blipFill>
        <p:spPr>
          <a:xfrm>
            <a:off x="457200" y="300181"/>
            <a:ext cx="8229600" cy="6280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3254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https://research-methodology.net/research-methodology/research-aims-and-objectives/</a:t>
            </a:r>
            <a:endParaRPr lang="en-US" dirty="0" smtClean="0"/>
          </a:p>
          <a:p>
            <a:r>
              <a:rPr lang="en-US" dirty="0" smtClean="0">
                <a:hlinkClick r:id="rId3"/>
              </a:rPr>
              <a:t>https://learn.solent.ac.uk/mod/book/view.php?id=116233&amp;chapterid=15294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280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198</Words>
  <Application>Microsoft Macintosh PowerPoint</Application>
  <PresentationFormat>On-screen Show (4:3)</PresentationFormat>
  <Paragraphs>59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Writing Research Aims and Objectives </vt:lpstr>
      <vt:lpstr>Formulating research aim and objectives </vt:lpstr>
      <vt:lpstr>Aims and Objectives</vt:lpstr>
      <vt:lpstr>Choice of vocabulary</vt:lpstr>
      <vt:lpstr>An example</vt:lpstr>
      <vt:lpstr>Typical errors</vt:lpstr>
      <vt:lpstr>Typical errors (cont)</vt:lpstr>
      <vt:lpstr>SMART objectives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Research Aims and Objectives </dc:title>
  <dc:creator>Sarah Chatwin</dc:creator>
  <cp:lastModifiedBy>Sarah Chatwin</cp:lastModifiedBy>
  <cp:revision>10</cp:revision>
  <dcterms:created xsi:type="dcterms:W3CDTF">2019-02-03T13:01:43Z</dcterms:created>
  <dcterms:modified xsi:type="dcterms:W3CDTF">2019-02-03T14:59:48Z</dcterms:modified>
</cp:coreProperties>
</file>