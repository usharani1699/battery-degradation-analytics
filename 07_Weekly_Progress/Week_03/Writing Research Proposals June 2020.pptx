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77" r:id="rId4"/>
    <p:sldId id="279" r:id="rId5"/>
    <p:sldId id="287" r:id="rId6"/>
    <p:sldId id="283" r:id="rId7"/>
    <p:sldId id="284" r:id="rId8"/>
    <p:sldId id="285" r:id="rId9"/>
    <p:sldId id="278" r:id="rId10"/>
    <p:sldId id="259" r:id="rId11"/>
    <p:sldId id="260" r:id="rId12"/>
    <p:sldId id="298" r:id="rId13"/>
    <p:sldId id="261" r:id="rId14"/>
    <p:sldId id="281" r:id="rId15"/>
    <p:sldId id="268" r:id="rId16"/>
    <p:sldId id="269" r:id="rId17"/>
    <p:sldId id="290" r:id="rId18"/>
    <p:sldId id="291" r:id="rId19"/>
    <p:sldId id="292" r:id="rId20"/>
    <p:sldId id="262" r:id="rId21"/>
    <p:sldId id="258" r:id="rId22"/>
    <p:sldId id="301" r:id="rId23"/>
    <p:sldId id="295" r:id="rId24"/>
    <p:sldId id="271" r:id="rId25"/>
    <p:sldId id="263" r:id="rId26"/>
    <p:sldId id="299" r:id="rId27"/>
    <p:sldId id="264" r:id="rId28"/>
    <p:sldId id="300" r:id="rId29"/>
    <p:sldId id="265" r:id="rId30"/>
    <p:sldId id="286" r:id="rId31"/>
    <p:sldId id="266" r:id="rId32"/>
    <p:sldId id="297" r:id="rId33"/>
    <p:sldId id="296" r:id="rId34"/>
    <p:sldId id="302" r:id="rId35"/>
    <p:sldId id="267" r:id="rId36"/>
    <p:sldId id="275" r:id="rId37"/>
    <p:sldId id="270" r:id="rId38"/>
    <p:sldId id="288" r:id="rId39"/>
    <p:sldId id="280"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61" autoAdjust="0"/>
    <p:restoredTop sz="94660"/>
  </p:normalViewPr>
  <p:slideViewPr>
    <p:cSldViewPr>
      <p:cViewPr varScale="1">
        <p:scale>
          <a:sx n="104" d="100"/>
          <a:sy n="104" d="100"/>
        </p:scale>
        <p:origin x="1068"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C9B6E8-B316-468A-B6D5-98710CD28FF2}" type="datetimeFigureOut">
              <a:rPr lang="en-GB" smtClean="0"/>
              <a:pPr/>
              <a:t>18/06/2020</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78B784-4E7E-4588-887C-7ED0E6657928}" type="slidenum">
              <a:rPr lang="en-GB" smtClean="0"/>
              <a:pPr/>
              <a:t>‹#›</a:t>
            </a:fld>
            <a:endParaRPr lang="en-GB"/>
          </a:p>
        </p:txBody>
      </p:sp>
    </p:spTree>
    <p:extLst>
      <p:ext uri="{BB962C8B-B14F-4D97-AF65-F5344CB8AC3E}">
        <p14:creationId xmlns:p14="http://schemas.microsoft.com/office/powerpoint/2010/main" val="1341862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1</a:t>
            </a:fld>
            <a:endParaRPr lang="en-GB"/>
          </a:p>
        </p:txBody>
      </p:sp>
    </p:spTree>
    <p:extLst>
      <p:ext uri="{BB962C8B-B14F-4D97-AF65-F5344CB8AC3E}">
        <p14:creationId xmlns:p14="http://schemas.microsoft.com/office/powerpoint/2010/main" val="1405546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2</a:t>
            </a:fld>
            <a:endParaRPr lang="en-GB"/>
          </a:p>
        </p:txBody>
      </p:sp>
    </p:spTree>
    <p:extLst>
      <p:ext uri="{BB962C8B-B14F-4D97-AF65-F5344CB8AC3E}">
        <p14:creationId xmlns:p14="http://schemas.microsoft.com/office/powerpoint/2010/main" val="1181619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40988D2D-B881-473B-9A6E-0213701C2A9C}" type="slidenum">
              <a:rPr lang="en-GB"/>
              <a:pPr/>
              <a:t>8</a:t>
            </a:fld>
            <a:endParaRPr lang="en-GB"/>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endParaRPr lang="en-GB"/>
          </a:p>
        </p:txBody>
      </p:sp>
    </p:spTree>
    <p:extLst>
      <p:ext uri="{BB962C8B-B14F-4D97-AF65-F5344CB8AC3E}">
        <p14:creationId xmlns:p14="http://schemas.microsoft.com/office/powerpoint/2010/main" val="1736061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10</a:t>
            </a:fld>
            <a:endParaRPr lang="en-GB"/>
          </a:p>
        </p:txBody>
      </p:sp>
    </p:spTree>
    <p:extLst>
      <p:ext uri="{BB962C8B-B14F-4D97-AF65-F5344CB8AC3E}">
        <p14:creationId xmlns:p14="http://schemas.microsoft.com/office/powerpoint/2010/main" val="3892048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11</a:t>
            </a:fld>
            <a:endParaRPr lang="en-GB"/>
          </a:p>
        </p:txBody>
      </p:sp>
    </p:spTree>
    <p:extLst>
      <p:ext uri="{BB962C8B-B14F-4D97-AF65-F5344CB8AC3E}">
        <p14:creationId xmlns:p14="http://schemas.microsoft.com/office/powerpoint/2010/main" val="3199575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13</a:t>
            </a:fld>
            <a:endParaRPr lang="en-GB"/>
          </a:p>
        </p:txBody>
      </p:sp>
    </p:spTree>
    <p:extLst>
      <p:ext uri="{BB962C8B-B14F-4D97-AF65-F5344CB8AC3E}">
        <p14:creationId xmlns:p14="http://schemas.microsoft.com/office/powerpoint/2010/main" val="234608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15</a:t>
            </a:fld>
            <a:endParaRPr lang="en-GB"/>
          </a:p>
        </p:txBody>
      </p:sp>
    </p:spTree>
    <p:extLst>
      <p:ext uri="{BB962C8B-B14F-4D97-AF65-F5344CB8AC3E}">
        <p14:creationId xmlns:p14="http://schemas.microsoft.com/office/powerpoint/2010/main" val="2101215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16</a:t>
            </a:fld>
            <a:endParaRPr lang="en-GB"/>
          </a:p>
        </p:txBody>
      </p:sp>
    </p:spTree>
    <p:extLst>
      <p:ext uri="{BB962C8B-B14F-4D97-AF65-F5344CB8AC3E}">
        <p14:creationId xmlns:p14="http://schemas.microsoft.com/office/powerpoint/2010/main" val="1620768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20</a:t>
            </a:fld>
            <a:endParaRPr lang="en-GB"/>
          </a:p>
        </p:txBody>
      </p:sp>
    </p:spTree>
    <p:extLst>
      <p:ext uri="{BB962C8B-B14F-4D97-AF65-F5344CB8AC3E}">
        <p14:creationId xmlns:p14="http://schemas.microsoft.com/office/powerpoint/2010/main" val="470430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21</a:t>
            </a:fld>
            <a:endParaRPr lang="en-GB"/>
          </a:p>
        </p:txBody>
      </p:sp>
    </p:spTree>
    <p:extLst>
      <p:ext uri="{BB962C8B-B14F-4D97-AF65-F5344CB8AC3E}">
        <p14:creationId xmlns:p14="http://schemas.microsoft.com/office/powerpoint/2010/main" val="1310689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466BDF3-EA9C-4AA3-BCA5-66EC68AF8A19}" type="slidenum">
              <a:rPr lang="en-GB" smtClean="0"/>
              <a:pPr/>
              <a:t>23</a:t>
            </a:fld>
            <a:endParaRPr lang="en-GB"/>
          </a:p>
        </p:txBody>
      </p:sp>
    </p:spTree>
    <p:extLst>
      <p:ext uri="{BB962C8B-B14F-4D97-AF65-F5344CB8AC3E}">
        <p14:creationId xmlns:p14="http://schemas.microsoft.com/office/powerpoint/2010/main" val="514102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24</a:t>
            </a:fld>
            <a:endParaRPr lang="en-GB"/>
          </a:p>
        </p:txBody>
      </p:sp>
    </p:spTree>
    <p:extLst>
      <p:ext uri="{BB962C8B-B14F-4D97-AF65-F5344CB8AC3E}">
        <p14:creationId xmlns:p14="http://schemas.microsoft.com/office/powerpoint/2010/main" val="4934860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25</a:t>
            </a:fld>
            <a:endParaRPr lang="en-GB"/>
          </a:p>
        </p:txBody>
      </p:sp>
    </p:spTree>
    <p:extLst>
      <p:ext uri="{BB962C8B-B14F-4D97-AF65-F5344CB8AC3E}">
        <p14:creationId xmlns:p14="http://schemas.microsoft.com/office/powerpoint/2010/main" val="4059053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27</a:t>
            </a:fld>
            <a:endParaRPr lang="en-GB"/>
          </a:p>
        </p:txBody>
      </p:sp>
    </p:spTree>
    <p:extLst>
      <p:ext uri="{BB962C8B-B14F-4D97-AF65-F5344CB8AC3E}">
        <p14:creationId xmlns:p14="http://schemas.microsoft.com/office/powerpoint/2010/main" val="2562293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29</a:t>
            </a:fld>
            <a:endParaRPr lang="en-GB"/>
          </a:p>
        </p:txBody>
      </p:sp>
    </p:spTree>
    <p:extLst>
      <p:ext uri="{BB962C8B-B14F-4D97-AF65-F5344CB8AC3E}">
        <p14:creationId xmlns:p14="http://schemas.microsoft.com/office/powerpoint/2010/main" val="5730612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31</a:t>
            </a:fld>
            <a:endParaRPr lang="en-GB"/>
          </a:p>
        </p:txBody>
      </p:sp>
    </p:spTree>
    <p:extLst>
      <p:ext uri="{BB962C8B-B14F-4D97-AF65-F5344CB8AC3E}">
        <p14:creationId xmlns:p14="http://schemas.microsoft.com/office/powerpoint/2010/main" val="22834303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35</a:t>
            </a:fld>
            <a:endParaRPr lang="en-GB"/>
          </a:p>
        </p:txBody>
      </p:sp>
    </p:spTree>
    <p:extLst>
      <p:ext uri="{BB962C8B-B14F-4D97-AF65-F5344CB8AC3E}">
        <p14:creationId xmlns:p14="http://schemas.microsoft.com/office/powerpoint/2010/main" val="4847917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36</a:t>
            </a:fld>
            <a:endParaRPr lang="en-GB"/>
          </a:p>
        </p:txBody>
      </p:sp>
    </p:spTree>
    <p:extLst>
      <p:ext uri="{BB962C8B-B14F-4D97-AF65-F5344CB8AC3E}">
        <p14:creationId xmlns:p14="http://schemas.microsoft.com/office/powerpoint/2010/main" val="24597547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7478B784-4E7E-4588-887C-7ED0E6657928}" type="slidenum">
              <a:rPr lang="en-GB" smtClean="0"/>
              <a:pPr/>
              <a:t>37</a:t>
            </a:fld>
            <a:endParaRPr lang="en-GB"/>
          </a:p>
        </p:txBody>
      </p:sp>
    </p:spTree>
    <p:extLst>
      <p:ext uri="{BB962C8B-B14F-4D97-AF65-F5344CB8AC3E}">
        <p14:creationId xmlns:p14="http://schemas.microsoft.com/office/powerpoint/2010/main" val="3931715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3B40E5E-2B8A-474A-B0BC-5B389A70AC78}" type="datetimeFigureOut">
              <a:rPr lang="en-GB" smtClean="0"/>
              <a:pPr/>
              <a:t>18/06/2020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66DB82-B7C5-4927-88CF-8035EFE45089}"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3B40E5E-2B8A-474A-B0BC-5B389A70AC78}" type="datetimeFigureOut">
              <a:rPr lang="en-GB" smtClean="0"/>
              <a:pPr/>
              <a:t>18/06/2020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66DB82-B7C5-4927-88CF-8035EFE45089}"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B40E5E-2B8A-474A-B0BC-5B389A70AC78}" type="datetimeFigureOut">
              <a:rPr lang="en-GB" smtClean="0"/>
              <a:pPr/>
              <a:t>18/06/2020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66DB82-B7C5-4927-88CF-8035EFE45089}"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3B40E5E-2B8A-474A-B0BC-5B389A70AC78}" type="datetimeFigureOut">
              <a:rPr lang="en-GB" smtClean="0"/>
              <a:pPr/>
              <a:t>18/06/2020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66DB82-B7C5-4927-88CF-8035EFE45089}"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3B40E5E-2B8A-474A-B0BC-5B389A70AC78}" type="datetimeFigureOut">
              <a:rPr lang="en-GB" smtClean="0"/>
              <a:pPr/>
              <a:t>18/06/2020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866DB82-B7C5-4927-88CF-8035EFE45089}"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3B40E5E-2B8A-474A-B0BC-5B389A70AC78}" type="datetimeFigureOut">
              <a:rPr lang="en-GB" smtClean="0"/>
              <a:pPr/>
              <a:t>18/06/2020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866DB82-B7C5-4927-88CF-8035EFE45089}"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B40E5E-2B8A-474A-B0BC-5B389A70AC78}" type="datetimeFigureOut">
              <a:rPr lang="en-GB" smtClean="0"/>
              <a:pPr/>
              <a:t>18/06/2020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866DB82-B7C5-4927-88CF-8035EFE45089}"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B40E5E-2B8A-474A-B0BC-5B389A70AC78}" type="datetimeFigureOut">
              <a:rPr lang="en-GB" smtClean="0"/>
              <a:pPr/>
              <a:t>18/06/2020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66DB82-B7C5-4927-88CF-8035EFE45089}"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B40E5E-2B8A-474A-B0BC-5B389A70AC78}" type="datetimeFigureOut">
              <a:rPr lang="en-GB" smtClean="0"/>
              <a:pPr/>
              <a:t>18/06/2020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66DB82-B7C5-4927-88CF-8035EFE45089}"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3B40E5E-2B8A-474A-B0BC-5B389A70AC78}" type="datetimeFigureOut">
              <a:rPr lang="en-GB" smtClean="0"/>
              <a:pPr/>
              <a:t>18/06/2020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66DB82-B7C5-4927-88CF-8035EFE45089}"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3B40E5E-2B8A-474A-B0BC-5B389A70AC78}" type="datetimeFigureOut">
              <a:rPr lang="en-GB" smtClean="0"/>
              <a:pPr/>
              <a:t>18/06/2020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66DB82-B7C5-4927-88CF-8035EFE45089}"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B40E5E-2B8A-474A-B0BC-5B389A70AC78}" type="datetimeFigureOut">
              <a:rPr lang="en-GB" smtClean="0"/>
              <a:pPr/>
              <a:t>18/06/2020</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66DB82-B7C5-4927-88CF-8035EFE45089}"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ana.tkk.fi/awe/style/reporting/sections/intros/cars/cars.pdf"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hyperlink" Target="http://sana.tkk.fi/awe/style/reporting/sections/intros/cars/cars1-1.html" TargetMode="External"/><Relationship Id="rId4" Type="http://schemas.openxmlformats.org/officeDocument/2006/relationships/hyperlink" Target="http://apresource.wordpress.com/2007/05/08/the-cars-model-creating-a-research-space/"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www.writing.eng.vt.edu/workbooks/proposal.request.ht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971600" y="980728"/>
            <a:ext cx="7272808" cy="468052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2" name="Title 1"/>
          <p:cNvSpPr>
            <a:spLocks noGrp="1"/>
          </p:cNvSpPr>
          <p:nvPr>
            <p:ph type="ctrTitle"/>
          </p:nvPr>
        </p:nvSpPr>
        <p:spPr/>
        <p:txBody>
          <a:bodyPr/>
          <a:lstStyle/>
          <a:p>
            <a:r>
              <a:rPr lang="en-GB" dirty="0"/>
              <a:t>Writing Research Proposals</a:t>
            </a:r>
          </a:p>
        </p:txBody>
      </p:sp>
      <p:sp>
        <p:nvSpPr>
          <p:cNvPr id="3" name="Subtitle 2"/>
          <p:cNvSpPr>
            <a:spLocks noGrp="1"/>
          </p:cNvSpPr>
          <p:nvPr>
            <p:ph type="subTitle" idx="1"/>
          </p:nvPr>
        </p:nvSpPr>
        <p:spPr/>
        <p:txBody>
          <a:bodyPr/>
          <a:lstStyle/>
          <a:p>
            <a:r>
              <a:rPr lang="en-GB" dirty="0"/>
              <a:t>Mark Unwin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229600" cy="1143000"/>
          </a:xfrm>
        </p:spPr>
        <p:txBody>
          <a:bodyPr/>
          <a:lstStyle/>
          <a:p>
            <a:pPr algn="l"/>
            <a:r>
              <a:rPr lang="en-GB" dirty="0"/>
              <a:t>Research Proposals</a:t>
            </a:r>
          </a:p>
        </p:txBody>
      </p:sp>
      <p:sp>
        <p:nvSpPr>
          <p:cNvPr id="3" name="Content Placeholder 2"/>
          <p:cNvSpPr>
            <a:spLocks noGrp="1"/>
          </p:cNvSpPr>
          <p:nvPr>
            <p:ph idx="1"/>
          </p:nvPr>
        </p:nvSpPr>
        <p:spPr>
          <a:xfrm>
            <a:off x="323528" y="1196752"/>
            <a:ext cx="5760640" cy="5184576"/>
          </a:xfrm>
        </p:spPr>
        <p:txBody>
          <a:bodyPr/>
          <a:lstStyle/>
          <a:p>
            <a:r>
              <a:rPr lang="en-GB" sz="2000" dirty="0"/>
              <a:t>Proposal = basis upon which supervisor and research degrees committee can begin to judge value or potential of your research work</a:t>
            </a:r>
          </a:p>
          <a:p>
            <a:r>
              <a:rPr lang="en-GB" sz="2000" dirty="0"/>
              <a:t>Many universities demand a great deal of work prior to submission of a research proposal</a:t>
            </a:r>
          </a:p>
          <a:p>
            <a:r>
              <a:rPr lang="en-GB" sz="2000" dirty="0"/>
              <a:t>Drawing up research proposal is first main task you will be involved in with your supervisor</a:t>
            </a:r>
          </a:p>
          <a:p>
            <a:r>
              <a:rPr lang="en-GB" sz="2000" dirty="0"/>
              <a:t>Before you formally submit your research proposal, you will need to:</a:t>
            </a:r>
          </a:p>
          <a:p>
            <a:pPr lvl="1"/>
            <a:r>
              <a:rPr lang="en-GB" sz="1600" dirty="0"/>
              <a:t> carry out a substantial amount of early research work, some literature review and searching</a:t>
            </a:r>
          </a:p>
          <a:p>
            <a:pPr lvl="1"/>
            <a:r>
              <a:rPr lang="en-GB" sz="1600" dirty="0"/>
              <a:t>identify the theoretical and methodological underpinnings to your work</a:t>
            </a:r>
          </a:p>
          <a:p>
            <a:pPr>
              <a:buNone/>
            </a:pPr>
            <a:endParaRPr lang="en-GB" sz="2000" dirty="0"/>
          </a:p>
          <a:p>
            <a:pPr>
              <a:buNone/>
            </a:pPr>
            <a:endParaRPr lang="en-GB" dirty="0"/>
          </a:p>
        </p:txBody>
      </p:sp>
      <p:pic>
        <p:nvPicPr>
          <p:cNvPr id="11266" name="Picture 2" descr="http://www.lancs.ac.uk/media/lancasteruniversity/contentassets/images/study/sidebar/postgrad/research-proposal-1.jpg"/>
          <p:cNvPicPr>
            <a:picLocks noChangeAspect="1" noChangeArrowheads="1"/>
          </p:cNvPicPr>
          <p:nvPr/>
        </p:nvPicPr>
        <p:blipFill>
          <a:blip r:embed="rId3" cstate="print"/>
          <a:srcRect/>
          <a:stretch>
            <a:fillRect/>
          </a:stretch>
        </p:blipFill>
        <p:spPr bwMode="auto">
          <a:xfrm>
            <a:off x="6156176" y="260648"/>
            <a:ext cx="2663321" cy="3950594"/>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0" y="0"/>
            <a:ext cx="9144000" cy="366713"/>
          </a:xfrm>
          <a:prstGeom prst="rect">
            <a:avLst/>
          </a:prstGeom>
          <a:noFill/>
          <a:ln w="9525">
            <a:noFill/>
            <a:miter lim="800000"/>
            <a:headEnd/>
            <a:tailEnd/>
          </a:ln>
        </p:spPr>
        <p:txBody>
          <a:bodyPr>
            <a:spAutoFit/>
          </a:bodyPr>
          <a:lstStyle/>
          <a:p>
            <a:pPr algn="ctr"/>
            <a:r>
              <a:rPr lang="en-GB" sz="1800" b="1">
                <a:solidFill>
                  <a:schemeClr val="tx2"/>
                </a:solidFill>
              </a:rPr>
              <a:t>SOURCES FOR IDEAS</a:t>
            </a:r>
          </a:p>
        </p:txBody>
      </p:sp>
      <p:sp>
        <p:nvSpPr>
          <p:cNvPr id="91141" name="Rectangle 5"/>
          <p:cNvSpPr>
            <a:spLocks noChangeArrowheads="1"/>
          </p:cNvSpPr>
          <p:nvPr/>
        </p:nvSpPr>
        <p:spPr bwMode="auto">
          <a:xfrm>
            <a:off x="0" y="1773238"/>
            <a:ext cx="9144000" cy="1008062"/>
          </a:xfrm>
          <a:prstGeom prst="rect">
            <a:avLst/>
          </a:prstGeom>
          <a:solidFill>
            <a:schemeClr val="bg1"/>
          </a:solidFill>
          <a:ln w="9525">
            <a:noFill/>
            <a:miter lim="800000"/>
            <a:headEnd/>
            <a:tailEnd/>
          </a:ln>
        </p:spPr>
        <p:txBody>
          <a:bodyPr wrap="none" anchor="ctr"/>
          <a:lstStyle/>
          <a:p>
            <a:pPr algn="ctr"/>
            <a:endParaRPr lang="en-GB" sz="1800" dirty="0"/>
          </a:p>
          <a:p>
            <a:pPr algn="ctr"/>
            <a:r>
              <a:rPr lang="en-GB" sz="1800" dirty="0"/>
              <a:t>Tutor comments, encouragement and advice. </a:t>
            </a:r>
          </a:p>
          <a:p>
            <a:pPr algn="ctr"/>
            <a:endParaRPr lang="en-GB" sz="1800" dirty="0"/>
          </a:p>
          <a:p>
            <a:pPr algn="ctr"/>
            <a:r>
              <a:rPr lang="en-GB" sz="1800" dirty="0"/>
              <a:t>Taught modules ~ content issues and personal curiosity.</a:t>
            </a:r>
          </a:p>
          <a:p>
            <a:pPr algn="ctr"/>
            <a:endParaRPr lang="en-GB" sz="1800" dirty="0"/>
          </a:p>
          <a:p>
            <a:pPr algn="ctr"/>
            <a:endParaRPr lang="en-GB" sz="1800" dirty="0"/>
          </a:p>
        </p:txBody>
      </p:sp>
      <p:sp>
        <p:nvSpPr>
          <p:cNvPr id="91142" name="Rectangle 6"/>
          <p:cNvSpPr>
            <a:spLocks noChangeArrowheads="1"/>
          </p:cNvSpPr>
          <p:nvPr/>
        </p:nvSpPr>
        <p:spPr bwMode="auto">
          <a:xfrm>
            <a:off x="0" y="3860800"/>
            <a:ext cx="9144000" cy="1008063"/>
          </a:xfrm>
          <a:prstGeom prst="rect">
            <a:avLst/>
          </a:prstGeom>
          <a:solidFill>
            <a:schemeClr val="bg1"/>
          </a:solidFill>
          <a:ln w="9525">
            <a:noFill/>
            <a:miter lim="800000"/>
            <a:headEnd/>
            <a:tailEnd/>
          </a:ln>
        </p:spPr>
        <p:txBody>
          <a:bodyPr wrap="none" anchor="ctr"/>
          <a:lstStyle/>
          <a:p>
            <a:pPr algn="ctr"/>
            <a:r>
              <a:rPr lang="en-GB" sz="1800"/>
              <a:t>Current issues of attention and discussion in YOUR professional journals.</a:t>
            </a:r>
          </a:p>
          <a:p>
            <a:pPr algn="ctr"/>
            <a:endParaRPr lang="en-GB" sz="1800"/>
          </a:p>
          <a:p>
            <a:pPr algn="ctr"/>
            <a:r>
              <a:rPr lang="en-GB" sz="1800"/>
              <a:t>Work-related/based issues that may require explanation or examination.</a:t>
            </a:r>
          </a:p>
        </p:txBody>
      </p:sp>
      <p:sp>
        <p:nvSpPr>
          <p:cNvPr id="91143" name="Rectangle 7"/>
          <p:cNvSpPr>
            <a:spLocks noChangeArrowheads="1"/>
          </p:cNvSpPr>
          <p:nvPr/>
        </p:nvSpPr>
        <p:spPr bwMode="auto">
          <a:xfrm>
            <a:off x="0" y="2781300"/>
            <a:ext cx="9144000" cy="1079500"/>
          </a:xfrm>
          <a:prstGeom prst="rect">
            <a:avLst/>
          </a:prstGeom>
          <a:solidFill>
            <a:schemeClr val="bg1"/>
          </a:solidFill>
          <a:ln w="9525">
            <a:noFill/>
            <a:miter lim="800000"/>
            <a:headEnd/>
            <a:tailEnd/>
          </a:ln>
        </p:spPr>
        <p:txBody>
          <a:bodyPr wrap="none" anchor="ctr"/>
          <a:lstStyle/>
          <a:p>
            <a:pPr algn="ctr"/>
            <a:r>
              <a:rPr lang="en-GB" sz="1800" dirty="0"/>
              <a:t>Current research interests and publications of your tutors.</a:t>
            </a:r>
          </a:p>
          <a:p>
            <a:pPr algn="ctr"/>
            <a:endParaRPr lang="en-GB" sz="1800" dirty="0"/>
          </a:p>
          <a:p>
            <a:pPr algn="ctr"/>
            <a:r>
              <a:rPr lang="en-GB" sz="1800" dirty="0"/>
              <a:t>General advice/guidance for topic choice in the programme Handbook.</a:t>
            </a:r>
          </a:p>
        </p:txBody>
      </p:sp>
      <p:sp>
        <p:nvSpPr>
          <p:cNvPr id="91145" name="Rectangle 9"/>
          <p:cNvSpPr>
            <a:spLocks noChangeArrowheads="1"/>
          </p:cNvSpPr>
          <p:nvPr/>
        </p:nvSpPr>
        <p:spPr bwMode="auto">
          <a:xfrm>
            <a:off x="0" y="981075"/>
            <a:ext cx="9144000" cy="790575"/>
          </a:xfrm>
          <a:prstGeom prst="rect">
            <a:avLst/>
          </a:prstGeom>
          <a:solidFill>
            <a:schemeClr val="bg1"/>
          </a:solidFill>
          <a:ln w="9525">
            <a:noFill/>
            <a:miter lim="800000"/>
            <a:headEnd/>
            <a:tailEnd/>
          </a:ln>
        </p:spPr>
        <p:txBody>
          <a:bodyPr wrap="none" anchor="ctr"/>
          <a:lstStyle/>
          <a:p>
            <a:pPr algn="ctr"/>
            <a:r>
              <a:rPr lang="en-GB" sz="1800" dirty="0"/>
              <a:t>YOUR personal interest.</a:t>
            </a:r>
          </a:p>
        </p:txBody>
      </p:sp>
      <p:grpSp>
        <p:nvGrpSpPr>
          <p:cNvPr id="2" name="Group 14"/>
          <p:cNvGrpSpPr>
            <a:grpSpLocks/>
          </p:cNvGrpSpPr>
          <p:nvPr/>
        </p:nvGrpSpPr>
        <p:grpSpPr bwMode="auto">
          <a:xfrm>
            <a:off x="0" y="4868863"/>
            <a:ext cx="9144000" cy="1989137"/>
            <a:chOff x="0" y="3067"/>
            <a:chExt cx="5760" cy="1253"/>
          </a:xfrm>
        </p:grpSpPr>
        <p:sp>
          <p:nvSpPr>
            <p:cNvPr id="18440" name="Rectangle 12"/>
            <p:cNvSpPr>
              <a:spLocks noChangeArrowheads="1"/>
            </p:cNvSpPr>
            <p:nvPr/>
          </p:nvSpPr>
          <p:spPr bwMode="auto">
            <a:xfrm>
              <a:off x="0" y="3067"/>
              <a:ext cx="5760" cy="635"/>
            </a:xfrm>
            <a:prstGeom prst="rect">
              <a:avLst/>
            </a:prstGeom>
            <a:solidFill>
              <a:schemeClr val="bg1"/>
            </a:solidFill>
            <a:ln w="9525">
              <a:noFill/>
              <a:miter lim="800000"/>
              <a:headEnd/>
              <a:tailEnd/>
            </a:ln>
          </p:spPr>
          <p:txBody>
            <a:bodyPr wrap="none" anchor="ctr"/>
            <a:lstStyle/>
            <a:p>
              <a:pPr algn="ctr"/>
              <a:endParaRPr lang="en-GB" sz="1800" dirty="0"/>
            </a:p>
            <a:p>
              <a:pPr algn="ctr"/>
              <a:endParaRPr lang="en-GB" sz="1800" dirty="0"/>
            </a:p>
            <a:p>
              <a:pPr algn="ctr"/>
              <a:r>
                <a:rPr lang="en-GB" sz="1800" dirty="0"/>
                <a:t>Related concerns that are voiced in YOUR professional community. </a:t>
              </a:r>
            </a:p>
            <a:p>
              <a:pPr algn="ctr"/>
              <a:endParaRPr lang="en-GB" sz="1800" dirty="0"/>
            </a:p>
            <a:p>
              <a:pPr algn="ctr"/>
              <a:r>
                <a:rPr lang="en-GB" sz="1800" dirty="0"/>
                <a:t>Issues raised by visiting speakers.</a:t>
              </a:r>
            </a:p>
            <a:p>
              <a:pPr algn="ctr"/>
              <a:endParaRPr lang="en-GB" sz="1800" dirty="0"/>
            </a:p>
            <a:p>
              <a:pPr algn="ctr"/>
              <a:endParaRPr lang="en-GB" sz="1800" dirty="0"/>
            </a:p>
          </p:txBody>
        </p:sp>
        <p:sp>
          <p:nvSpPr>
            <p:cNvPr id="18441" name="Rectangle 13"/>
            <p:cNvSpPr>
              <a:spLocks noChangeArrowheads="1"/>
            </p:cNvSpPr>
            <p:nvPr/>
          </p:nvSpPr>
          <p:spPr bwMode="auto">
            <a:xfrm>
              <a:off x="0" y="4002"/>
              <a:ext cx="2132" cy="318"/>
            </a:xfrm>
            <a:prstGeom prst="rect">
              <a:avLst/>
            </a:prstGeom>
            <a:solidFill>
              <a:srgbClr val="FFFFCC"/>
            </a:solidFill>
            <a:ln w="9525">
              <a:noFill/>
              <a:miter lim="800000"/>
              <a:headEnd/>
              <a:tailEnd/>
            </a:ln>
          </p:spPr>
          <p:txBody>
            <a:bodyPr wrap="none" anchor="ctr"/>
            <a:lstStyle/>
            <a:p>
              <a:pPr algn="ctr"/>
              <a:r>
                <a:rPr lang="en-GB" dirty="0"/>
                <a:t>Source:  Hart, 2005: 68</a:t>
              </a:r>
            </a:p>
            <a:p>
              <a:pPr algn="ctr"/>
              <a:endParaRPr lang="en-GB" dirty="0"/>
            </a:p>
          </p:txBody>
        </p:sp>
      </p:grpSp>
      <p:sp>
        <p:nvSpPr>
          <p:cNvPr id="10" name="Cloud Callout 9"/>
          <p:cNvSpPr/>
          <p:nvPr/>
        </p:nvSpPr>
        <p:spPr>
          <a:xfrm rot="638536">
            <a:off x="664871" y="182252"/>
            <a:ext cx="2118522" cy="1554494"/>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p:cNvSpPr txBox="1"/>
          <p:nvPr/>
        </p:nvSpPr>
        <p:spPr>
          <a:xfrm>
            <a:off x="1403648" y="332656"/>
            <a:ext cx="1008112" cy="923330"/>
          </a:xfrm>
          <a:prstGeom prst="rect">
            <a:avLst/>
          </a:prstGeom>
          <a:noFill/>
        </p:spPr>
        <p:txBody>
          <a:bodyPr wrap="square" rtlCol="0">
            <a:spAutoFit/>
          </a:bodyPr>
          <a:lstStyle/>
          <a:p>
            <a:r>
              <a:rPr lang="en-GB" sz="5400" i="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145"/>
                                        </p:tgtEl>
                                        <p:attrNameLst>
                                          <p:attrName>style.visibility</p:attrName>
                                        </p:attrNameLst>
                                      </p:cBhvr>
                                      <p:to>
                                        <p:strVal val="visible"/>
                                      </p:to>
                                    </p:set>
                                    <p:animEffect transition="in" filter="wipe(left)">
                                      <p:cBhvr>
                                        <p:cTn id="7" dur="2000"/>
                                        <p:tgtEl>
                                          <p:spTgt spid="911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41"/>
                                        </p:tgtEl>
                                        <p:attrNameLst>
                                          <p:attrName>style.visibility</p:attrName>
                                        </p:attrNameLst>
                                      </p:cBhvr>
                                      <p:to>
                                        <p:strVal val="visible"/>
                                      </p:to>
                                    </p:set>
                                    <p:animEffect transition="in" filter="wipe(left)">
                                      <p:cBhvr>
                                        <p:cTn id="12" dur="2000"/>
                                        <p:tgtEl>
                                          <p:spTgt spid="911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1143"/>
                                        </p:tgtEl>
                                        <p:attrNameLst>
                                          <p:attrName>style.visibility</p:attrName>
                                        </p:attrNameLst>
                                      </p:cBhvr>
                                      <p:to>
                                        <p:strVal val="visible"/>
                                      </p:to>
                                    </p:set>
                                    <p:animEffect transition="in" filter="wipe(left)">
                                      <p:cBhvr>
                                        <p:cTn id="17" dur="2000"/>
                                        <p:tgtEl>
                                          <p:spTgt spid="9114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1142"/>
                                        </p:tgtEl>
                                        <p:attrNameLst>
                                          <p:attrName>style.visibility</p:attrName>
                                        </p:attrNameLst>
                                      </p:cBhvr>
                                      <p:to>
                                        <p:strVal val="visible"/>
                                      </p:to>
                                    </p:set>
                                    <p:animEffect transition="in" filter="wipe(left)">
                                      <p:cBhvr>
                                        <p:cTn id="22" dur="2000"/>
                                        <p:tgtEl>
                                          <p:spTgt spid="9114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1" grpId="0" animBg="1"/>
      <p:bldP spid="91142" grpId="0" animBg="1"/>
      <p:bldP spid="91143" grpId="0" animBg="1"/>
      <p:bldP spid="9114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ChangeArrowheads="1"/>
          </p:cNvSpPr>
          <p:nvPr/>
        </p:nvSpPr>
        <p:spPr bwMode="auto">
          <a:xfrm>
            <a:off x="0" y="0"/>
            <a:ext cx="9144000" cy="366713"/>
          </a:xfrm>
          <a:prstGeom prst="rect">
            <a:avLst/>
          </a:prstGeom>
          <a:noFill/>
          <a:ln w="9525">
            <a:noFill/>
            <a:miter lim="800000"/>
            <a:headEnd/>
            <a:tailEnd/>
          </a:ln>
        </p:spPr>
        <p:txBody>
          <a:bodyPr>
            <a:spAutoFit/>
          </a:bodyPr>
          <a:lstStyle/>
          <a:p>
            <a:pPr algn="ctr"/>
            <a:r>
              <a:rPr lang="en-GB" sz="1800" b="1">
                <a:solidFill>
                  <a:schemeClr val="tx2"/>
                </a:solidFill>
              </a:rPr>
              <a:t>QUESTIONS ABOUT RESEARCH ON THE TOPIC</a:t>
            </a:r>
          </a:p>
        </p:txBody>
      </p:sp>
      <p:sp>
        <p:nvSpPr>
          <p:cNvPr id="20483" name="AutoShape 5"/>
          <p:cNvSpPr>
            <a:spLocks noChangeArrowheads="1"/>
          </p:cNvSpPr>
          <p:nvPr/>
        </p:nvSpPr>
        <p:spPr bwMode="auto">
          <a:xfrm>
            <a:off x="323850" y="908050"/>
            <a:ext cx="8569325" cy="5184775"/>
          </a:xfrm>
          <a:prstGeom prst="roundRect">
            <a:avLst>
              <a:gd name="adj" fmla="val 16667"/>
            </a:avLst>
          </a:prstGeom>
          <a:solidFill>
            <a:schemeClr val="bg1"/>
          </a:solidFill>
          <a:ln w="9525">
            <a:solidFill>
              <a:schemeClr val="tx1"/>
            </a:solidFill>
            <a:round/>
            <a:headEnd/>
            <a:tailEnd/>
          </a:ln>
        </p:spPr>
        <p:txBody>
          <a:bodyPr wrap="none" anchor="ctr"/>
          <a:lstStyle/>
          <a:p>
            <a:pPr algn="ctr">
              <a:lnSpc>
                <a:spcPct val="140000"/>
              </a:lnSpc>
            </a:pPr>
            <a:r>
              <a:rPr lang="en-GB"/>
              <a:t>Has anyone else investigated the topic?</a:t>
            </a:r>
          </a:p>
          <a:p>
            <a:pPr algn="ctr">
              <a:lnSpc>
                <a:spcPct val="140000"/>
              </a:lnSpc>
            </a:pPr>
            <a:endParaRPr lang="en-GB"/>
          </a:p>
          <a:p>
            <a:pPr algn="ctr">
              <a:lnSpc>
                <a:spcPct val="140000"/>
              </a:lnSpc>
            </a:pPr>
            <a:r>
              <a:rPr lang="en-GB"/>
              <a:t>When and how?</a:t>
            </a:r>
          </a:p>
          <a:p>
            <a:pPr algn="ctr">
              <a:lnSpc>
                <a:spcPct val="140000"/>
              </a:lnSpc>
            </a:pPr>
            <a:endParaRPr lang="en-GB"/>
          </a:p>
          <a:p>
            <a:pPr algn="ctr">
              <a:lnSpc>
                <a:spcPct val="140000"/>
              </a:lnSpc>
            </a:pPr>
            <a:r>
              <a:rPr lang="en-GB"/>
              <a:t>What were their research questions?</a:t>
            </a:r>
          </a:p>
          <a:p>
            <a:pPr algn="ctr">
              <a:lnSpc>
                <a:spcPct val="140000"/>
              </a:lnSpc>
            </a:pPr>
            <a:endParaRPr lang="en-GB"/>
          </a:p>
          <a:p>
            <a:pPr algn="ctr">
              <a:lnSpc>
                <a:spcPct val="140000"/>
              </a:lnSpc>
            </a:pPr>
            <a:r>
              <a:rPr lang="en-GB"/>
              <a:t>How reliable / valid was their investigation?</a:t>
            </a:r>
          </a:p>
          <a:p>
            <a:pPr algn="ctr">
              <a:lnSpc>
                <a:spcPct val="140000"/>
              </a:lnSpc>
            </a:pPr>
            <a:endParaRPr lang="en-GB"/>
          </a:p>
          <a:p>
            <a:pPr algn="ctr">
              <a:lnSpc>
                <a:spcPct val="140000"/>
              </a:lnSpc>
            </a:pPr>
            <a:r>
              <a:rPr lang="en-GB"/>
              <a:t>What methods were used to collect the data?</a:t>
            </a:r>
          </a:p>
          <a:p>
            <a:pPr algn="ctr">
              <a:lnSpc>
                <a:spcPct val="140000"/>
              </a:lnSpc>
            </a:pPr>
            <a:endParaRPr lang="en-GB"/>
          </a:p>
          <a:p>
            <a:pPr algn="ctr">
              <a:lnSpc>
                <a:spcPct val="140000"/>
              </a:lnSpc>
            </a:pPr>
            <a:r>
              <a:rPr lang="en-GB"/>
              <a:t>What did they find/prove/develop?</a:t>
            </a:r>
          </a:p>
        </p:txBody>
      </p:sp>
      <p:grpSp>
        <p:nvGrpSpPr>
          <p:cNvPr id="2" name="Group 10"/>
          <p:cNvGrpSpPr>
            <a:grpSpLocks/>
          </p:cNvGrpSpPr>
          <p:nvPr/>
        </p:nvGrpSpPr>
        <p:grpSpPr bwMode="auto">
          <a:xfrm>
            <a:off x="611188" y="1700213"/>
            <a:ext cx="7923212" cy="3814762"/>
            <a:chOff x="385" y="1117"/>
            <a:chExt cx="4991" cy="2403"/>
          </a:xfrm>
        </p:grpSpPr>
        <p:sp>
          <p:nvSpPr>
            <p:cNvPr id="20488" name="Rectangle 8"/>
            <p:cNvSpPr>
              <a:spLocks noChangeArrowheads="1"/>
            </p:cNvSpPr>
            <p:nvPr/>
          </p:nvSpPr>
          <p:spPr bwMode="auto">
            <a:xfrm>
              <a:off x="385" y="1117"/>
              <a:ext cx="1044" cy="544"/>
            </a:xfrm>
            <a:prstGeom prst="rect">
              <a:avLst/>
            </a:prstGeom>
            <a:solidFill>
              <a:srgbClr val="FFFF66"/>
            </a:solidFill>
            <a:ln w="38100">
              <a:solidFill>
                <a:schemeClr val="tx1"/>
              </a:solidFill>
              <a:miter lim="800000"/>
              <a:headEnd/>
              <a:tailEnd/>
            </a:ln>
          </p:spPr>
          <p:txBody>
            <a:bodyPr wrap="none" anchor="ctr"/>
            <a:lstStyle/>
            <a:p>
              <a:pPr algn="ctr"/>
              <a:r>
                <a:rPr lang="en-GB"/>
                <a:t>Lots of </a:t>
              </a:r>
            </a:p>
            <a:p>
              <a:pPr algn="ctr"/>
              <a:r>
                <a:rPr lang="en-GB"/>
                <a:t>references</a:t>
              </a:r>
            </a:p>
          </p:txBody>
        </p:sp>
        <p:sp>
          <p:nvSpPr>
            <p:cNvPr id="20489" name="Rectangle 9"/>
            <p:cNvSpPr>
              <a:spLocks noChangeArrowheads="1"/>
            </p:cNvSpPr>
            <p:nvPr/>
          </p:nvSpPr>
          <p:spPr bwMode="auto">
            <a:xfrm>
              <a:off x="4332" y="2976"/>
              <a:ext cx="1044" cy="544"/>
            </a:xfrm>
            <a:prstGeom prst="rect">
              <a:avLst/>
            </a:prstGeom>
            <a:solidFill>
              <a:srgbClr val="FFFF66"/>
            </a:solidFill>
            <a:ln w="38100">
              <a:solidFill>
                <a:schemeClr val="tx1"/>
              </a:solidFill>
              <a:miter lim="800000"/>
              <a:headEnd/>
              <a:tailEnd/>
            </a:ln>
          </p:spPr>
          <p:txBody>
            <a:bodyPr wrap="none" anchor="ctr"/>
            <a:lstStyle/>
            <a:p>
              <a:pPr algn="ctr"/>
              <a:r>
                <a:rPr lang="en-GB"/>
                <a:t>Few </a:t>
              </a:r>
            </a:p>
            <a:p>
              <a:pPr algn="ctr"/>
              <a:r>
                <a:rPr lang="en-GB"/>
                <a:t>references</a:t>
              </a:r>
            </a:p>
          </p:txBody>
        </p:sp>
      </p:grpSp>
      <p:grpSp>
        <p:nvGrpSpPr>
          <p:cNvPr id="3" name="Group 43"/>
          <p:cNvGrpSpPr>
            <a:grpSpLocks/>
          </p:cNvGrpSpPr>
          <p:nvPr/>
        </p:nvGrpSpPr>
        <p:grpSpPr bwMode="auto">
          <a:xfrm>
            <a:off x="611188" y="1700213"/>
            <a:ext cx="7923212" cy="3816350"/>
            <a:chOff x="385" y="1071"/>
            <a:chExt cx="4991" cy="2404"/>
          </a:xfrm>
        </p:grpSpPr>
        <p:sp>
          <p:nvSpPr>
            <p:cNvPr id="20486" name="Rectangle 41"/>
            <p:cNvSpPr>
              <a:spLocks noChangeArrowheads="1"/>
            </p:cNvSpPr>
            <p:nvPr/>
          </p:nvSpPr>
          <p:spPr bwMode="auto">
            <a:xfrm>
              <a:off x="385" y="2931"/>
              <a:ext cx="1044" cy="544"/>
            </a:xfrm>
            <a:prstGeom prst="rect">
              <a:avLst/>
            </a:prstGeom>
            <a:solidFill>
              <a:srgbClr val="FFFF66"/>
            </a:solidFill>
            <a:ln w="38100">
              <a:solidFill>
                <a:schemeClr val="tx1"/>
              </a:solidFill>
              <a:miter lim="800000"/>
              <a:headEnd/>
              <a:tailEnd/>
            </a:ln>
          </p:spPr>
          <p:txBody>
            <a:bodyPr wrap="none" anchor="ctr"/>
            <a:lstStyle/>
            <a:p>
              <a:pPr algn="ctr"/>
              <a:r>
                <a:rPr lang="en-GB"/>
                <a:t>Practically</a:t>
              </a:r>
            </a:p>
            <a:p>
              <a:pPr algn="ctr"/>
              <a:r>
                <a:rPr lang="en-GB"/>
                <a:t>focussed</a:t>
              </a:r>
            </a:p>
          </p:txBody>
        </p:sp>
        <p:sp>
          <p:nvSpPr>
            <p:cNvPr id="20487" name="Rectangle 42"/>
            <p:cNvSpPr>
              <a:spLocks noChangeArrowheads="1"/>
            </p:cNvSpPr>
            <p:nvPr/>
          </p:nvSpPr>
          <p:spPr bwMode="auto">
            <a:xfrm>
              <a:off x="4332" y="1071"/>
              <a:ext cx="1044" cy="544"/>
            </a:xfrm>
            <a:prstGeom prst="rect">
              <a:avLst/>
            </a:prstGeom>
            <a:solidFill>
              <a:srgbClr val="FFFF66"/>
            </a:solidFill>
            <a:ln w="38100">
              <a:solidFill>
                <a:schemeClr val="tx1"/>
              </a:solidFill>
              <a:miter lim="800000"/>
              <a:headEnd/>
              <a:tailEnd/>
            </a:ln>
          </p:spPr>
          <p:txBody>
            <a:bodyPr wrap="none" anchor="ctr"/>
            <a:lstStyle/>
            <a:p>
              <a:pPr algn="ctr"/>
              <a:r>
                <a:rPr lang="en-GB"/>
                <a:t>Theoretically</a:t>
              </a:r>
            </a:p>
            <a:p>
              <a:pPr algn="ctr"/>
              <a:r>
                <a:rPr lang="en-GB"/>
                <a:t>focused</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467544" y="188640"/>
            <a:ext cx="7343800" cy="523220"/>
          </a:xfrm>
          <a:prstGeom prst="rect">
            <a:avLst/>
          </a:prstGeom>
          <a:noFill/>
          <a:ln w="9525">
            <a:noFill/>
            <a:miter lim="800000"/>
            <a:headEnd/>
            <a:tailEnd/>
          </a:ln>
        </p:spPr>
        <p:txBody>
          <a:bodyPr wrap="square">
            <a:spAutoFit/>
          </a:bodyPr>
          <a:lstStyle/>
          <a:p>
            <a:r>
              <a:rPr lang="en-GB" sz="2800" dirty="0">
                <a:solidFill>
                  <a:schemeClr val="tx2"/>
                </a:solidFill>
              </a:rPr>
              <a:t>What  ‘space’ will your dissertation occupy?</a:t>
            </a:r>
          </a:p>
        </p:txBody>
      </p:sp>
      <p:grpSp>
        <p:nvGrpSpPr>
          <p:cNvPr id="2" name="Group 14"/>
          <p:cNvGrpSpPr>
            <a:grpSpLocks/>
          </p:cNvGrpSpPr>
          <p:nvPr/>
        </p:nvGrpSpPr>
        <p:grpSpPr bwMode="auto">
          <a:xfrm>
            <a:off x="323850" y="908050"/>
            <a:ext cx="8569325" cy="5400675"/>
            <a:chOff x="204" y="572"/>
            <a:chExt cx="5398" cy="3402"/>
          </a:xfrm>
        </p:grpSpPr>
        <p:sp>
          <p:nvSpPr>
            <p:cNvPr id="21508" name="AutoShape 12"/>
            <p:cNvSpPr>
              <a:spLocks noChangeArrowheads="1"/>
            </p:cNvSpPr>
            <p:nvPr/>
          </p:nvSpPr>
          <p:spPr bwMode="auto">
            <a:xfrm>
              <a:off x="204" y="572"/>
              <a:ext cx="5398" cy="3084"/>
            </a:xfrm>
            <a:prstGeom prst="roundRect">
              <a:avLst>
                <a:gd name="adj" fmla="val 16667"/>
              </a:avLst>
            </a:prstGeom>
            <a:solidFill>
              <a:schemeClr val="accent4">
                <a:lumMod val="40000"/>
                <a:lumOff val="60000"/>
              </a:schemeClr>
            </a:solidFill>
            <a:ln w="9525">
              <a:solidFill>
                <a:schemeClr val="tx1"/>
              </a:solidFill>
              <a:round/>
              <a:headEnd/>
              <a:tailEnd/>
            </a:ln>
          </p:spPr>
          <p:txBody>
            <a:bodyPr wrap="none" anchor="ctr"/>
            <a:lstStyle/>
            <a:p>
              <a:pPr algn="ctr">
                <a:lnSpc>
                  <a:spcPct val="220000"/>
                </a:lnSpc>
              </a:pPr>
              <a:endParaRPr lang="en-GB" sz="1800" dirty="0"/>
            </a:p>
            <a:p>
              <a:pPr algn="ctr">
                <a:lnSpc>
                  <a:spcPct val="220000"/>
                </a:lnSpc>
                <a:buFont typeface="Arial" pitchFamily="34" charset="0"/>
                <a:buChar char="•"/>
              </a:pPr>
              <a:r>
                <a:rPr lang="en-GB" dirty="0"/>
                <a:t>Application of conventional research instruments in a </a:t>
              </a:r>
              <a:r>
                <a:rPr lang="en-GB" b="1" dirty="0"/>
                <a:t>‘new’ </a:t>
              </a:r>
              <a:r>
                <a:rPr lang="en-GB" dirty="0"/>
                <a:t>field of investigation.</a:t>
              </a:r>
            </a:p>
            <a:p>
              <a:pPr algn="ctr">
                <a:lnSpc>
                  <a:spcPct val="220000"/>
                </a:lnSpc>
                <a:buFont typeface="Arial" pitchFamily="34" charset="0"/>
                <a:buChar char="•"/>
              </a:pPr>
              <a:r>
                <a:rPr lang="en-GB" dirty="0"/>
                <a:t>Combining disparate concepts in </a:t>
              </a:r>
              <a:r>
                <a:rPr lang="en-GB" b="1" dirty="0"/>
                <a:t>new</a:t>
              </a:r>
              <a:r>
                <a:rPr lang="en-GB" dirty="0"/>
                <a:t> ways to investigate ‘something’.</a:t>
              </a:r>
            </a:p>
            <a:p>
              <a:pPr algn="ctr">
                <a:lnSpc>
                  <a:spcPct val="220000"/>
                </a:lnSpc>
                <a:buFont typeface="Arial" pitchFamily="34" charset="0"/>
                <a:buChar char="•"/>
              </a:pPr>
              <a:r>
                <a:rPr lang="en-GB" dirty="0"/>
                <a:t>Seeking a </a:t>
              </a:r>
              <a:r>
                <a:rPr lang="en-GB" b="1" dirty="0"/>
                <a:t>new</a:t>
              </a:r>
              <a:r>
                <a:rPr lang="en-GB" dirty="0"/>
                <a:t> understanding of ‘something’.</a:t>
              </a:r>
            </a:p>
            <a:p>
              <a:pPr algn="ctr">
                <a:lnSpc>
                  <a:spcPct val="220000"/>
                </a:lnSpc>
                <a:buFont typeface="Arial" pitchFamily="34" charset="0"/>
                <a:buChar char="•"/>
              </a:pPr>
              <a:r>
                <a:rPr lang="en-GB" b="1" dirty="0"/>
                <a:t>Extending</a:t>
              </a:r>
              <a:r>
                <a:rPr lang="en-GB" dirty="0"/>
                <a:t> the work of someone else.</a:t>
              </a:r>
            </a:p>
            <a:p>
              <a:pPr algn="ctr">
                <a:lnSpc>
                  <a:spcPct val="220000"/>
                </a:lnSpc>
                <a:buFont typeface="Arial" pitchFamily="34" charset="0"/>
                <a:buChar char="•"/>
              </a:pPr>
              <a:r>
                <a:rPr lang="en-GB" dirty="0"/>
                <a:t>Explaining a familiar issue from </a:t>
              </a:r>
              <a:r>
                <a:rPr lang="en-GB" b="1" dirty="0"/>
                <a:t>a different perspective</a:t>
              </a:r>
              <a:r>
                <a:rPr lang="en-GB" dirty="0"/>
                <a:t>.</a:t>
              </a:r>
            </a:p>
            <a:p>
              <a:pPr algn="ctr">
                <a:lnSpc>
                  <a:spcPct val="220000"/>
                </a:lnSpc>
                <a:buFont typeface="Arial" pitchFamily="34" charset="0"/>
                <a:buChar char="•"/>
              </a:pPr>
              <a:r>
                <a:rPr lang="en-GB" dirty="0"/>
                <a:t>Repeating the investigation of others but in </a:t>
              </a:r>
              <a:r>
                <a:rPr lang="en-GB" b="1" dirty="0"/>
                <a:t>a different setting/context</a:t>
              </a:r>
              <a:r>
                <a:rPr lang="en-GB" dirty="0"/>
                <a:t>.</a:t>
              </a:r>
            </a:p>
            <a:p>
              <a:pPr algn="ctr">
                <a:lnSpc>
                  <a:spcPct val="220000"/>
                </a:lnSpc>
                <a:buFont typeface="Arial" pitchFamily="34" charset="0"/>
                <a:buChar char="•"/>
              </a:pPr>
              <a:r>
                <a:rPr lang="en-GB" dirty="0"/>
                <a:t>Demonstrating the significance of old/</a:t>
              </a:r>
              <a:r>
                <a:rPr lang="en-GB" b="1" dirty="0"/>
                <a:t>new</a:t>
              </a:r>
              <a:r>
                <a:rPr lang="en-GB" dirty="0"/>
                <a:t> methodologies </a:t>
              </a:r>
              <a:r>
                <a:rPr lang="en-GB" b="1" dirty="0"/>
                <a:t>in current settings</a:t>
              </a:r>
              <a:r>
                <a:rPr lang="en-GB" dirty="0"/>
                <a:t>.</a:t>
              </a:r>
            </a:p>
            <a:p>
              <a:pPr algn="ctr">
                <a:lnSpc>
                  <a:spcPct val="220000"/>
                </a:lnSpc>
              </a:pPr>
              <a:endParaRPr lang="en-GB" sz="1800" dirty="0"/>
            </a:p>
          </p:txBody>
        </p:sp>
        <p:sp>
          <p:nvSpPr>
            <p:cNvPr id="21509" name="Rectangle 13"/>
            <p:cNvSpPr>
              <a:spLocks noChangeArrowheads="1"/>
            </p:cNvSpPr>
            <p:nvPr/>
          </p:nvSpPr>
          <p:spPr bwMode="auto">
            <a:xfrm>
              <a:off x="295" y="3748"/>
              <a:ext cx="2676" cy="226"/>
            </a:xfrm>
            <a:prstGeom prst="rect">
              <a:avLst/>
            </a:prstGeom>
            <a:solidFill>
              <a:srgbClr val="FFFFCC"/>
            </a:solidFill>
            <a:ln w="9525">
              <a:noFill/>
              <a:miter lim="800000"/>
              <a:headEnd/>
              <a:tailEnd/>
            </a:ln>
          </p:spPr>
          <p:txBody>
            <a:bodyPr wrap="none" anchor="ctr"/>
            <a:lstStyle/>
            <a:p>
              <a:pPr algn="ctr"/>
              <a:r>
                <a:rPr lang="en-GB"/>
                <a:t>Source:  Trafford and Leshem, 2008: 16-17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ChangeArrowheads="1"/>
          </p:cNvSpPr>
          <p:nvPr/>
        </p:nvSpPr>
        <p:spPr bwMode="auto">
          <a:xfrm>
            <a:off x="468313" y="0"/>
            <a:ext cx="8362950" cy="333375"/>
          </a:xfrm>
          <a:prstGeom prst="rect">
            <a:avLst/>
          </a:prstGeom>
          <a:noFill/>
          <a:ln w="9525">
            <a:noFill/>
            <a:miter lim="800000"/>
            <a:headEnd/>
            <a:tailEnd/>
          </a:ln>
        </p:spPr>
        <p:txBody>
          <a:bodyPr/>
          <a:lstStyle/>
          <a:p>
            <a:pPr algn="ctr"/>
            <a:r>
              <a:rPr lang="en-GB" sz="1800" b="1" dirty="0">
                <a:solidFill>
                  <a:schemeClr val="tx2"/>
                </a:solidFill>
                <a:latin typeface="Verdana" pitchFamily="34" charset="0"/>
              </a:rPr>
              <a:t>SOURCES OF RESEARCH QUESTIONS</a:t>
            </a:r>
          </a:p>
        </p:txBody>
      </p:sp>
      <p:sp>
        <p:nvSpPr>
          <p:cNvPr id="79930" name="Rectangle 58"/>
          <p:cNvSpPr>
            <a:spLocks noChangeArrowheads="1"/>
          </p:cNvSpPr>
          <p:nvPr/>
        </p:nvSpPr>
        <p:spPr bwMode="auto">
          <a:xfrm>
            <a:off x="3348038" y="692150"/>
            <a:ext cx="2520950" cy="1223963"/>
          </a:xfrm>
          <a:prstGeom prst="rect">
            <a:avLst/>
          </a:prstGeom>
          <a:solidFill>
            <a:schemeClr val="bg1"/>
          </a:solidFill>
          <a:ln w="9525">
            <a:solidFill>
              <a:schemeClr val="tx1"/>
            </a:solidFill>
            <a:miter lim="800000"/>
            <a:headEnd/>
            <a:tailEnd/>
          </a:ln>
        </p:spPr>
        <p:txBody>
          <a:bodyPr wrap="none" anchor="ctr"/>
          <a:lstStyle/>
          <a:p>
            <a:pPr algn="ctr"/>
            <a:r>
              <a:rPr lang="en-GB"/>
              <a:t>The</a:t>
            </a:r>
          </a:p>
          <a:p>
            <a:pPr algn="ctr"/>
            <a:r>
              <a:rPr lang="en-GB"/>
              <a:t>general</a:t>
            </a:r>
          </a:p>
          <a:p>
            <a:pPr algn="ctr"/>
            <a:r>
              <a:rPr lang="en-GB"/>
              <a:t>literature</a:t>
            </a:r>
          </a:p>
        </p:txBody>
      </p:sp>
      <p:sp>
        <p:nvSpPr>
          <p:cNvPr id="79933" name="Rectangle 61"/>
          <p:cNvSpPr>
            <a:spLocks noChangeArrowheads="1"/>
          </p:cNvSpPr>
          <p:nvPr/>
        </p:nvSpPr>
        <p:spPr bwMode="auto">
          <a:xfrm>
            <a:off x="3348038" y="5013325"/>
            <a:ext cx="2520950" cy="1223963"/>
          </a:xfrm>
          <a:prstGeom prst="rect">
            <a:avLst/>
          </a:prstGeom>
          <a:solidFill>
            <a:schemeClr val="bg1"/>
          </a:solidFill>
          <a:ln w="9525">
            <a:solidFill>
              <a:schemeClr val="tx1"/>
            </a:solidFill>
            <a:miter lim="800000"/>
            <a:headEnd/>
            <a:tailEnd/>
          </a:ln>
        </p:spPr>
        <p:txBody>
          <a:bodyPr wrap="none" anchor="ctr"/>
          <a:lstStyle/>
          <a:p>
            <a:pPr algn="ctr"/>
            <a:r>
              <a:rPr lang="en-GB"/>
              <a:t>‘Thinking’</a:t>
            </a:r>
          </a:p>
        </p:txBody>
      </p:sp>
      <p:sp>
        <p:nvSpPr>
          <p:cNvPr id="79940" name="Oval 68"/>
          <p:cNvSpPr>
            <a:spLocks noChangeArrowheads="1"/>
          </p:cNvSpPr>
          <p:nvPr/>
        </p:nvSpPr>
        <p:spPr bwMode="auto">
          <a:xfrm>
            <a:off x="3276600" y="2349500"/>
            <a:ext cx="2663825" cy="2016125"/>
          </a:xfrm>
          <a:prstGeom prst="ellipse">
            <a:avLst/>
          </a:prstGeom>
          <a:solidFill>
            <a:schemeClr val="bg1"/>
          </a:solidFill>
          <a:ln w="38100">
            <a:solidFill>
              <a:schemeClr val="tx1"/>
            </a:solidFill>
            <a:round/>
            <a:headEnd/>
            <a:tailEnd/>
          </a:ln>
        </p:spPr>
        <p:txBody>
          <a:bodyPr wrap="none" anchor="ctr"/>
          <a:lstStyle/>
          <a:p>
            <a:pPr algn="ctr"/>
            <a:r>
              <a:rPr lang="en-GB"/>
              <a:t>Links to</a:t>
            </a:r>
          </a:p>
          <a:p>
            <a:pPr algn="ctr"/>
            <a:r>
              <a:rPr lang="en-GB"/>
              <a:t>YOUR research</a:t>
            </a:r>
          </a:p>
        </p:txBody>
      </p:sp>
      <p:grpSp>
        <p:nvGrpSpPr>
          <p:cNvPr id="2" name="Group 91"/>
          <p:cNvGrpSpPr>
            <a:grpSpLocks/>
          </p:cNvGrpSpPr>
          <p:nvPr/>
        </p:nvGrpSpPr>
        <p:grpSpPr bwMode="auto">
          <a:xfrm>
            <a:off x="250825" y="1125538"/>
            <a:ext cx="2520950" cy="4392612"/>
            <a:chOff x="204" y="663"/>
            <a:chExt cx="1588" cy="2767"/>
          </a:xfrm>
        </p:grpSpPr>
        <p:sp>
          <p:nvSpPr>
            <p:cNvPr id="17419" name="Rectangle 88"/>
            <p:cNvSpPr>
              <a:spLocks noChangeArrowheads="1"/>
            </p:cNvSpPr>
            <p:nvPr/>
          </p:nvSpPr>
          <p:spPr bwMode="auto">
            <a:xfrm>
              <a:off x="204" y="663"/>
              <a:ext cx="1588" cy="771"/>
            </a:xfrm>
            <a:prstGeom prst="rect">
              <a:avLst/>
            </a:prstGeom>
            <a:solidFill>
              <a:schemeClr val="bg1"/>
            </a:solidFill>
            <a:ln w="9525">
              <a:solidFill>
                <a:schemeClr val="tx1"/>
              </a:solidFill>
              <a:miter lim="800000"/>
              <a:headEnd/>
              <a:tailEnd/>
            </a:ln>
          </p:spPr>
          <p:txBody>
            <a:bodyPr wrap="none" anchor="ctr"/>
            <a:lstStyle/>
            <a:p>
              <a:pPr algn="ctr"/>
              <a:r>
                <a:rPr lang="en-GB"/>
                <a:t>A ‘problem’</a:t>
              </a:r>
            </a:p>
            <a:p>
              <a:pPr algn="ctr"/>
              <a:r>
                <a:rPr lang="en-GB"/>
                <a:t>for which answers are</a:t>
              </a:r>
            </a:p>
            <a:p>
              <a:pPr algn="ctr"/>
              <a:r>
                <a:rPr lang="en-GB"/>
                <a:t>considered necessary</a:t>
              </a:r>
            </a:p>
          </p:txBody>
        </p:sp>
        <p:sp>
          <p:nvSpPr>
            <p:cNvPr id="17420" name="Rectangle 89"/>
            <p:cNvSpPr>
              <a:spLocks noChangeArrowheads="1"/>
            </p:cNvSpPr>
            <p:nvPr/>
          </p:nvSpPr>
          <p:spPr bwMode="auto">
            <a:xfrm>
              <a:off x="204" y="1661"/>
              <a:ext cx="1588" cy="771"/>
            </a:xfrm>
            <a:prstGeom prst="rect">
              <a:avLst/>
            </a:prstGeom>
            <a:solidFill>
              <a:schemeClr val="bg1"/>
            </a:solidFill>
            <a:ln w="9525">
              <a:solidFill>
                <a:schemeClr val="tx1"/>
              </a:solidFill>
              <a:miter lim="800000"/>
              <a:headEnd/>
              <a:tailEnd/>
            </a:ln>
          </p:spPr>
          <p:txBody>
            <a:bodyPr wrap="none" anchor="ctr"/>
            <a:lstStyle/>
            <a:p>
              <a:pPr algn="ctr"/>
              <a:r>
                <a:rPr lang="en-GB"/>
                <a:t>Curiosity about something</a:t>
              </a:r>
            </a:p>
            <a:p>
              <a:pPr algn="ctr"/>
              <a:r>
                <a:rPr lang="en-GB"/>
                <a:t>or</a:t>
              </a:r>
            </a:p>
            <a:p>
              <a:pPr algn="ctr"/>
              <a:r>
                <a:rPr lang="en-GB"/>
                <a:t>an area of interest</a:t>
              </a:r>
            </a:p>
          </p:txBody>
        </p:sp>
        <p:sp>
          <p:nvSpPr>
            <p:cNvPr id="17421" name="Rectangle 90"/>
            <p:cNvSpPr>
              <a:spLocks noChangeArrowheads="1"/>
            </p:cNvSpPr>
            <p:nvPr/>
          </p:nvSpPr>
          <p:spPr bwMode="auto">
            <a:xfrm>
              <a:off x="204" y="2659"/>
              <a:ext cx="1588" cy="771"/>
            </a:xfrm>
            <a:prstGeom prst="rect">
              <a:avLst/>
            </a:prstGeom>
            <a:solidFill>
              <a:schemeClr val="bg1"/>
            </a:solidFill>
            <a:ln w="9525">
              <a:solidFill>
                <a:schemeClr val="tx1"/>
              </a:solidFill>
              <a:miter lim="800000"/>
              <a:headEnd/>
              <a:tailEnd/>
            </a:ln>
          </p:spPr>
          <p:txBody>
            <a:bodyPr wrap="none" anchor="ctr"/>
            <a:lstStyle/>
            <a:p>
              <a:pPr algn="ctr"/>
              <a:r>
                <a:rPr lang="en-GB"/>
                <a:t>Answers to earlier </a:t>
              </a:r>
            </a:p>
            <a:p>
              <a:pPr algn="ctr"/>
              <a:r>
                <a:rPr lang="en-GB"/>
                <a:t>research questions that </a:t>
              </a:r>
            </a:p>
            <a:p>
              <a:pPr algn="ctr"/>
              <a:r>
                <a:rPr lang="en-GB"/>
                <a:t>prompt further questions</a:t>
              </a:r>
            </a:p>
          </p:txBody>
        </p:sp>
      </p:grpSp>
      <p:grpSp>
        <p:nvGrpSpPr>
          <p:cNvPr id="3" name="Group 112"/>
          <p:cNvGrpSpPr>
            <a:grpSpLocks/>
          </p:cNvGrpSpPr>
          <p:nvPr/>
        </p:nvGrpSpPr>
        <p:grpSpPr bwMode="auto">
          <a:xfrm>
            <a:off x="6372225" y="1125538"/>
            <a:ext cx="2520950" cy="4392612"/>
            <a:chOff x="3969" y="663"/>
            <a:chExt cx="1588" cy="2767"/>
          </a:xfrm>
        </p:grpSpPr>
        <p:sp>
          <p:nvSpPr>
            <p:cNvPr id="17416" name="Rectangle 109"/>
            <p:cNvSpPr>
              <a:spLocks noChangeArrowheads="1"/>
            </p:cNvSpPr>
            <p:nvPr/>
          </p:nvSpPr>
          <p:spPr bwMode="auto">
            <a:xfrm>
              <a:off x="3969" y="1661"/>
              <a:ext cx="1588" cy="771"/>
            </a:xfrm>
            <a:prstGeom prst="rect">
              <a:avLst/>
            </a:prstGeom>
            <a:solidFill>
              <a:schemeClr val="bg1"/>
            </a:solidFill>
            <a:ln w="9525">
              <a:solidFill>
                <a:schemeClr val="tx1"/>
              </a:solidFill>
              <a:miter lim="800000"/>
              <a:headEnd/>
              <a:tailEnd/>
            </a:ln>
          </p:spPr>
          <p:txBody>
            <a:bodyPr wrap="none" anchor="ctr"/>
            <a:lstStyle/>
            <a:p>
              <a:pPr algn="ctr"/>
              <a:r>
                <a:rPr lang="en-GB"/>
                <a:t>Propositions emerging</a:t>
              </a:r>
            </a:p>
            <a:p>
              <a:pPr algn="ctr"/>
              <a:r>
                <a:rPr lang="en-GB"/>
                <a:t>from other research</a:t>
              </a:r>
            </a:p>
          </p:txBody>
        </p:sp>
        <p:sp>
          <p:nvSpPr>
            <p:cNvPr id="17417" name="Rectangle 110"/>
            <p:cNvSpPr>
              <a:spLocks noChangeArrowheads="1"/>
            </p:cNvSpPr>
            <p:nvPr/>
          </p:nvSpPr>
          <p:spPr bwMode="auto">
            <a:xfrm>
              <a:off x="3969" y="2659"/>
              <a:ext cx="1588" cy="771"/>
            </a:xfrm>
            <a:prstGeom prst="rect">
              <a:avLst/>
            </a:prstGeom>
            <a:solidFill>
              <a:schemeClr val="bg1"/>
            </a:solidFill>
            <a:ln w="9525">
              <a:solidFill>
                <a:schemeClr val="tx1"/>
              </a:solidFill>
              <a:miter lim="800000"/>
              <a:headEnd/>
              <a:tailEnd/>
            </a:ln>
          </p:spPr>
          <p:txBody>
            <a:bodyPr wrap="none" anchor="ctr"/>
            <a:lstStyle/>
            <a:p>
              <a:pPr algn="ctr"/>
              <a:r>
                <a:rPr lang="en-GB"/>
                <a:t>Translation of research </a:t>
              </a:r>
            </a:p>
            <a:p>
              <a:pPr algn="ctr"/>
              <a:r>
                <a:rPr lang="en-GB"/>
                <a:t>‘aims’ into research </a:t>
              </a:r>
            </a:p>
            <a:p>
              <a:pPr algn="ctr"/>
              <a:r>
                <a:rPr lang="en-GB"/>
                <a:t>questions to be answered</a:t>
              </a:r>
            </a:p>
          </p:txBody>
        </p:sp>
        <p:sp>
          <p:nvSpPr>
            <p:cNvPr id="17418" name="Rectangle 111"/>
            <p:cNvSpPr>
              <a:spLocks noChangeArrowheads="1"/>
            </p:cNvSpPr>
            <p:nvPr/>
          </p:nvSpPr>
          <p:spPr bwMode="auto">
            <a:xfrm>
              <a:off x="3969" y="663"/>
              <a:ext cx="1588" cy="771"/>
            </a:xfrm>
            <a:prstGeom prst="rect">
              <a:avLst/>
            </a:prstGeom>
            <a:solidFill>
              <a:schemeClr val="bg1"/>
            </a:solidFill>
            <a:ln w="9525">
              <a:solidFill>
                <a:schemeClr val="tx1"/>
              </a:solidFill>
              <a:miter lim="800000"/>
              <a:headEnd/>
              <a:tailEnd/>
            </a:ln>
          </p:spPr>
          <p:txBody>
            <a:bodyPr wrap="none" anchor="ctr"/>
            <a:lstStyle/>
            <a:p>
              <a:pPr algn="ctr"/>
              <a:r>
                <a:rPr lang="en-GB"/>
                <a:t>Theoretical </a:t>
              </a:r>
            </a:p>
            <a:p>
              <a:pPr algn="ctr"/>
              <a:r>
                <a:rPr lang="en-GB"/>
                <a:t>perspectives in one</a:t>
              </a:r>
            </a:p>
            <a:p>
              <a:pPr algn="ctr"/>
              <a:r>
                <a:rPr lang="en-GB"/>
                <a:t>or more disciplines</a:t>
              </a:r>
            </a:p>
            <a:p>
              <a:pPr algn="ctr"/>
              <a:endParaRPr lang="en-GB"/>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9940"/>
                                        </p:tgtEl>
                                        <p:attrNameLst>
                                          <p:attrName>style.visibility</p:attrName>
                                        </p:attrNameLst>
                                      </p:cBhvr>
                                      <p:to>
                                        <p:strVal val="visible"/>
                                      </p:to>
                                    </p:set>
                                    <p:animEffect transition="in" filter="fade">
                                      <p:cBhvr>
                                        <p:cTn id="7" dur="2000"/>
                                        <p:tgtEl>
                                          <p:spTgt spid="799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9930"/>
                                        </p:tgtEl>
                                        <p:attrNameLst>
                                          <p:attrName>style.visibility</p:attrName>
                                        </p:attrNameLst>
                                      </p:cBhvr>
                                      <p:to>
                                        <p:strVal val="visible"/>
                                      </p:to>
                                    </p:set>
                                    <p:animEffect transition="in" filter="wipe(up)">
                                      <p:cBhvr>
                                        <p:cTn id="12" dur="2000"/>
                                        <p:tgtEl>
                                          <p:spTgt spid="799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2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right)">
                                      <p:cBhvr>
                                        <p:cTn id="22" dur="2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9933"/>
                                        </p:tgtEl>
                                        <p:attrNameLst>
                                          <p:attrName>style.visibility</p:attrName>
                                        </p:attrNameLst>
                                      </p:cBhvr>
                                      <p:to>
                                        <p:strVal val="visible"/>
                                      </p:to>
                                    </p:set>
                                    <p:animEffect transition="in" filter="wipe(down)">
                                      <p:cBhvr>
                                        <p:cTn id="27" dur="500"/>
                                        <p:tgtEl>
                                          <p:spTgt spid="79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30" grpId="0" animBg="1"/>
      <p:bldP spid="79933" grpId="0" animBg="1"/>
      <p:bldP spid="7994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457200" y="0"/>
            <a:ext cx="8362950" cy="333375"/>
          </a:xfrm>
          <a:prstGeom prst="rect">
            <a:avLst/>
          </a:prstGeom>
          <a:noFill/>
          <a:ln w="9525">
            <a:noFill/>
            <a:miter lim="800000"/>
            <a:headEnd/>
            <a:tailEnd/>
          </a:ln>
        </p:spPr>
        <p:txBody>
          <a:bodyPr/>
          <a:lstStyle/>
          <a:p>
            <a:pPr algn="ctr"/>
            <a:r>
              <a:rPr lang="en-GB" sz="1800" b="1">
                <a:solidFill>
                  <a:schemeClr val="tx2"/>
                </a:solidFill>
                <a:latin typeface="Verdana" pitchFamily="34" charset="0"/>
              </a:rPr>
              <a:t>KIPLING AS THE RESEARCHER’S FRIEND</a:t>
            </a:r>
          </a:p>
        </p:txBody>
      </p:sp>
      <p:sp>
        <p:nvSpPr>
          <p:cNvPr id="74757" name="Rectangle 5"/>
          <p:cNvSpPr>
            <a:spLocks noChangeArrowheads="1"/>
          </p:cNvSpPr>
          <p:nvPr/>
        </p:nvSpPr>
        <p:spPr bwMode="auto">
          <a:xfrm>
            <a:off x="323850" y="549275"/>
            <a:ext cx="8496300" cy="2735709"/>
          </a:xfrm>
          <a:prstGeom prst="rect">
            <a:avLst/>
          </a:prstGeom>
          <a:solidFill>
            <a:schemeClr val="bg1"/>
          </a:solidFill>
          <a:ln w="9525">
            <a:solidFill>
              <a:schemeClr val="tx1"/>
            </a:solidFill>
            <a:miter lim="800000"/>
            <a:headEnd/>
            <a:tailEnd/>
          </a:ln>
        </p:spPr>
        <p:txBody>
          <a:bodyPr wrap="none" anchor="ctr"/>
          <a:lstStyle/>
          <a:p>
            <a:r>
              <a:rPr lang="en-GB" b="1" i="1" dirty="0"/>
              <a:t>I keep six honest serving men</a:t>
            </a:r>
          </a:p>
          <a:p>
            <a:endParaRPr lang="en-GB" b="1" i="1" dirty="0"/>
          </a:p>
          <a:p>
            <a:r>
              <a:rPr lang="en-GB" b="1" i="1" dirty="0"/>
              <a:t>They taught me all I knew;</a:t>
            </a:r>
          </a:p>
          <a:p>
            <a:endParaRPr lang="en-GB" b="1" i="1" dirty="0"/>
          </a:p>
          <a:p>
            <a:r>
              <a:rPr lang="en-GB" b="1" i="1" dirty="0"/>
              <a:t>Their names are What and Why and When</a:t>
            </a:r>
          </a:p>
          <a:p>
            <a:endParaRPr lang="en-GB" b="1" i="1" dirty="0"/>
          </a:p>
          <a:p>
            <a:r>
              <a:rPr lang="en-GB" b="1" i="1" dirty="0"/>
              <a:t>And How and Where and Who.</a:t>
            </a:r>
          </a:p>
          <a:p>
            <a:endParaRPr lang="en-GB" b="1" i="1" dirty="0"/>
          </a:p>
          <a:p>
            <a:r>
              <a:rPr lang="en-GB" sz="1400" dirty="0"/>
              <a:t>Rudyard Kipling  (1865 – 1936)</a:t>
            </a:r>
          </a:p>
        </p:txBody>
      </p:sp>
      <p:sp>
        <p:nvSpPr>
          <p:cNvPr id="74758" name="Rectangle 6"/>
          <p:cNvSpPr>
            <a:spLocks noChangeArrowheads="1"/>
          </p:cNvSpPr>
          <p:nvPr/>
        </p:nvSpPr>
        <p:spPr bwMode="auto">
          <a:xfrm>
            <a:off x="323528" y="3501008"/>
            <a:ext cx="8496300" cy="3024187"/>
          </a:xfrm>
          <a:prstGeom prst="rect">
            <a:avLst/>
          </a:prstGeom>
          <a:solidFill>
            <a:schemeClr val="bg1"/>
          </a:solidFill>
          <a:ln w="9525">
            <a:solidFill>
              <a:schemeClr val="tx1"/>
            </a:solidFill>
            <a:miter lim="800000"/>
            <a:headEnd/>
            <a:tailEnd/>
          </a:ln>
        </p:spPr>
        <p:txBody>
          <a:bodyPr wrap="none" anchor="ctr"/>
          <a:lstStyle/>
          <a:p>
            <a:r>
              <a:rPr lang="en-GB" dirty="0"/>
              <a:t>These six words provide </a:t>
            </a:r>
            <a:r>
              <a:rPr lang="en-GB" b="1" dirty="0"/>
              <a:t>a practical template </a:t>
            </a:r>
            <a:r>
              <a:rPr lang="en-GB" dirty="0"/>
              <a:t>from which to interrogate a </a:t>
            </a:r>
          </a:p>
          <a:p>
            <a:r>
              <a:rPr lang="en-GB" dirty="0"/>
              <a:t>prospective research topic to </a:t>
            </a:r>
            <a:r>
              <a:rPr lang="en-GB" i="1" dirty="0">
                <a:solidFill>
                  <a:srgbClr val="FF0000"/>
                </a:solidFill>
              </a:rPr>
              <a:t>clarify what and how it might be investigated</a:t>
            </a:r>
            <a:r>
              <a:rPr lang="en-GB" i="1" dirty="0"/>
              <a:t>.</a:t>
            </a:r>
          </a:p>
          <a:p>
            <a:endParaRPr lang="en-GB" dirty="0"/>
          </a:p>
          <a:p>
            <a:r>
              <a:rPr lang="en-GB" dirty="0"/>
              <a:t>The same questions offer another template to determine </a:t>
            </a:r>
            <a:r>
              <a:rPr lang="en-GB" i="1" dirty="0">
                <a:solidFill>
                  <a:srgbClr val="FF0000"/>
                </a:solidFill>
              </a:rPr>
              <a:t>how the research </a:t>
            </a:r>
          </a:p>
          <a:p>
            <a:r>
              <a:rPr lang="en-GB" i="1" dirty="0">
                <a:solidFill>
                  <a:srgbClr val="FF0000"/>
                </a:solidFill>
              </a:rPr>
              <a:t>should be designed and the fieldwork undertaken.</a:t>
            </a:r>
          </a:p>
          <a:p>
            <a:endParaRPr lang="en-GB" dirty="0"/>
          </a:p>
          <a:p>
            <a:r>
              <a:rPr lang="en-GB" dirty="0"/>
              <a:t>Using the six questions to audit the research process can also check that the </a:t>
            </a:r>
          </a:p>
          <a:p>
            <a:r>
              <a:rPr lang="en-GB" dirty="0"/>
              <a:t>research process is </a:t>
            </a:r>
            <a:r>
              <a:rPr lang="en-GB" i="1" dirty="0">
                <a:solidFill>
                  <a:srgbClr val="FF0000"/>
                </a:solidFill>
              </a:rPr>
              <a:t>internally cohesive and methodologically coherent</a:t>
            </a:r>
            <a:r>
              <a:rPr lang="en-GB" dirty="0"/>
              <a:t>. </a:t>
            </a:r>
          </a:p>
        </p:txBody>
      </p:sp>
      <p:pic>
        <p:nvPicPr>
          <p:cNvPr id="6146" name="Picture 2" descr="http://www.southdowns.gov.uk/__data/assets/image/0008/122777/Rudyard-Kipling.jpg"/>
          <p:cNvPicPr>
            <a:picLocks noChangeAspect="1" noChangeArrowheads="1"/>
          </p:cNvPicPr>
          <p:nvPr/>
        </p:nvPicPr>
        <p:blipFill>
          <a:blip r:embed="rId2" cstate="print"/>
          <a:srcRect/>
          <a:stretch>
            <a:fillRect/>
          </a:stretch>
        </p:blipFill>
        <p:spPr bwMode="auto">
          <a:xfrm>
            <a:off x="5364088" y="620688"/>
            <a:ext cx="2569468" cy="256946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57"/>
                                        </p:tgtEl>
                                        <p:attrNameLst>
                                          <p:attrName>style.visibility</p:attrName>
                                        </p:attrNameLst>
                                      </p:cBhvr>
                                      <p:to>
                                        <p:strVal val="visible"/>
                                      </p:to>
                                    </p:set>
                                    <p:animEffect transition="in" filter="wipe(left)">
                                      <p:cBhvr>
                                        <p:cTn id="7" dur="2000"/>
                                        <p:tgtEl>
                                          <p:spTgt spid="747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58"/>
                                        </p:tgtEl>
                                        <p:attrNameLst>
                                          <p:attrName>style.visibility</p:attrName>
                                        </p:attrNameLst>
                                      </p:cBhvr>
                                      <p:to>
                                        <p:strVal val="visible"/>
                                      </p:to>
                                    </p:set>
                                    <p:animEffect transition="in" filter="wipe(left)">
                                      <p:cBhvr>
                                        <p:cTn id="12" dur="2000"/>
                                        <p:tgtEl>
                                          <p:spTgt spid="74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animBg="1"/>
      <p:bldP spid="7475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179512" y="0"/>
            <a:ext cx="8362950" cy="333375"/>
          </a:xfrm>
          <a:prstGeom prst="rect">
            <a:avLst/>
          </a:prstGeom>
          <a:noFill/>
          <a:ln w="9525">
            <a:noFill/>
            <a:miter lim="800000"/>
            <a:headEnd/>
            <a:tailEnd/>
          </a:ln>
        </p:spPr>
        <p:txBody>
          <a:bodyPr/>
          <a:lstStyle/>
          <a:p>
            <a:r>
              <a:rPr lang="en-GB" sz="1800" b="1" dirty="0">
                <a:solidFill>
                  <a:schemeClr val="tx2"/>
                </a:solidFill>
              </a:rPr>
              <a:t>APPLYING KIPLING’s QUESTIONS TO YOUR RESEARCH DESIGN</a:t>
            </a:r>
          </a:p>
        </p:txBody>
      </p:sp>
      <p:grpSp>
        <p:nvGrpSpPr>
          <p:cNvPr id="2" name="Group 47"/>
          <p:cNvGrpSpPr>
            <a:grpSpLocks/>
          </p:cNvGrpSpPr>
          <p:nvPr/>
        </p:nvGrpSpPr>
        <p:grpSpPr bwMode="auto">
          <a:xfrm>
            <a:off x="250825" y="5373688"/>
            <a:ext cx="8713788" cy="1079500"/>
            <a:chOff x="158" y="3385"/>
            <a:chExt cx="5489" cy="680"/>
          </a:xfrm>
        </p:grpSpPr>
        <p:sp>
          <p:nvSpPr>
            <p:cNvPr id="22533" name="Rectangle 45"/>
            <p:cNvSpPr>
              <a:spLocks noChangeArrowheads="1"/>
            </p:cNvSpPr>
            <p:nvPr/>
          </p:nvSpPr>
          <p:spPr bwMode="auto">
            <a:xfrm>
              <a:off x="158" y="3385"/>
              <a:ext cx="5489" cy="363"/>
            </a:xfrm>
            <a:prstGeom prst="rect">
              <a:avLst/>
            </a:prstGeom>
            <a:solidFill>
              <a:schemeClr val="bg1"/>
            </a:solidFill>
            <a:ln w="57150">
              <a:solidFill>
                <a:schemeClr val="tx1"/>
              </a:solidFill>
              <a:miter lim="800000"/>
              <a:headEnd/>
              <a:tailEnd/>
            </a:ln>
          </p:spPr>
          <p:txBody>
            <a:bodyPr wrap="none" anchor="ctr"/>
            <a:lstStyle/>
            <a:p>
              <a:pPr algn="ctr"/>
              <a:r>
                <a:rPr lang="en-GB" b="1"/>
                <a:t>Answering these questions determines the primary boundary for your research.</a:t>
              </a:r>
            </a:p>
          </p:txBody>
        </p:sp>
        <p:sp>
          <p:nvSpPr>
            <p:cNvPr id="22534" name="Rectangle 46"/>
            <p:cNvSpPr>
              <a:spLocks noChangeArrowheads="1"/>
            </p:cNvSpPr>
            <p:nvPr/>
          </p:nvSpPr>
          <p:spPr bwMode="auto">
            <a:xfrm>
              <a:off x="158" y="3793"/>
              <a:ext cx="2177" cy="272"/>
            </a:xfrm>
            <a:prstGeom prst="rect">
              <a:avLst/>
            </a:prstGeom>
            <a:solidFill>
              <a:srgbClr val="FFFFCC"/>
            </a:solidFill>
            <a:ln w="9525">
              <a:noFill/>
              <a:miter lim="800000"/>
              <a:headEnd/>
              <a:tailEnd/>
            </a:ln>
          </p:spPr>
          <p:txBody>
            <a:bodyPr wrap="none" anchor="ctr"/>
            <a:lstStyle/>
            <a:p>
              <a:pPr algn="ctr"/>
              <a:r>
                <a:rPr lang="en-GB" sz="1400"/>
                <a:t>Source: Trafford and Leshem, 2008: 90-93</a:t>
              </a:r>
            </a:p>
          </p:txBody>
        </p:sp>
      </p:grpSp>
      <p:sp>
        <p:nvSpPr>
          <p:cNvPr id="7" name="TextBox 6"/>
          <p:cNvSpPr txBox="1"/>
          <p:nvPr/>
        </p:nvSpPr>
        <p:spPr>
          <a:xfrm>
            <a:off x="251520" y="548680"/>
            <a:ext cx="8640960" cy="4524315"/>
          </a:xfrm>
          <a:prstGeom prst="rect">
            <a:avLst/>
          </a:prstGeom>
          <a:noFill/>
        </p:spPr>
        <p:txBody>
          <a:bodyPr wrap="square" rtlCol="0">
            <a:spAutoFit/>
          </a:bodyPr>
          <a:lstStyle/>
          <a:p>
            <a:r>
              <a:rPr lang="en-GB" b="1" dirty="0"/>
              <a:t>WHAT</a:t>
            </a:r>
            <a:r>
              <a:rPr lang="en-GB" dirty="0"/>
              <a:t>	is it that you want to discover / prove / disprove?</a:t>
            </a:r>
          </a:p>
          <a:p>
            <a:endParaRPr lang="en-GB" dirty="0"/>
          </a:p>
          <a:p>
            <a:endParaRPr lang="en-GB" dirty="0"/>
          </a:p>
          <a:p>
            <a:r>
              <a:rPr lang="en-GB" b="1" dirty="0"/>
              <a:t>WHY</a:t>
            </a:r>
            <a:r>
              <a:rPr lang="en-GB" dirty="0"/>
              <a:t>	do you want to undertake this research and why is it important?</a:t>
            </a:r>
          </a:p>
          <a:p>
            <a:endParaRPr lang="en-GB" dirty="0"/>
          </a:p>
          <a:p>
            <a:endParaRPr lang="en-GB" dirty="0"/>
          </a:p>
          <a:p>
            <a:r>
              <a:rPr lang="en-GB" b="1" dirty="0"/>
              <a:t>WHEN</a:t>
            </a:r>
            <a:r>
              <a:rPr lang="en-GB" dirty="0"/>
              <a:t>	is the investigation to be conducted and over what period?</a:t>
            </a:r>
          </a:p>
          <a:p>
            <a:endParaRPr lang="en-GB" dirty="0"/>
          </a:p>
          <a:p>
            <a:endParaRPr lang="en-GB" dirty="0"/>
          </a:p>
          <a:p>
            <a:r>
              <a:rPr lang="en-GB" b="1" dirty="0"/>
              <a:t>HOW</a:t>
            </a:r>
            <a:r>
              <a:rPr lang="en-GB" dirty="0"/>
              <a:t>	do you intend to investigate the topic and what choices need to be considered?</a:t>
            </a:r>
          </a:p>
          <a:p>
            <a:endParaRPr lang="en-GB" dirty="0"/>
          </a:p>
          <a:p>
            <a:endParaRPr lang="en-GB" dirty="0"/>
          </a:p>
          <a:p>
            <a:r>
              <a:rPr lang="en-GB" b="1" dirty="0"/>
              <a:t>WHERE</a:t>
            </a:r>
            <a:r>
              <a:rPr lang="en-GB" dirty="0"/>
              <a:t>	is the topic located, where will it be investigated, what issues should be 	considered?</a:t>
            </a:r>
          </a:p>
          <a:p>
            <a:endParaRPr lang="en-GB" dirty="0"/>
          </a:p>
          <a:p>
            <a:r>
              <a:rPr lang="en-GB" b="1" dirty="0"/>
              <a:t>WHO</a:t>
            </a:r>
            <a:r>
              <a:rPr lang="en-GB" dirty="0"/>
              <a:t>	are the respondents, why them and how accessible are they?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
          <p:cNvGrpSpPr>
            <a:grpSpLocks/>
          </p:cNvGrpSpPr>
          <p:nvPr/>
        </p:nvGrpSpPr>
        <p:grpSpPr bwMode="auto">
          <a:xfrm>
            <a:off x="395288" y="4221163"/>
            <a:ext cx="8137525" cy="503237"/>
            <a:chOff x="204" y="2659"/>
            <a:chExt cx="5126" cy="317"/>
          </a:xfrm>
        </p:grpSpPr>
        <p:sp>
          <p:nvSpPr>
            <p:cNvPr id="19485" name="AutoShape 10"/>
            <p:cNvSpPr>
              <a:spLocks noChangeArrowheads="1"/>
            </p:cNvSpPr>
            <p:nvPr/>
          </p:nvSpPr>
          <p:spPr bwMode="auto">
            <a:xfrm>
              <a:off x="204" y="2659"/>
              <a:ext cx="817" cy="317"/>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r>
                <a:rPr lang="en-GB"/>
                <a:t>KIPLING  ???</a:t>
              </a:r>
            </a:p>
          </p:txBody>
        </p:sp>
        <p:sp>
          <p:nvSpPr>
            <p:cNvPr id="19486" name="AutoShape 11"/>
            <p:cNvSpPr>
              <a:spLocks noChangeArrowheads="1"/>
            </p:cNvSpPr>
            <p:nvPr/>
          </p:nvSpPr>
          <p:spPr bwMode="auto">
            <a:xfrm>
              <a:off x="1202" y="2659"/>
              <a:ext cx="817" cy="317"/>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r>
                <a:rPr lang="en-GB"/>
                <a:t>Brainstorm</a:t>
              </a:r>
            </a:p>
          </p:txBody>
        </p:sp>
        <p:sp>
          <p:nvSpPr>
            <p:cNvPr id="19487" name="AutoShape 12"/>
            <p:cNvSpPr>
              <a:spLocks noChangeArrowheads="1"/>
            </p:cNvSpPr>
            <p:nvPr/>
          </p:nvSpPr>
          <p:spPr bwMode="auto">
            <a:xfrm>
              <a:off x="2200" y="2659"/>
              <a:ext cx="817" cy="317"/>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r>
                <a:rPr lang="en-GB"/>
                <a:t>Explore</a:t>
              </a:r>
            </a:p>
            <a:p>
              <a:pPr algn="ctr"/>
              <a:r>
                <a:rPr lang="en-GB"/>
                <a:t>links</a:t>
              </a:r>
            </a:p>
          </p:txBody>
        </p:sp>
        <p:sp>
          <p:nvSpPr>
            <p:cNvPr id="19488" name="AutoShape 13"/>
            <p:cNvSpPr>
              <a:spLocks noChangeArrowheads="1"/>
            </p:cNvSpPr>
            <p:nvPr/>
          </p:nvSpPr>
          <p:spPr bwMode="auto">
            <a:xfrm>
              <a:off x="3198" y="2659"/>
              <a:ext cx="1043" cy="317"/>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r>
                <a:rPr lang="en-GB"/>
                <a:t>IDEA</a:t>
              </a:r>
            </a:p>
            <a:p>
              <a:pPr algn="ctr"/>
              <a:r>
                <a:rPr lang="en-GB"/>
                <a:t>DEVELOPMENT</a:t>
              </a:r>
            </a:p>
          </p:txBody>
        </p:sp>
        <p:sp>
          <p:nvSpPr>
            <p:cNvPr id="19489" name="AutoShape 14"/>
            <p:cNvSpPr>
              <a:spLocks noChangeArrowheads="1"/>
            </p:cNvSpPr>
            <p:nvPr/>
          </p:nvSpPr>
          <p:spPr bwMode="auto">
            <a:xfrm>
              <a:off x="4513" y="2659"/>
              <a:ext cx="817" cy="317"/>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r>
                <a:rPr lang="en-GB"/>
                <a:t>CONCEPTS</a:t>
              </a:r>
            </a:p>
          </p:txBody>
        </p:sp>
      </p:grpSp>
      <p:grpSp>
        <p:nvGrpSpPr>
          <p:cNvPr id="3" name="Group 15"/>
          <p:cNvGrpSpPr>
            <a:grpSpLocks/>
          </p:cNvGrpSpPr>
          <p:nvPr/>
        </p:nvGrpSpPr>
        <p:grpSpPr bwMode="auto">
          <a:xfrm>
            <a:off x="395288" y="3141663"/>
            <a:ext cx="8137525" cy="504825"/>
            <a:chOff x="204" y="1979"/>
            <a:chExt cx="5126" cy="318"/>
          </a:xfrm>
        </p:grpSpPr>
        <p:sp>
          <p:nvSpPr>
            <p:cNvPr id="19480" name="AutoShape 16"/>
            <p:cNvSpPr>
              <a:spLocks noChangeArrowheads="1"/>
            </p:cNvSpPr>
            <p:nvPr/>
          </p:nvSpPr>
          <p:spPr bwMode="auto">
            <a:xfrm>
              <a:off x="4513" y="1979"/>
              <a:ext cx="817" cy="317"/>
            </a:xfrm>
            <a:prstGeom prst="roundRect">
              <a:avLst>
                <a:gd name="adj" fmla="val 16667"/>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r>
                <a:rPr lang="en-GB"/>
                <a:t>FEASIBILITY</a:t>
              </a:r>
            </a:p>
          </p:txBody>
        </p:sp>
        <p:sp>
          <p:nvSpPr>
            <p:cNvPr id="19481" name="AutoShape 17"/>
            <p:cNvSpPr>
              <a:spLocks noChangeArrowheads="1"/>
            </p:cNvSpPr>
            <p:nvPr/>
          </p:nvSpPr>
          <p:spPr bwMode="auto">
            <a:xfrm>
              <a:off x="3198" y="1979"/>
              <a:ext cx="1043" cy="318"/>
            </a:xfrm>
            <a:prstGeom prst="roundRect">
              <a:avLst>
                <a:gd name="adj" fmla="val 16667"/>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r>
                <a:rPr lang="en-GB"/>
                <a:t>LIBRARY</a:t>
              </a:r>
            </a:p>
            <a:p>
              <a:pPr algn="ctr"/>
              <a:r>
                <a:rPr lang="en-GB"/>
                <a:t>SEARCHES</a:t>
              </a:r>
            </a:p>
          </p:txBody>
        </p:sp>
        <p:sp>
          <p:nvSpPr>
            <p:cNvPr id="19482" name="AutoShape 18"/>
            <p:cNvSpPr>
              <a:spLocks noChangeArrowheads="1"/>
            </p:cNvSpPr>
            <p:nvPr/>
          </p:nvSpPr>
          <p:spPr bwMode="auto">
            <a:xfrm>
              <a:off x="2200" y="1979"/>
              <a:ext cx="817" cy="317"/>
            </a:xfrm>
            <a:prstGeom prst="roundRect">
              <a:avLst>
                <a:gd name="adj" fmla="val 16667"/>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r>
                <a:rPr lang="en-GB"/>
                <a:t>Trends</a:t>
              </a:r>
            </a:p>
          </p:txBody>
        </p:sp>
        <p:sp>
          <p:nvSpPr>
            <p:cNvPr id="19483" name="AutoShape 19"/>
            <p:cNvSpPr>
              <a:spLocks noChangeArrowheads="1"/>
            </p:cNvSpPr>
            <p:nvPr/>
          </p:nvSpPr>
          <p:spPr bwMode="auto">
            <a:xfrm>
              <a:off x="1202" y="1979"/>
              <a:ext cx="817" cy="317"/>
            </a:xfrm>
            <a:prstGeom prst="roundRect">
              <a:avLst>
                <a:gd name="adj" fmla="val 16667"/>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r>
                <a:rPr lang="en-GB" dirty="0"/>
                <a:t>Research</a:t>
              </a:r>
            </a:p>
          </p:txBody>
        </p:sp>
        <p:sp>
          <p:nvSpPr>
            <p:cNvPr id="19484" name="AutoShape 20"/>
            <p:cNvSpPr>
              <a:spLocks noChangeArrowheads="1"/>
            </p:cNvSpPr>
            <p:nvPr/>
          </p:nvSpPr>
          <p:spPr bwMode="auto">
            <a:xfrm>
              <a:off x="204" y="1979"/>
              <a:ext cx="817" cy="317"/>
            </a:xfrm>
            <a:prstGeom prst="roundRect">
              <a:avLst>
                <a:gd name="adj" fmla="val 16667"/>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r>
                <a:rPr lang="en-GB" dirty="0"/>
                <a:t>Publications</a:t>
              </a:r>
            </a:p>
          </p:txBody>
        </p:sp>
      </p:grpSp>
      <p:grpSp>
        <p:nvGrpSpPr>
          <p:cNvPr id="4" name="Group 21"/>
          <p:cNvGrpSpPr>
            <a:grpSpLocks/>
          </p:cNvGrpSpPr>
          <p:nvPr/>
        </p:nvGrpSpPr>
        <p:grpSpPr bwMode="auto">
          <a:xfrm>
            <a:off x="395288" y="2060575"/>
            <a:ext cx="8137525" cy="504825"/>
            <a:chOff x="204" y="1298"/>
            <a:chExt cx="5126" cy="318"/>
          </a:xfrm>
        </p:grpSpPr>
        <p:sp>
          <p:nvSpPr>
            <p:cNvPr id="19475" name="AutoShape 22"/>
            <p:cNvSpPr>
              <a:spLocks noChangeArrowheads="1"/>
            </p:cNvSpPr>
            <p:nvPr/>
          </p:nvSpPr>
          <p:spPr bwMode="auto">
            <a:xfrm>
              <a:off x="204" y="1298"/>
              <a:ext cx="817" cy="317"/>
            </a:xfrm>
            <a:prstGeom prst="roundRect">
              <a:avLst>
                <a:gd name="adj" fmla="val 16667"/>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GB" dirty="0"/>
                <a:t>Questions</a:t>
              </a:r>
            </a:p>
          </p:txBody>
        </p:sp>
        <p:sp>
          <p:nvSpPr>
            <p:cNvPr id="19476" name="AutoShape 23"/>
            <p:cNvSpPr>
              <a:spLocks noChangeArrowheads="1"/>
            </p:cNvSpPr>
            <p:nvPr/>
          </p:nvSpPr>
          <p:spPr bwMode="auto">
            <a:xfrm>
              <a:off x="1202" y="1298"/>
              <a:ext cx="817" cy="317"/>
            </a:xfrm>
            <a:prstGeom prst="roundRect">
              <a:avLst>
                <a:gd name="adj" fmla="val 16667"/>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GB"/>
                <a:t>Methods</a:t>
              </a:r>
            </a:p>
          </p:txBody>
        </p:sp>
        <p:sp>
          <p:nvSpPr>
            <p:cNvPr id="19477" name="AutoShape 24"/>
            <p:cNvSpPr>
              <a:spLocks noChangeArrowheads="1"/>
            </p:cNvSpPr>
            <p:nvPr/>
          </p:nvSpPr>
          <p:spPr bwMode="auto">
            <a:xfrm>
              <a:off x="2200" y="1298"/>
              <a:ext cx="817" cy="317"/>
            </a:xfrm>
            <a:prstGeom prst="roundRect">
              <a:avLst>
                <a:gd name="adj" fmla="val 16667"/>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GB"/>
                <a:t>Benefits</a:t>
              </a:r>
            </a:p>
            <a:p>
              <a:pPr algn="ctr"/>
              <a:r>
                <a:rPr lang="en-GB"/>
                <a:t>for you</a:t>
              </a:r>
            </a:p>
          </p:txBody>
        </p:sp>
        <p:sp>
          <p:nvSpPr>
            <p:cNvPr id="19478" name="AutoShape 25"/>
            <p:cNvSpPr>
              <a:spLocks noChangeArrowheads="1"/>
            </p:cNvSpPr>
            <p:nvPr/>
          </p:nvSpPr>
          <p:spPr bwMode="auto">
            <a:xfrm>
              <a:off x="3198" y="1298"/>
              <a:ext cx="1043" cy="318"/>
            </a:xfrm>
            <a:prstGeom prst="roundRect">
              <a:avLst>
                <a:gd name="adj" fmla="val 16667"/>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GB"/>
                <a:t>DRAFT</a:t>
              </a:r>
            </a:p>
            <a:p>
              <a:pPr algn="ctr"/>
              <a:r>
                <a:rPr lang="en-GB"/>
                <a:t>PROPOSAL</a:t>
              </a:r>
            </a:p>
          </p:txBody>
        </p:sp>
        <p:sp>
          <p:nvSpPr>
            <p:cNvPr id="19479" name="AutoShape 26"/>
            <p:cNvSpPr>
              <a:spLocks noChangeArrowheads="1"/>
            </p:cNvSpPr>
            <p:nvPr/>
          </p:nvSpPr>
          <p:spPr bwMode="auto">
            <a:xfrm>
              <a:off x="4513" y="1298"/>
              <a:ext cx="817" cy="318"/>
            </a:xfrm>
            <a:prstGeom prst="roundRect">
              <a:avLst>
                <a:gd name="adj" fmla="val 16667"/>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GB"/>
                <a:t>PLAN</a:t>
              </a:r>
            </a:p>
          </p:txBody>
        </p:sp>
      </p:grpSp>
      <p:sp>
        <p:nvSpPr>
          <p:cNvPr id="19461" name="Rectangle 33"/>
          <p:cNvSpPr>
            <a:spLocks noChangeArrowheads="1"/>
          </p:cNvSpPr>
          <p:nvPr/>
        </p:nvSpPr>
        <p:spPr bwMode="auto">
          <a:xfrm>
            <a:off x="0" y="0"/>
            <a:ext cx="9144000" cy="366713"/>
          </a:xfrm>
          <a:prstGeom prst="rect">
            <a:avLst/>
          </a:prstGeom>
          <a:noFill/>
          <a:ln w="9525">
            <a:noFill/>
            <a:miter lim="800000"/>
            <a:headEnd/>
            <a:tailEnd/>
          </a:ln>
        </p:spPr>
        <p:txBody>
          <a:bodyPr>
            <a:spAutoFit/>
          </a:bodyPr>
          <a:lstStyle/>
          <a:p>
            <a:pPr algn="ctr"/>
            <a:r>
              <a:rPr lang="en-GB" sz="1800" b="1">
                <a:solidFill>
                  <a:schemeClr val="tx2"/>
                </a:solidFill>
              </a:rPr>
              <a:t>PRACTICAL CONSIDERATIONS</a:t>
            </a:r>
          </a:p>
        </p:txBody>
      </p:sp>
      <p:sp>
        <p:nvSpPr>
          <p:cNvPr id="89123" name="AutoShape 35"/>
          <p:cNvSpPr>
            <a:spLocks noChangeArrowheads="1"/>
          </p:cNvSpPr>
          <p:nvPr/>
        </p:nvSpPr>
        <p:spPr bwMode="auto">
          <a:xfrm>
            <a:off x="395288" y="1052513"/>
            <a:ext cx="8137525" cy="647700"/>
          </a:xfrm>
          <a:prstGeom prst="roundRect">
            <a:avLst>
              <a:gd name="adj" fmla="val 16667"/>
            </a:avLst>
          </a:prstGeom>
          <a:solidFill>
            <a:schemeClr val="bg1"/>
          </a:solidFill>
          <a:ln w="9525">
            <a:solidFill>
              <a:schemeClr val="tx1"/>
            </a:solidFill>
            <a:round/>
            <a:headEnd/>
            <a:tailEnd/>
          </a:ln>
        </p:spPr>
        <p:txBody>
          <a:bodyPr wrap="none" anchor="ctr"/>
          <a:lstStyle/>
          <a:p>
            <a:pPr algn="ctr"/>
            <a:r>
              <a:rPr lang="en-GB" b="1" dirty="0"/>
              <a:t>THE CONSIDERATIONS		                  PRODUCT                 STAGES</a:t>
            </a:r>
          </a:p>
        </p:txBody>
      </p:sp>
      <p:grpSp>
        <p:nvGrpSpPr>
          <p:cNvPr id="5" name="Group 45"/>
          <p:cNvGrpSpPr>
            <a:grpSpLocks/>
          </p:cNvGrpSpPr>
          <p:nvPr/>
        </p:nvGrpSpPr>
        <p:grpSpPr bwMode="auto">
          <a:xfrm>
            <a:off x="7667625" y="2636838"/>
            <a:ext cx="431800" cy="2592387"/>
            <a:chOff x="4830" y="1661"/>
            <a:chExt cx="272" cy="1633"/>
          </a:xfrm>
        </p:grpSpPr>
        <p:sp>
          <p:nvSpPr>
            <p:cNvPr id="19472" name="AutoShape 42"/>
            <p:cNvSpPr>
              <a:spLocks noChangeArrowheads="1"/>
            </p:cNvSpPr>
            <p:nvPr/>
          </p:nvSpPr>
          <p:spPr bwMode="auto">
            <a:xfrm>
              <a:off x="4830" y="1661"/>
              <a:ext cx="272" cy="272"/>
            </a:xfrm>
            <a:prstGeom prst="upArrow">
              <a:avLst>
                <a:gd name="adj1" fmla="val 50000"/>
                <a:gd name="adj2" fmla="val 25000"/>
              </a:avLst>
            </a:prstGeom>
            <a:solidFill>
              <a:schemeClr val="hlink"/>
            </a:solidFill>
            <a:ln w="9525">
              <a:solidFill>
                <a:schemeClr val="tx1"/>
              </a:solidFill>
              <a:miter lim="800000"/>
              <a:headEnd/>
              <a:tailEnd/>
            </a:ln>
          </p:spPr>
          <p:txBody>
            <a:bodyPr vert="eaVert" wrap="none" anchor="ctr"/>
            <a:lstStyle/>
            <a:p>
              <a:endParaRPr lang="en-GB"/>
            </a:p>
          </p:txBody>
        </p:sp>
        <p:sp>
          <p:nvSpPr>
            <p:cNvPr id="19473" name="AutoShape 43"/>
            <p:cNvSpPr>
              <a:spLocks noChangeArrowheads="1"/>
            </p:cNvSpPr>
            <p:nvPr/>
          </p:nvSpPr>
          <p:spPr bwMode="auto">
            <a:xfrm>
              <a:off x="4830" y="3022"/>
              <a:ext cx="272" cy="272"/>
            </a:xfrm>
            <a:prstGeom prst="upArrow">
              <a:avLst>
                <a:gd name="adj1" fmla="val 50000"/>
                <a:gd name="adj2" fmla="val 25000"/>
              </a:avLst>
            </a:prstGeom>
            <a:solidFill>
              <a:schemeClr val="hlink"/>
            </a:solidFill>
            <a:ln w="9525">
              <a:solidFill>
                <a:schemeClr val="tx1"/>
              </a:solidFill>
              <a:miter lim="800000"/>
              <a:headEnd/>
              <a:tailEnd/>
            </a:ln>
          </p:spPr>
          <p:txBody>
            <a:bodyPr vert="eaVert" wrap="none" anchor="ctr"/>
            <a:lstStyle/>
            <a:p>
              <a:endParaRPr lang="en-GB"/>
            </a:p>
          </p:txBody>
        </p:sp>
        <p:sp>
          <p:nvSpPr>
            <p:cNvPr id="19474" name="AutoShape 44"/>
            <p:cNvSpPr>
              <a:spLocks noChangeArrowheads="1"/>
            </p:cNvSpPr>
            <p:nvPr/>
          </p:nvSpPr>
          <p:spPr bwMode="auto">
            <a:xfrm>
              <a:off x="4830" y="2341"/>
              <a:ext cx="272" cy="272"/>
            </a:xfrm>
            <a:prstGeom prst="upArrow">
              <a:avLst>
                <a:gd name="adj1" fmla="val 50000"/>
                <a:gd name="adj2" fmla="val 25000"/>
              </a:avLst>
            </a:prstGeom>
            <a:solidFill>
              <a:schemeClr val="hlink"/>
            </a:solidFill>
            <a:ln w="9525">
              <a:solidFill>
                <a:schemeClr val="tx1"/>
              </a:solidFill>
              <a:miter lim="800000"/>
              <a:headEnd/>
              <a:tailEnd/>
            </a:ln>
          </p:spPr>
          <p:txBody>
            <a:bodyPr vert="eaVert" wrap="none" anchor="ctr"/>
            <a:lstStyle/>
            <a:p>
              <a:endParaRPr lang="en-GB"/>
            </a:p>
          </p:txBody>
        </p:sp>
      </p:grpSp>
      <p:grpSp>
        <p:nvGrpSpPr>
          <p:cNvPr id="6" name="Group 108"/>
          <p:cNvGrpSpPr>
            <a:grpSpLocks/>
          </p:cNvGrpSpPr>
          <p:nvPr/>
        </p:nvGrpSpPr>
        <p:grpSpPr bwMode="auto">
          <a:xfrm>
            <a:off x="395288" y="5300663"/>
            <a:ext cx="8137525" cy="936625"/>
            <a:chOff x="249" y="3339"/>
            <a:chExt cx="5126" cy="590"/>
          </a:xfrm>
        </p:grpSpPr>
        <p:grpSp>
          <p:nvGrpSpPr>
            <p:cNvPr id="7" name="Group 101"/>
            <p:cNvGrpSpPr>
              <a:grpSpLocks/>
            </p:cNvGrpSpPr>
            <p:nvPr/>
          </p:nvGrpSpPr>
          <p:grpSpPr bwMode="auto">
            <a:xfrm>
              <a:off x="249" y="3339"/>
              <a:ext cx="5126" cy="318"/>
              <a:chOff x="204" y="3339"/>
              <a:chExt cx="5126" cy="318"/>
            </a:xfrm>
          </p:grpSpPr>
          <p:sp>
            <p:nvSpPr>
              <p:cNvPr id="19467" name="AutoShape 102"/>
              <p:cNvSpPr>
                <a:spLocks noChangeArrowheads="1"/>
              </p:cNvSpPr>
              <p:nvPr/>
            </p:nvSpPr>
            <p:spPr bwMode="auto">
              <a:xfrm>
                <a:off x="4513" y="3339"/>
                <a:ext cx="817" cy="317"/>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GB"/>
                  <a:t>OPTIONS</a:t>
                </a:r>
              </a:p>
            </p:txBody>
          </p:sp>
          <p:sp>
            <p:nvSpPr>
              <p:cNvPr id="19468" name="AutoShape 103"/>
              <p:cNvSpPr>
                <a:spLocks noChangeArrowheads="1"/>
              </p:cNvSpPr>
              <p:nvPr/>
            </p:nvSpPr>
            <p:spPr bwMode="auto">
              <a:xfrm>
                <a:off x="3198" y="3339"/>
                <a:ext cx="1043" cy="318"/>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GB"/>
                  <a:t>INITIAL VIEWS</a:t>
                </a:r>
              </a:p>
            </p:txBody>
          </p:sp>
          <p:sp>
            <p:nvSpPr>
              <p:cNvPr id="19469" name="AutoShape 104"/>
              <p:cNvSpPr>
                <a:spLocks noChangeArrowheads="1"/>
              </p:cNvSpPr>
              <p:nvPr/>
            </p:nvSpPr>
            <p:spPr bwMode="auto">
              <a:xfrm>
                <a:off x="2200" y="3339"/>
                <a:ext cx="817" cy="317"/>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GB"/>
                  <a:t>Reading</a:t>
                </a:r>
              </a:p>
            </p:txBody>
          </p:sp>
          <p:sp>
            <p:nvSpPr>
              <p:cNvPr id="19470" name="AutoShape 105"/>
              <p:cNvSpPr>
                <a:spLocks noChangeArrowheads="1"/>
              </p:cNvSpPr>
              <p:nvPr/>
            </p:nvSpPr>
            <p:spPr bwMode="auto">
              <a:xfrm>
                <a:off x="1202" y="3339"/>
                <a:ext cx="817" cy="317"/>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GB"/>
                  <a:t>YOUR prior</a:t>
                </a:r>
              </a:p>
              <a:p>
                <a:pPr algn="ctr"/>
                <a:r>
                  <a:rPr lang="en-GB"/>
                  <a:t>knowledge</a:t>
                </a:r>
              </a:p>
            </p:txBody>
          </p:sp>
          <p:sp>
            <p:nvSpPr>
              <p:cNvPr id="19471" name="AutoShape 106"/>
              <p:cNvSpPr>
                <a:spLocks noChangeArrowheads="1"/>
              </p:cNvSpPr>
              <p:nvPr/>
            </p:nvSpPr>
            <p:spPr bwMode="auto">
              <a:xfrm>
                <a:off x="204" y="3339"/>
                <a:ext cx="817" cy="317"/>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GB"/>
                  <a:t>Interest</a:t>
                </a:r>
              </a:p>
            </p:txBody>
          </p:sp>
        </p:grpSp>
        <p:sp>
          <p:nvSpPr>
            <p:cNvPr id="19466" name="Rectangle 107"/>
            <p:cNvSpPr>
              <a:spLocks noChangeArrowheads="1"/>
            </p:cNvSpPr>
            <p:nvPr/>
          </p:nvSpPr>
          <p:spPr bwMode="auto">
            <a:xfrm>
              <a:off x="249" y="3748"/>
              <a:ext cx="1316" cy="181"/>
            </a:xfrm>
            <a:prstGeom prst="rect">
              <a:avLst/>
            </a:prstGeom>
            <a:solidFill>
              <a:srgbClr val="FFFFCC"/>
            </a:solidFill>
            <a:ln w="9525">
              <a:noFill/>
              <a:miter lim="800000"/>
              <a:headEnd/>
              <a:tailEnd/>
            </a:ln>
          </p:spPr>
          <p:txBody>
            <a:bodyPr wrap="none" anchor="ctr"/>
            <a:lstStyle/>
            <a:p>
              <a:pPr algn="ctr"/>
              <a:r>
                <a:rPr lang="en-GB" sz="1400"/>
                <a:t>From: White, 2000: 9-19</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123"/>
                                        </p:tgtEl>
                                        <p:attrNameLst>
                                          <p:attrName>style.visibility</p:attrName>
                                        </p:attrNameLst>
                                      </p:cBhvr>
                                      <p:to>
                                        <p:strVal val="visible"/>
                                      </p:to>
                                    </p:set>
                                    <p:animEffect transition="in" filter="wipe(left)">
                                      <p:cBhvr>
                                        <p:cTn id="7" dur="2000"/>
                                        <p:tgtEl>
                                          <p:spTgt spid="891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2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2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2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down)">
                                      <p:cBhvr>
                                        <p:cTn id="3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51520" y="1052736"/>
            <a:ext cx="8712968" cy="541579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 name="Title 1"/>
          <p:cNvSpPr>
            <a:spLocks noGrp="1"/>
          </p:cNvSpPr>
          <p:nvPr>
            <p:ph type="title"/>
          </p:nvPr>
        </p:nvSpPr>
        <p:spPr/>
        <p:txBody>
          <a:bodyPr>
            <a:normAutofit fontScale="90000"/>
          </a:bodyPr>
          <a:lstStyle/>
          <a:p>
            <a:pPr algn="l"/>
            <a:r>
              <a:rPr lang="en-GB" dirty="0"/>
              <a:t>Consider</a:t>
            </a:r>
            <a:br>
              <a:rPr lang="en-GB" dirty="0"/>
            </a:br>
            <a:endParaRPr lang="en-GB" dirty="0"/>
          </a:p>
        </p:txBody>
      </p:sp>
      <p:sp>
        <p:nvSpPr>
          <p:cNvPr id="3" name="Content Placeholder 2"/>
          <p:cNvSpPr>
            <a:spLocks noGrp="1"/>
          </p:cNvSpPr>
          <p:nvPr>
            <p:ph idx="1"/>
          </p:nvPr>
        </p:nvSpPr>
        <p:spPr>
          <a:xfrm>
            <a:off x="721345" y="1268760"/>
            <a:ext cx="8229600" cy="4669979"/>
          </a:xfrm>
        </p:spPr>
        <p:txBody>
          <a:bodyPr>
            <a:noAutofit/>
          </a:bodyPr>
          <a:lstStyle/>
          <a:p>
            <a:pPr>
              <a:buFont typeface="Wingdings" panose="05000000000000000000" pitchFamily="2" charset="2"/>
              <a:buChar char="Ø"/>
            </a:pPr>
            <a:r>
              <a:rPr lang="en-GB" sz="1600" dirty="0"/>
              <a:t>What is the 'gap in knowledge' that your work will address?</a:t>
            </a:r>
          </a:p>
          <a:p>
            <a:pPr marL="0" indent="0">
              <a:buNone/>
            </a:pPr>
            <a:endParaRPr lang="en-GB" sz="1600" dirty="0"/>
          </a:p>
          <a:p>
            <a:pPr>
              <a:buFont typeface="Wingdings" panose="05000000000000000000" pitchFamily="2" charset="2"/>
              <a:buChar char="Ø"/>
            </a:pPr>
            <a:r>
              <a:rPr lang="en-GB" sz="1600" dirty="0"/>
              <a:t>What specifically are you looking for? What are the main questions you want to ask? What about subsidiary questions? Do you want to challenge any assumptions or conclusions of previous research? </a:t>
            </a:r>
          </a:p>
          <a:p>
            <a:pPr marL="0" indent="0">
              <a:buNone/>
            </a:pPr>
            <a:r>
              <a:rPr lang="en-GB" sz="1600" dirty="0"/>
              <a:t> </a:t>
            </a:r>
          </a:p>
          <a:p>
            <a:pPr>
              <a:buFont typeface="Wingdings" panose="05000000000000000000" pitchFamily="2" charset="2"/>
              <a:buChar char="Ø"/>
            </a:pPr>
            <a:r>
              <a:rPr lang="en-GB" sz="1600" dirty="0"/>
              <a:t>What are you seeking to prove?</a:t>
            </a:r>
          </a:p>
          <a:p>
            <a:pPr>
              <a:buFont typeface="Wingdings" panose="05000000000000000000" pitchFamily="2" charset="2"/>
              <a:buChar char="Ø"/>
            </a:pPr>
            <a:endParaRPr lang="en-GB" sz="1600" dirty="0"/>
          </a:p>
          <a:p>
            <a:pPr>
              <a:buFont typeface="Wingdings" panose="05000000000000000000" pitchFamily="2" charset="2"/>
              <a:buChar char="Ø"/>
            </a:pPr>
            <a:r>
              <a:rPr lang="en-GB" sz="1600" dirty="0"/>
              <a:t> What factors will you consider the relationship between?</a:t>
            </a:r>
          </a:p>
          <a:p>
            <a:pPr>
              <a:buFont typeface="Wingdings" panose="05000000000000000000" pitchFamily="2" charset="2"/>
              <a:buChar char="Ø"/>
            </a:pPr>
            <a:endParaRPr lang="en-GB" sz="1600" dirty="0"/>
          </a:p>
          <a:p>
            <a:pPr>
              <a:buFont typeface="Wingdings" panose="05000000000000000000" pitchFamily="2" charset="2"/>
              <a:buChar char="Ø"/>
            </a:pPr>
            <a:r>
              <a:rPr lang="en-GB" sz="1600" dirty="0"/>
              <a:t> What difference will your research make? Why does it ‘matter’?</a:t>
            </a:r>
          </a:p>
          <a:p>
            <a:pPr>
              <a:buFont typeface="Wingdings" panose="05000000000000000000" pitchFamily="2" charset="2"/>
              <a:buChar char="Ø"/>
            </a:pPr>
            <a:endParaRPr lang="en-GB" sz="1600" dirty="0"/>
          </a:p>
          <a:p>
            <a:pPr>
              <a:buFont typeface="Wingdings" panose="05000000000000000000" pitchFamily="2" charset="2"/>
              <a:buChar char="Ø"/>
            </a:pPr>
            <a:r>
              <a:rPr lang="en-GB" sz="1600" dirty="0"/>
              <a:t> Are there any factors that may have a negative impact on your ability to achieve your research objectives?</a:t>
            </a:r>
          </a:p>
          <a:p>
            <a:pPr marL="0" indent="0">
              <a:buNone/>
            </a:pPr>
            <a:r>
              <a:rPr lang="en-GB" sz="1200" dirty="0"/>
              <a:t> </a:t>
            </a:r>
          </a:p>
          <a:p>
            <a:pPr>
              <a:buNone/>
            </a:pPr>
            <a:endParaRPr lang="en-GB"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528" y="1268760"/>
            <a:ext cx="7200800" cy="43204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a:p>
        </p:txBody>
      </p:sp>
      <p:sp>
        <p:nvSpPr>
          <p:cNvPr id="2" name="Title 1"/>
          <p:cNvSpPr>
            <a:spLocks noGrp="1"/>
          </p:cNvSpPr>
          <p:nvPr>
            <p:ph type="title"/>
          </p:nvPr>
        </p:nvSpPr>
        <p:spPr/>
        <p:txBody>
          <a:bodyPr>
            <a:normAutofit/>
          </a:bodyPr>
          <a:lstStyle/>
          <a:p>
            <a:pPr algn="l"/>
            <a:r>
              <a:rPr lang="en-GB" dirty="0"/>
              <a:t> A Possible Outline</a:t>
            </a:r>
          </a:p>
        </p:txBody>
      </p:sp>
      <p:sp>
        <p:nvSpPr>
          <p:cNvPr id="3" name="Content Placeholder 2"/>
          <p:cNvSpPr>
            <a:spLocks noGrp="1"/>
          </p:cNvSpPr>
          <p:nvPr>
            <p:ph idx="1"/>
          </p:nvPr>
        </p:nvSpPr>
        <p:spPr>
          <a:xfrm>
            <a:off x="608353" y="1484784"/>
            <a:ext cx="8229600" cy="4525963"/>
          </a:xfrm>
        </p:spPr>
        <p:txBody>
          <a:bodyPr>
            <a:normAutofit/>
          </a:bodyPr>
          <a:lstStyle/>
          <a:p>
            <a:r>
              <a:rPr lang="en-GB" sz="2800" dirty="0">
                <a:solidFill>
                  <a:srgbClr val="1D1D1D"/>
                </a:solidFill>
                <a:latin typeface="Arial"/>
                <a:ea typeface="Times New Roman"/>
                <a:cs typeface="Times New Roman"/>
              </a:rPr>
              <a:t>A Working Title of the Topic Area</a:t>
            </a:r>
          </a:p>
          <a:p>
            <a:r>
              <a:rPr lang="en-GB" sz="2800" dirty="0">
                <a:solidFill>
                  <a:srgbClr val="1D1D1D"/>
                </a:solidFill>
                <a:latin typeface="Arial"/>
                <a:ea typeface="Times New Roman"/>
                <a:cs typeface="Times New Roman"/>
              </a:rPr>
              <a:t>General Overview of Area</a:t>
            </a:r>
          </a:p>
          <a:p>
            <a:r>
              <a:rPr lang="en-GB" sz="2800" dirty="0">
                <a:solidFill>
                  <a:srgbClr val="1D1D1D"/>
                </a:solidFill>
                <a:latin typeface="Arial"/>
                <a:ea typeface="Times New Roman"/>
                <a:cs typeface="Times New Roman"/>
              </a:rPr>
              <a:t>Identification of the Relevant Literature</a:t>
            </a:r>
          </a:p>
          <a:p>
            <a:r>
              <a:rPr lang="en-GB" sz="2800" dirty="0"/>
              <a:t>Key Research Questions</a:t>
            </a:r>
          </a:p>
          <a:p>
            <a:r>
              <a:rPr lang="en-GB" sz="2800" dirty="0"/>
              <a:t>Methodology</a:t>
            </a:r>
          </a:p>
          <a:p>
            <a:r>
              <a:rPr lang="en-GB" sz="2800" dirty="0"/>
              <a:t>Timescale/Research Planning</a:t>
            </a:r>
          </a:p>
          <a:p>
            <a:r>
              <a:rPr lang="en-GB" sz="2800" dirty="0"/>
              <a:t>Bibliography</a:t>
            </a:r>
          </a:p>
          <a:p>
            <a:pPr marL="0" indent="0">
              <a:buNone/>
            </a:pPr>
            <a:r>
              <a:rPr lang="en-GB" sz="2800" dirty="0"/>
              <a:t>                                            (EG7020 and EG7030)</a:t>
            </a:r>
          </a:p>
          <a:p>
            <a:pPr>
              <a:buNone/>
            </a:pPr>
            <a:endParaRPr lang="en-GB" sz="2800" dirty="0"/>
          </a:p>
          <a:p>
            <a:pPr>
              <a:buNone/>
            </a:pPr>
            <a:endParaRPr lang="en-GB" sz="2800" dirty="0"/>
          </a:p>
          <a:p>
            <a:pPr>
              <a:buNone/>
            </a:pPr>
            <a:endParaRPr lang="en-GB" dirty="0"/>
          </a:p>
          <a:p>
            <a:endParaRPr lang="en-GB" dirty="0"/>
          </a:p>
          <a:p>
            <a:endParaRPr lang="en-GB" dirty="0">
              <a:ea typeface="Calibri"/>
              <a:cs typeface="Times New Roman"/>
            </a:endParaRPr>
          </a:p>
          <a:p>
            <a:endParaRPr lang="en-GB" dirty="0">
              <a:ea typeface="Calibri"/>
              <a:cs typeface="Times New Roman"/>
            </a:endParaRPr>
          </a:p>
          <a:p>
            <a:endParaRPr lang="en-GB" dirty="0">
              <a:ea typeface="Calibri"/>
              <a:cs typeface="Times New Roman"/>
            </a:endParaRPr>
          </a:p>
          <a:p>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9F8E-4AF9-4381-B961-DFB369D7E2A2}"/>
              </a:ext>
            </a:extLst>
          </p:cNvPr>
          <p:cNvSpPr>
            <a:spLocks noGrp="1"/>
          </p:cNvSpPr>
          <p:nvPr>
            <p:ph type="title"/>
          </p:nvPr>
        </p:nvSpPr>
        <p:spPr/>
        <p:txBody>
          <a:bodyPr/>
          <a:lstStyle/>
          <a:p>
            <a:endParaRPr lang="en-GB"/>
          </a:p>
        </p:txBody>
      </p:sp>
      <p:pic>
        <p:nvPicPr>
          <p:cNvPr id="4" name="Content Placeholder 3">
            <a:extLst>
              <a:ext uri="{FF2B5EF4-FFF2-40B4-BE49-F238E27FC236}">
                <a16:creationId xmlns:a16="http://schemas.microsoft.com/office/drawing/2014/main" id="{84EC98BD-043E-428C-BCBD-5D9B54E7BFCC}"/>
              </a:ext>
            </a:extLst>
          </p:cNvPr>
          <p:cNvPicPr>
            <a:picLocks noGrp="1" noChangeAspect="1"/>
          </p:cNvPicPr>
          <p:nvPr>
            <p:ph idx="1"/>
          </p:nvPr>
        </p:nvPicPr>
        <p:blipFill>
          <a:blip r:embed="rId2"/>
          <a:stretch>
            <a:fillRect/>
          </a:stretch>
        </p:blipFill>
        <p:spPr>
          <a:xfrm>
            <a:off x="1187624" y="404664"/>
            <a:ext cx="6409614" cy="63947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85952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259632" y="4544616"/>
            <a:ext cx="6696744" cy="86409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GB"/>
          </a:p>
        </p:txBody>
      </p:sp>
      <p:sp>
        <p:nvSpPr>
          <p:cNvPr id="4" name="Rounded Rectangle 3"/>
          <p:cNvSpPr/>
          <p:nvPr/>
        </p:nvSpPr>
        <p:spPr>
          <a:xfrm>
            <a:off x="1259632" y="2780928"/>
            <a:ext cx="6624736" cy="86409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2" name="Title 1"/>
          <p:cNvSpPr>
            <a:spLocks noGrp="1"/>
          </p:cNvSpPr>
          <p:nvPr>
            <p:ph type="title"/>
          </p:nvPr>
        </p:nvSpPr>
        <p:spPr>
          <a:xfrm>
            <a:off x="539552" y="0"/>
            <a:ext cx="7690048" cy="1143000"/>
          </a:xfrm>
        </p:spPr>
        <p:txBody>
          <a:bodyPr>
            <a:normAutofit/>
          </a:bodyPr>
          <a:lstStyle/>
          <a:p>
            <a:pPr algn="l"/>
            <a:r>
              <a:rPr lang="en-GB" sz="3200" dirty="0">
                <a:solidFill>
                  <a:srgbClr val="1D1D1D"/>
                </a:solidFill>
                <a:latin typeface="Arial"/>
                <a:ea typeface="Times New Roman"/>
                <a:cs typeface="Times New Roman"/>
              </a:rPr>
              <a:t>A Working Title of Topic Area</a:t>
            </a:r>
            <a:endParaRPr lang="en-GB" sz="3200" dirty="0"/>
          </a:p>
        </p:txBody>
      </p:sp>
      <p:sp>
        <p:nvSpPr>
          <p:cNvPr id="3" name="Content Placeholder 2"/>
          <p:cNvSpPr>
            <a:spLocks noGrp="1"/>
          </p:cNvSpPr>
          <p:nvPr>
            <p:ph idx="1"/>
          </p:nvPr>
        </p:nvSpPr>
        <p:spPr>
          <a:xfrm>
            <a:off x="467544" y="899592"/>
            <a:ext cx="8445624" cy="5184576"/>
          </a:xfrm>
        </p:spPr>
        <p:txBody>
          <a:bodyPr>
            <a:noAutofit/>
          </a:bodyPr>
          <a:lstStyle/>
          <a:p>
            <a:r>
              <a:rPr lang="en-GB" sz="1600" dirty="0"/>
              <a:t>Should be:</a:t>
            </a:r>
          </a:p>
          <a:p>
            <a:pPr lvl="1"/>
            <a:r>
              <a:rPr lang="en-GB" sz="1600" dirty="0"/>
              <a:t>Succinct, descriptive, do more than convey just key words associated with proposed research</a:t>
            </a:r>
          </a:p>
          <a:p>
            <a:endParaRPr lang="en-GB" sz="1600" dirty="0"/>
          </a:p>
          <a:p>
            <a:r>
              <a:rPr lang="en-GB" sz="1600" dirty="0"/>
              <a:t>Often titles are stated in terms of a </a:t>
            </a:r>
            <a:r>
              <a:rPr lang="en-GB" sz="1600" b="1" dirty="0"/>
              <a:t>functional relationship</a:t>
            </a:r>
            <a:r>
              <a:rPr lang="en-GB" sz="1600" dirty="0"/>
              <a:t>, because such titles clearly indicate </a:t>
            </a:r>
            <a:r>
              <a:rPr lang="en-GB" sz="1600" b="1" dirty="0"/>
              <a:t>independent and dependent variables</a:t>
            </a:r>
          </a:p>
          <a:p>
            <a:endParaRPr lang="en-GB" sz="1600" dirty="0"/>
          </a:p>
          <a:p>
            <a:pPr>
              <a:buNone/>
            </a:pPr>
            <a:r>
              <a:rPr lang="en-GB" sz="1600" dirty="0"/>
              <a:t>	</a:t>
            </a:r>
            <a:r>
              <a:rPr lang="en-GB" sz="1600" dirty="0" err="1"/>
              <a:t>Eg</a:t>
            </a:r>
            <a:r>
              <a:rPr lang="en-GB" sz="1600" dirty="0"/>
              <a:t> 	</a:t>
            </a:r>
            <a:r>
              <a:rPr lang="en-GB" sz="1600" b="1" i="1" dirty="0"/>
              <a:t>Changing factors for team support in English football:</a:t>
            </a:r>
          </a:p>
          <a:p>
            <a:pPr>
              <a:buNone/>
            </a:pPr>
            <a:r>
              <a:rPr lang="en-GB" sz="1600" b="1" i="1" dirty="0"/>
              <a:t>		How geographic determinants play a role in determining match attendance</a:t>
            </a:r>
            <a:r>
              <a:rPr lang="en-GB" sz="1600" b="1" dirty="0"/>
              <a:t> </a:t>
            </a:r>
          </a:p>
          <a:p>
            <a:endParaRPr lang="en-GB" sz="1600" dirty="0"/>
          </a:p>
          <a:p>
            <a:r>
              <a:rPr lang="en-GB" sz="1600" dirty="0"/>
              <a:t>In some disciplines (</a:t>
            </a:r>
            <a:r>
              <a:rPr lang="en-GB" sz="1600" dirty="0" err="1"/>
              <a:t>eg</a:t>
            </a:r>
            <a:r>
              <a:rPr lang="en-GB" sz="1600" dirty="0"/>
              <a:t> the Humanities) it is common have an informative but catchy title, with a longer more descriptive subtitle:</a:t>
            </a:r>
          </a:p>
          <a:p>
            <a:endParaRPr lang="en-GB" sz="1600" dirty="0"/>
          </a:p>
          <a:p>
            <a:r>
              <a:rPr lang="en-GB" sz="1600" dirty="0" err="1"/>
              <a:t>Eg</a:t>
            </a:r>
            <a:r>
              <a:rPr lang="en-GB" sz="1600" dirty="0"/>
              <a:t>  	</a:t>
            </a:r>
            <a:r>
              <a:rPr lang="en-GB" sz="1600" b="1" dirty="0"/>
              <a:t>‘You Looks Like </a:t>
            </a:r>
            <a:r>
              <a:rPr lang="en-GB" sz="1600" b="1" dirty="0" err="1"/>
              <a:t>Youse</a:t>
            </a:r>
            <a:r>
              <a:rPr lang="en-GB" sz="1600" b="1" dirty="0"/>
              <a:t> </a:t>
            </a:r>
            <a:r>
              <a:rPr lang="en-GB" sz="1600" b="1" dirty="0" err="1"/>
              <a:t>Yo</a:t>
            </a:r>
            <a:r>
              <a:rPr lang="en-GB" sz="1600" b="1" dirty="0"/>
              <a:t>’ Own Daughter’: </a:t>
            </a:r>
          </a:p>
          <a:p>
            <a:pPr>
              <a:buNone/>
            </a:pPr>
            <a:r>
              <a:rPr lang="en-GB" sz="1600" b="1" dirty="0"/>
              <a:t>		Figuring (in)fertility and maternity in </a:t>
            </a:r>
            <a:r>
              <a:rPr lang="en-GB" sz="1600" b="1" i="1" dirty="0"/>
              <a:t>Their Eyes Were Watching God</a:t>
            </a:r>
            <a:endParaRPr lang="en-GB" sz="1600" b="1" dirty="0"/>
          </a:p>
          <a:p>
            <a:endParaRPr lang="en-GB" sz="1600" dirty="0"/>
          </a:p>
          <a:p>
            <a:pPr>
              <a:buNone/>
            </a:pPr>
            <a:r>
              <a:rPr lang="en-GB" sz="1600" dirty="0"/>
              <a:t>So</a:t>
            </a:r>
          </a:p>
          <a:p>
            <a:r>
              <a:rPr lang="en-GB" sz="1600" dirty="0"/>
              <a:t> </a:t>
            </a:r>
            <a:r>
              <a:rPr lang="en-GB" sz="1600" dirty="0">
                <a:solidFill>
                  <a:srgbClr val="FF0000"/>
                </a:solidFill>
              </a:rPr>
              <a:t>short, sharp, and describe what your research is about</a:t>
            </a:r>
          </a:p>
          <a:p>
            <a:r>
              <a:rPr lang="en-GB" sz="1600" dirty="0"/>
              <a:t> it may also be a ‘working title’ that you will revise as your project develops</a:t>
            </a:r>
          </a:p>
          <a:p>
            <a:endParaRPr lang="en-GB"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ChangeArrowheads="1"/>
          </p:cNvSpPr>
          <p:nvPr/>
        </p:nvSpPr>
        <p:spPr bwMode="auto">
          <a:xfrm>
            <a:off x="468313" y="0"/>
            <a:ext cx="8362950" cy="333375"/>
          </a:xfrm>
          <a:prstGeom prst="rect">
            <a:avLst/>
          </a:prstGeom>
          <a:noFill/>
          <a:ln w="9525">
            <a:noFill/>
            <a:miter lim="800000"/>
            <a:headEnd/>
            <a:tailEnd/>
          </a:ln>
        </p:spPr>
        <p:txBody>
          <a:bodyPr/>
          <a:lstStyle/>
          <a:p>
            <a:pPr algn="ctr"/>
            <a:endParaRPr lang="en-GB" sz="1800" b="1" dirty="0">
              <a:solidFill>
                <a:schemeClr val="tx2"/>
              </a:solidFill>
              <a:latin typeface="Verdana" pitchFamily="34" charset="0"/>
            </a:endParaRPr>
          </a:p>
        </p:txBody>
      </p:sp>
      <p:sp>
        <p:nvSpPr>
          <p:cNvPr id="20483" name="Rectangle 6"/>
          <p:cNvSpPr>
            <a:spLocks noChangeArrowheads="1"/>
          </p:cNvSpPr>
          <p:nvPr/>
        </p:nvSpPr>
        <p:spPr bwMode="auto">
          <a:xfrm>
            <a:off x="179388" y="765175"/>
            <a:ext cx="8785225" cy="5111750"/>
          </a:xfrm>
          <a:prstGeom prst="rect">
            <a:avLst/>
          </a:prstGeom>
          <a:solidFill>
            <a:schemeClr val="bg1"/>
          </a:solidFill>
          <a:ln w="9525">
            <a:solidFill>
              <a:schemeClr val="tx1"/>
            </a:solidFill>
            <a:miter lim="800000"/>
            <a:headEnd/>
            <a:tailEnd/>
          </a:ln>
        </p:spPr>
        <p:txBody>
          <a:bodyPr wrap="none" anchor="ctr"/>
          <a:lstStyle/>
          <a:p>
            <a:endParaRPr lang="en-GB"/>
          </a:p>
        </p:txBody>
      </p:sp>
      <p:sp>
        <p:nvSpPr>
          <p:cNvPr id="77831" name="Rectangle 7"/>
          <p:cNvSpPr>
            <a:spLocks noChangeArrowheads="1"/>
          </p:cNvSpPr>
          <p:nvPr/>
        </p:nvSpPr>
        <p:spPr bwMode="auto">
          <a:xfrm>
            <a:off x="250825" y="908050"/>
            <a:ext cx="8642350" cy="936625"/>
          </a:xfrm>
          <a:prstGeom prst="rect">
            <a:avLst/>
          </a:prstGeom>
          <a:solidFill>
            <a:schemeClr val="bg1"/>
          </a:solidFill>
          <a:ln w="9525">
            <a:noFill/>
            <a:miter lim="800000"/>
            <a:headEnd/>
            <a:tailEnd/>
          </a:ln>
        </p:spPr>
        <p:txBody>
          <a:bodyPr wrap="none" anchor="ctr"/>
          <a:lstStyle/>
          <a:p>
            <a:r>
              <a:rPr lang="en-GB" sz="1800" b="1"/>
              <a:t>CLEAR</a:t>
            </a:r>
            <a:r>
              <a:rPr lang="en-GB" sz="1800"/>
              <a:t>	</a:t>
            </a:r>
          </a:p>
          <a:p>
            <a:r>
              <a:rPr lang="en-GB" sz="1800"/>
              <a:t>They are unambiguous and easily understood.</a:t>
            </a:r>
          </a:p>
        </p:txBody>
      </p:sp>
      <p:sp>
        <p:nvSpPr>
          <p:cNvPr id="77832" name="Rectangle 8"/>
          <p:cNvSpPr>
            <a:spLocks noChangeArrowheads="1"/>
          </p:cNvSpPr>
          <p:nvPr/>
        </p:nvSpPr>
        <p:spPr bwMode="auto">
          <a:xfrm>
            <a:off x="250825" y="2781300"/>
            <a:ext cx="8642350" cy="1008063"/>
          </a:xfrm>
          <a:prstGeom prst="rect">
            <a:avLst/>
          </a:prstGeom>
          <a:solidFill>
            <a:schemeClr val="bg1"/>
          </a:solidFill>
          <a:ln w="9525">
            <a:noFill/>
            <a:miter lim="800000"/>
            <a:headEnd/>
            <a:tailEnd/>
          </a:ln>
        </p:spPr>
        <p:txBody>
          <a:bodyPr wrap="none" anchor="ctr"/>
          <a:lstStyle/>
          <a:p>
            <a:r>
              <a:rPr lang="en-GB" sz="1800" b="1"/>
              <a:t>ANSWERABLE</a:t>
            </a:r>
            <a:r>
              <a:rPr lang="en-GB" sz="1800"/>
              <a:t>    </a:t>
            </a:r>
          </a:p>
          <a:p>
            <a:r>
              <a:rPr lang="en-GB" sz="1800"/>
              <a:t>It is possible to see what data are needed to answer the question ~ and how </a:t>
            </a:r>
          </a:p>
          <a:p>
            <a:r>
              <a:rPr lang="en-GB" sz="1800"/>
              <a:t>those data will be collected.   </a:t>
            </a:r>
          </a:p>
        </p:txBody>
      </p:sp>
      <p:sp>
        <p:nvSpPr>
          <p:cNvPr id="77833" name="Rectangle 9"/>
          <p:cNvSpPr>
            <a:spLocks noChangeArrowheads="1"/>
          </p:cNvSpPr>
          <p:nvPr/>
        </p:nvSpPr>
        <p:spPr bwMode="auto">
          <a:xfrm>
            <a:off x="250825" y="1773238"/>
            <a:ext cx="8642350" cy="935037"/>
          </a:xfrm>
          <a:prstGeom prst="rect">
            <a:avLst/>
          </a:prstGeom>
          <a:solidFill>
            <a:schemeClr val="bg1"/>
          </a:solidFill>
          <a:ln w="9525">
            <a:noFill/>
            <a:miter lim="800000"/>
            <a:headEnd/>
            <a:tailEnd/>
          </a:ln>
        </p:spPr>
        <p:txBody>
          <a:bodyPr wrap="none" anchor="ctr"/>
          <a:lstStyle/>
          <a:p>
            <a:r>
              <a:rPr lang="en-GB" sz="1800" b="1"/>
              <a:t>SPECIFIC</a:t>
            </a:r>
            <a:r>
              <a:rPr lang="en-GB" sz="1800"/>
              <a:t>      </a:t>
            </a:r>
          </a:p>
          <a:p>
            <a:r>
              <a:rPr lang="en-GB" sz="1800"/>
              <a:t>They are sufficiently specific for it to be clear what constitutes an answer.</a:t>
            </a:r>
          </a:p>
        </p:txBody>
      </p:sp>
      <p:sp>
        <p:nvSpPr>
          <p:cNvPr id="77834" name="Rectangle 10"/>
          <p:cNvSpPr>
            <a:spLocks noChangeArrowheads="1"/>
          </p:cNvSpPr>
          <p:nvPr/>
        </p:nvSpPr>
        <p:spPr bwMode="auto">
          <a:xfrm>
            <a:off x="250825" y="3860800"/>
            <a:ext cx="8642350" cy="936625"/>
          </a:xfrm>
          <a:prstGeom prst="rect">
            <a:avLst/>
          </a:prstGeom>
          <a:solidFill>
            <a:schemeClr val="bg1"/>
          </a:solidFill>
          <a:ln w="9525">
            <a:noFill/>
            <a:miter lim="800000"/>
            <a:headEnd/>
            <a:tailEnd/>
          </a:ln>
        </p:spPr>
        <p:txBody>
          <a:bodyPr wrap="none" anchor="ctr"/>
          <a:lstStyle/>
          <a:p>
            <a:r>
              <a:rPr lang="en-GB" sz="1800" b="1"/>
              <a:t>INTERCONNECTED</a:t>
            </a:r>
            <a:r>
              <a:rPr lang="en-GB" sz="1800"/>
              <a:t>    </a:t>
            </a:r>
          </a:p>
          <a:p>
            <a:r>
              <a:rPr lang="en-GB" sz="1800"/>
              <a:t>The questions relate in meaningful ways, forming a checkable and coherent whole. </a:t>
            </a:r>
          </a:p>
        </p:txBody>
      </p:sp>
      <p:grpSp>
        <p:nvGrpSpPr>
          <p:cNvPr id="2" name="Group 16"/>
          <p:cNvGrpSpPr>
            <a:grpSpLocks/>
          </p:cNvGrpSpPr>
          <p:nvPr/>
        </p:nvGrpSpPr>
        <p:grpSpPr bwMode="auto">
          <a:xfrm>
            <a:off x="179388" y="4797425"/>
            <a:ext cx="8713787" cy="1800225"/>
            <a:chOff x="113" y="3022"/>
            <a:chExt cx="5489" cy="1134"/>
          </a:xfrm>
        </p:grpSpPr>
        <p:sp>
          <p:nvSpPr>
            <p:cNvPr id="20489" name="Rectangle 14"/>
            <p:cNvSpPr>
              <a:spLocks noChangeArrowheads="1"/>
            </p:cNvSpPr>
            <p:nvPr/>
          </p:nvSpPr>
          <p:spPr bwMode="auto">
            <a:xfrm>
              <a:off x="158" y="3022"/>
              <a:ext cx="5444" cy="636"/>
            </a:xfrm>
            <a:prstGeom prst="rect">
              <a:avLst/>
            </a:prstGeom>
            <a:solidFill>
              <a:schemeClr val="bg1"/>
            </a:solidFill>
            <a:ln w="9525">
              <a:noFill/>
              <a:miter lim="800000"/>
              <a:headEnd/>
              <a:tailEnd/>
            </a:ln>
          </p:spPr>
          <p:txBody>
            <a:bodyPr wrap="none" anchor="ctr"/>
            <a:lstStyle/>
            <a:p>
              <a:r>
                <a:rPr lang="en-GB" sz="1800" b="1"/>
                <a:t>SUBSTANTIALLY RELEVANT</a:t>
              </a:r>
              <a:r>
                <a:rPr lang="en-GB" sz="1800"/>
                <a:t>  </a:t>
              </a:r>
            </a:p>
            <a:p>
              <a:r>
                <a:rPr lang="en-GB" sz="1800"/>
                <a:t>They are worthwhile ~ non-trivial questions worthy of the research effort that </a:t>
              </a:r>
            </a:p>
            <a:p>
              <a:r>
                <a:rPr lang="en-GB" sz="1800"/>
                <a:t>will be expended.  </a:t>
              </a:r>
            </a:p>
          </p:txBody>
        </p:sp>
        <p:sp>
          <p:nvSpPr>
            <p:cNvPr id="20490" name="Rectangle 15"/>
            <p:cNvSpPr>
              <a:spLocks noChangeArrowheads="1"/>
            </p:cNvSpPr>
            <p:nvPr/>
          </p:nvSpPr>
          <p:spPr bwMode="auto">
            <a:xfrm>
              <a:off x="113" y="3748"/>
              <a:ext cx="1497" cy="408"/>
            </a:xfrm>
            <a:prstGeom prst="rect">
              <a:avLst/>
            </a:prstGeom>
            <a:solidFill>
              <a:srgbClr val="FFFFCC"/>
            </a:solidFill>
            <a:ln w="9525">
              <a:noFill/>
              <a:miter lim="800000"/>
              <a:headEnd/>
              <a:tailEnd/>
            </a:ln>
          </p:spPr>
          <p:txBody>
            <a:bodyPr wrap="none" anchor="ctr"/>
            <a:lstStyle/>
            <a:p>
              <a:r>
                <a:rPr lang="en-GB"/>
                <a:t>Source:  Punch, 1998:49</a:t>
              </a:r>
            </a:p>
          </p:txBody>
        </p:sp>
      </p:grpSp>
      <p:sp>
        <p:nvSpPr>
          <p:cNvPr id="11" name="TextBox 10"/>
          <p:cNvSpPr txBox="1"/>
          <p:nvPr/>
        </p:nvSpPr>
        <p:spPr>
          <a:xfrm>
            <a:off x="179512" y="0"/>
            <a:ext cx="7920880" cy="646331"/>
          </a:xfrm>
          <a:prstGeom prst="rect">
            <a:avLst/>
          </a:prstGeom>
          <a:noFill/>
        </p:spPr>
        <p:txBody>
          <a:bodyPr wrap="square" rtlCol="0">
            <a:spAutoFit/>
          </a:bodyPr>
          <a:lstStyle/>
          <a:p>
            <a:r>
              <a:rPr lang="en-GB" sz="3600" dirty="0"/>
              <a:t>Research Questions should be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831"/>
                                        </p:tgtEl>
                                        <p:attrNameLst>
                                          <p:attrName>style.visibility</p:attrName>
                                        </p:attrNameLst>
                                      </p:cBhvr>
                                      <p:to>
                                        <p:strVal val="visible"/>
                                      </p:to>
                                    </p:set>
                                    <p:animEffect transition="in" filter="wipe(left)">
                                      <p:cBhvr>
                                        <p:cTn id="7" dur="2000"/>
                                        <p:tgtEl>
                                          <p:spTgt spid="778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833"/>
                                        </p:tgtEl>
                                        <p:attrNameLst>
                                          <p:attrName>style.visibility</p:attrName>
                                        </p:attrNameLst>
                                      </p:cBhvr>
                                      <p:to>
                                        <p:strVal val="visible"/>
                                      </p:to>
                                    </p:set>
                                    <p:animEffect transition="in" filter="wipe(left)">
                                      <p:cBhvr>
                                        <p:cTn id="12" dur="2000"/>
                                        <p:tgtEl>
                                          <p:spTgt spid="778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7832"/>
                                        </p:tgtEl>
                                        <p:attrNameLst>
                                          <p:attrName>style.visibility</p:attrName>
                                        </p:attrNameLst>
                                      </p:cBhvr>
                                      <p:to>
                                        <p:strVal val="visible"/>
                                      </p:to>
                                    </p:set>
                                    <p:animEffect transition="in" filter="wipe(left)">
                                      <p:cBhvr>
                                        <p:cTn id="17" dur="2000"/>
                                        <p:tgtEl>
                                          <p:spTgt spid="778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7834"/>
                                        </p:tgtEl>
                                        <p:attrNameLst>
                                          <p:attrName>style.visibility</p:attrName>
                                        </p:attrNameLst>
                                      </p:cBhvr>
                                      <p:to>
                                        <p:strVal val="visible"/>
                                      </p:to>
                                    </p:set>
                                    <p:animEffect transition="in" filter="wipe(left)">
                                      <p:cBhvr>
                                        <p:cTn id="22" dur="2000"/>
                                        <p:tgtEl>
                                          <p:spTgt spid="778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1" grpId="0" animBg="1"/>
      <p:bldP spid="77832" grpId="0" animBg="1"/>
      <p:bldP spid="77833" grpId="0" animBg="1"/>
      <p:bldP spid="7783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1D1D1D"/>
                </a:solidFill>
                <a:latin typeface="Arial"/>
                <a:ea typeface="Times New Roman"/>
                <a:cs typeface="Times New Roman"/>
              </a:rPr>
              <a:t>A Working Title of the Topic Area</a:t>
            </a:r>
            <a:endParaRPr lang="en-GB" dirty="0"/>
          </a:p>
        </p:txBody>
      </p:sp>
      <p:sp>
        <p:nvSpPr>
          <p:cNvPr id="4" name="Content Placeholder 3"/>
          <p:cNvSpPr>
            <a:spLocks noGrp="1"/>
          </p:cNvSpPr>
          <p:nvPr>
            <p:ph idx="1"/>
          </p:nvPr>
        </p:nvSpPr>
        <p:spPr>
          <a:xfrm>
            <a:off x="457200" y="1600200"/>
            <a:ext cx="8686800" cy="4525963"/>
          </a:xfrm>
        </p:spPr>
        <p:txBody>
          <a:bodyPr/>
          <a:lstStyle/>
          <a:p>
            <a:r>
              <a:rPr lang="en-GB" sz="2000" dirty="0">
                <a:solidFill>
                  <a:srgbClr val="FF0000"/>
                </a:solidFill>
              </a:rPr>
              <a:t>Title should serve as a mini-abstract of your investigation</a:t>
            </a:r>
          </a:p>
          <a:p>
            <a:r>
              <a:rPr lang="en-GB" sz="2000" dirty="0"/>
              <a:t> So put the most important words first.</a:t>
            </a:r>
          </a:p>
          <a:p>
            <a:r>
              <a:rPr lang="en-GB" sz="2000" dirty="0" err="1"/>
              <a:t>Eg</a:t>
            </a:r>
            <a:endParaRPr lang="en-GB" sz="2000" dirty="0"/>
          </a:p>
          <a:p>
            <a:r>
              <a:rPr lang="en-GB" sz="2000" dirty="0"/>
              <a:t>"</a:t>
            </a:r>
            <a:r>
              <a:rPr lang="en-GB" sz="2400" i="1" dirty="0"/>
              <a:t>Left-handedness in students and its relationship to learning preferences</a:t>
            </a:r>
            <a:r>
              <a:rPr lang="en-GB" sz="2000" dirty="0"/>
              <a:t>“</a:t>
            </a:r>
          </a:p>
          <a:p>
            <a:pPr lvl="1"/>
            <a:r>
              <a:rPr lang="en-GB" sz="1600" dirty="0"/>
              <a:t> implies that the focus will be on "left-</a:t>
            </a:r>
            <a:r>
              <a:rPr lang="en-GB" sz="1600" dirty="0" err="1"/>
              <a:t>handness</a:t>
            </a:r>
            <a:r>
              <a:rPr lang="en-GB" sz="1600" dirty="0"/>
              <a:t>."</a:t>
            </a:r>
          </a:p>
          <a:p>
            <a:pPr>
              <a:buNone/>
            </a:pPr>
            <a:r>
              <a:rPr lang="en-GB" sz="2000" dirty="0"/>
              <a:t>But</a:t>
            </a:r>
          </a:p>
          <a:p>
            <a:r>
              <a:rPr lang="en-GB" sz="2000" dirty="0"/>
              <a:t>"</a:t>
            </a:r>
            <a:r>
              <a:rPr lang="en-GB" sz="2400" i="1" dirty="0"/>
              <a:t>Learning preferences in students and the connection to left-handedness</a:t>
            </a:r>
            <a:r>
              <a:rPr lang="en-GB" sz="2000" dirty="0"/>
              <a:t>" </a:t>
            </a:r>
          </a:p>
          <a:p>
            <a:pPr lvl="1"/>
            <a:r>
              <a:rPr lang="en-GB" sz="1600" dirty="0"/>
              <a:t> implies that the focus will be on "learning preferences."</a:t>
            </a:r>
          </a:p>
          <a:p>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1143000"/>
          </a:xfrm>
        </p:spPr>
        <p:txBody>
          <a:bodyPr/>
          <a:lstStyle/>
          <a:p>
            <a:r>
              <a:rPr lang="en-GB" dirty="0">
                <a:solidFill>
                  <a:srgbClr val="1D1D1D"/>
                </a:solidFill>
                <a:latin typeface="Arial"/>
                <a:ea typeface="Times New Roman"/>
                <a:cs typeface="Times New Roman"/>
              </a:rPr>
              <a:t>A Working Title of the Topic Area</a:t>
            </a:r>
            <a:endParaRPr lang="en-GB" dirty="0"/>
          </a:p>
        </p:txBody>
      </p:sp>
      <p:sp>
        <p:nvSpPr>
          <p:cNvPr id="4" name="Content Placeholder 3"/>
          <p:cNvSpPr>
            <a:spLocks noGrp="1"/>
          </p:cNvSpPr>
          <p:nvPr>
            <p:ph idx="1"/>
          </p:nvPr>
        </p:nvSpPr>
        <p:spPr>
          <a:xfrm>
            <a:off x="467544" y="1124744"/>
            <a:ext cx="8424936" cy="5256584"/>
          </a:xfrm>
        </p:spPr>
        <p:txBody>
          <a:bodyPr>
            <a:normAutofit/>
          </a:bodyPr>
          <a:lstStyle/>
          <a:p>
            <a:r>
              <a:rPr lang="en-GB" sz="2000" i="1" dirty="0">
                <a:solidFill>
                  <a:srgbClr val="FF0000"/>
                </a:solidFill>
              </a:rPr>
              <a:t>Craft your title. Make every word the right word and every word count:</a:t>
            </a:r>
            <a:endParaRPr lang="en-GB" sz="2000" dirty="0"/>
          </a:p>
          <a:p>
            <a:pPr>
              <a:lnSpc>
                <a:spcPct val="150000"/>
              </a:lnSpc>
            </a:pPr>
            <a:r>
              <a:rPr lang="en-GB" sz="2000" b="1" dirty="0"/>
              <a:t>A linguistic analysis of slang used in Eminem album song lyrics </a:t>
            </a:r>
          </a:p>
          <a:p>
            <a:pPr>
              <a:lnSpc>
                <a:spcPct val="150000"/>
              </a:lnSpc>
            </a:pPr>
            <a:r>
              <a:rPr lang="en-GB" sz="2000" b="1" dirty="0"/>
              <a:t>A study of the role of cultural materials in contemporary graphic design</a:t>
            </a:r>
          </a:p>
          <a:p>
            <a:r>
              <a:rPr lang="en-GB" sz="2000" b="1" dirty="0">
                <a:latin typeface="GillSansStd-Bold"/>
              </a:rPr>
              <a:t>The Relationship Between Self-Efficacy and Help Evasion </a:t>
            </a:r>
          </a:p>
          <a:p>
            <a:r>
              <a:rPr lang="en-GB" sz="2000" b="1" dirty="0"/>
              <a:t>‘Do you want extra veg with that?’: </a:t>
            </a:r>
            <a:r>
              <a:rPr lang="en-GB" sz="2000" b="1" dirty="0">
                <a:latin typeface="AdvOT596495f2"/>
              </a:rPr>
              <a:t>Two observational studies examining the e</a:t>
            </a:r>
            <a:r>
              <a:rPr lang="en-GB" sz="2000" b="1" dirty="0">
                <a:latin typeface="AdvOT596495f2+fb"/>
              </a:rPr>
              <a:t>ff</a:t>
            </a:r>
            <a:r>
              <a:rPr lang="en-GB" sz="2000" b="1" dirty="0">
                <a:latin typeface="AdvOT596495f2"/>
              </a:rPr>
              <a:t>ect of a social norm and a health message on the purchase of vegetables in student canteen settings</a:t>
            </a:r>
          </a:p>
          <a:p>
            <a:r>
              <a:rPr lang="en-GB" sz="2000" b="1" dirty="0">
                <a:latin typeface="AdvOT863180fb"/>
              </a:rPr>
              <a:t>Assessing the determinants of internet banking adoption intentions: A</a:t>
            </a:r>
          </a:p>
          <a:p>
            <a:pPr marL="0" indent="0">
              <a:buNone/>
            </a:pPr>
            <a:r>
              <a:rPr lang="en-GB" sz="2000" b="1" dirty="0">
                <a:latin typeface="AdvOT863180fb"/>
              </a:rPr>
              <a:t>      social cognitive theory perspective</a:t>
            </a:r>
            <a:endParaRPr lang="en-GB" sz="2000" b="1" dirty="0">
              <a:latin typeface="AdvOT596495f2"/>
            </a:endParaRPr>
          </a:p>
          <a:p>
            <a:pPr>
              <a:lnSpc>
                <a:spcPct val="150000"/>
              </a:lnSpc>
            </a:pPr>
            <a:r>
              <a:rPr lang="en-GB" sz="2000" b="1" dirty="0"/>
              <a:t>The effects of oestrogen, alcohol, and age on the </a:t>
            </a:r>
          </a:p>
          <a:p>
            <a:pPr>
              <a:lnSpc>
                <a:spcPct val="150000"/>
              </a:lnSpc>
              <a:buNone/>
            </a:pPr>
            <a:r>
              <a:rPr lang="en-GB" sz="2000" b="1" dirty="0"/>
              <a:t>	</a:t>
            </a:r>
            <a:r>
              <a:rPr lang="en-GB" sz="2000" b="1" dirty="0" err="1"/>
              <a:t>astrocytes</a:t>
            </a:r>
            <a:r>
              <a:rPr lang="en-GB" sz="2000" b="1" dirty="0"/>
              <a:t> in female rats following an </a:t>
            </a:r>
          </a:p>
          <a:p>
            <a:pPr>
              <a:lnSpc>
                <a:spcPct val="150000"/>
              </a:lnSpc>
              <a:buNone/>
            </a:pPr>
            <a:r>
              <a:rPr lang="en-GB" sz="2000" b="1" dirty="0"/>
              <a:t>	inflammatory stimulus</a:t>
            </a:r>
          </a:p>
          <a:p>
            <a:pPr>
              <a:buNone/>
            </a:pPr>
            <a:endParaRPr lang="en-GB" sz="2000" dirty="0"/>
          </a:p>
        </p:txBody>
      </p:sp>
      <p:pic>
        <p:nvPicPr>
          <p:cNvPr id="21508" name="Picture 4" descr="http://www.zanzino.com/media/catalog/product/cache/1/image/360x/9df78eab33525d08d6e5fb8d27136e95/b/k/bksy402.jpg"/>
          <p:cNvPicPr>
            <a:picLocks noChangeAspect="1" noChangeArrowheads="1"/>
          </p:cNvPicPr>
          <p:nvPr/>
        </p:nvPicPr>
        <p:blipFill>
          <a:blip r:embed="rId3" cstate="print">
            <a:duotone>
              <a:prstClr val="black"/>
              <a:schemeClr val="accent2">
                <a:tint val="45000"/>
                <a:satMod val="400000"/>
              </a:schemeClr>
            </a:duotone>
          </a:blip>
          <a:srcRect/>
          <a:stretch>
            <a:fillRect/>
          </a:stretch>
        </p:blipFill>
        <p:spPr bwMode="auto">
          <a:xfrm>
            <a:off x="6300192" y="4365104"/>
            <a:ext cx="2348880" cy="234888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GB" sz="3600" dirty="0">
                <a:solidFill>
                  <a:schemeClr val="accent1"/>
                </a:solidFill>
              </a:rPr>
              <a:t>Appropriacy and Accuracy: Making Assumptions</a:t>
            </a:r>
          </a:p>
        </p:txBody>
      </p:sp>
      <p:sp>
        <p:nvSpPr>
          <p:cNvPr id="3" name="Content Placeholder 2"/>
          <p:cNvSpPr>
            <a:spLocks noGrp="1"/>
          </p:cNvSpPr>
          <p:nvPr>
            <p:ph idx="1"/>
          </p:nvPr>
        </p:nvSpPr>
        <p:spPr>
          <a:xfrm>
            <a:off x="457200" y="1196752"/>
            <a:ext cx="8229600" cy="2088232"/>
          </a:xfrm>
        </p:spPr>
        <p:txBody>
          <a:bodyPr>
            <a:normAutofit fontScale="62500" lnSpcReduction="20000"/>
          </a:bodyPr>
          <a:lstStyle/>
          <a:p>
            <a:pPr>
              <a:buNone/>
            </a:pPr>
            <a:endParaRPr lang="en-GB" dirty="0"/>
          </a:p>
          <a:p>
            <a:r>
              <a:rPr lang="en-GB" sz="2900" b="1" i="1" dirty="0"/>
              <a:t>How gifted children aren’t having their needs met in schools.</a:t>
            </a:r>
          </a:p>
          <a:p>
            <a:endParaRPr lang="en-GB" sz="2900" b="1" i="1" dirty="0"/>
          </a:p>
          <a:p>
            <a:r>
              <a:rPr lang="en-GB" sz="2900" b="1" i="1" dirty="0"/>
              <a:t>An investigation into the problems of children whose mothers work full-time.</a:t>
            </a:r>
          </a:p>
          <a:p>
            <a:pPr>
              <a:buNone/>
            </a:pPr>
            <a:br>
              <a:rPr lang="en-GB" b="1" dirty="0"/>
            </a:br>
            <a:endParaRPr lang="en-GB" b="1" dirty="0"/>
          </a:p>
        </p:txBody>
      </p:sp>
      <p:sp>
        <p:nvSpPr>
          <p:cNvPr id="4" name="TextBox 3"/>
          <p:cNvSpPr txBox="1"/>
          <p:nvPr/>
        </p:nvSpPr>
        <p:spPr>
          <a:xfrm>
            <a:off x="457200" y="2996952"/>
            <a:ext cx="7920880" cy="3693319"/>
          </a:xfrm>
          <a:prstGeom prst="rect">
            <a:avLst/>
          </a:prstGeom>
          <a:noFill/>
        </p:spPr>
        <p:txBody>
          <a:bodyPr wrap="square" rtlCol="0">
            <a:spAutoFit/>
          </a:bodyPr>
          <a:lstStyle/>
          <a:p>
            <a:pPr>
              <a:buFont typeface="Arial" pitchFamily="34" charset="0"/>
              <a:buChar char="•"/>
            </a:pPr>
            <a:r>
              <a:rPr lang="en-GB" dirty="0"/>
              <a:t>     These questions </a:t>
            </a:r>
            <a:r>
              <a:rPr lang="en-GB" b="1" dirty="0"/>
              <a:t>make assumptions</a:t>
            </a:r>
            <a:r>
              <a:rPr lang="en-GB" dirty="0"/>
              <a:t>, the outcomes of which have already been    decided</a:t>
            </a:r>
          </a:p>
          <a:p>
            <a:pPr>
              <a:buFont typeface="Arial" pitchFamily="34" charset="0"/>
              <a:buChar char="•"/>
            </a:pPr>
            <a:endParaRPr lang="en-GB" dirty="0"/>
          </a:p>
          <a:p>
            <a:pPr>
              <a:buFont typeface="Arial" pitchFamily="34" charset="0"/>
              <a:buChar char="•"/>
            </a:pPr>
            <a:r>
              <a:rPr lang="en-GB" dirty="0"/>
              <a:t>     Therefore need to be </a:t>
            </a:r>
            <a:r>
              <a:rPr lang="en-GB" dirty="0">
                <a:solidFill>
                  <a:srgbClr val="FF0000"/>
                </a:solidFill>
              </a:rPr>
              <a:t>reframed more objectively</a:t>
            </a:r>
          </a:p>
          <a:p>
            <a:r>
              <a:rPr lang="en-GB" dirty="0" err="1"/>
              <a:t>eg</a:t>
            </a:r>
            <a:endParaRPr lang="en-GB" dirty="0"/>
          </a:p>
          <a:p>
            <a:endParaRPr lang="en-GB" dirty="0"/>
          </a:p>
          <a:p>
            <a:r>
              <a:rPr lang="en-GB" i="1" dirty="0"/>
              <a:t> ‘A review of evidence for the claim that highly able children would benefit from more targeted attention in primary schools’</a:t>
            </a:r>
          </a:p>
          <a:p>
            <a:endParaRPr lang="en-GB" dirty="0"/>
          </a:p>
          <a:p>
            <a:r>
              <a:rPr lang="en-GB" dirty="0"/>
              <a:t>Or </a:t>
            </a:r>
          </a:p>
          <a:p>
            <a:endParaRPr lang="en-GB" dirty="0"/>
          </a:p>
          <a:p>
            <a:r>
              <a:rPr lang="en-GB" i="1" dirty="0"/>
              <a:t>‘A survey of the effects of working parents on young children’</a:t>
            </a:r>
          </a:p>
          <a:p>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GB" sz="4000" dirty="0" err="1">
                <a:solidFill>
                  <a:schemeClr val="accent1"/>
                </a:solidFill>
              </a:rPr>
              <a:t>Appropriacy</a:t>
            </a:r>
            <a:r>
              <a:rPr lang="en-GB" sz="4000" dirty="0">
                <a:solidFill>
                  <a:schemeClr val="accent1"/>
                </a:solidFill>
              </a:rPr>
              <a:t> and Accuracy: Precision</a:t>
            </a:r>
          </a:p>
        </p:txBody>
      </p:sp>
      <p:sp>
        <p:nvSpPr>
          <p:cNvPr id="3" name="Content Placeholder 2"/>
          <p:cNvSpPr>
            <a:spLocks noGrp="1"/>
          </p:cNvSpPr>
          <p:nvPr>
            <p:ph idx="1"/>
          </p:nvPr>
        </p:nvSpPr>
        <p:spPr>
          <a:xfrm>
            <a:off x="457200" y="1268760"/>
            <a:ext cx="8229600" cy="5455635"/>
          </a:xfrm>
        </p:spPr>
        <p:txBody>
          <a:bodyPr>
            <a:normAutofit fontScale="62500" lnSpcReduction="20000"/>
          </a:bodyPr>
          <a:lstStyle/>
          <a:p>
            <a:pPr>
              <a:buNone/>
            </a:pPr>
            <a:endParaRPr lang="en-GB" dirty="0"/>
          </a:p>
          <a:p>
            <a:pPr marL="514350" indent="-514350">
              <a:buFont typeface="+mj-lt"/>
              <a:buAutoNum type="arabicPeriod"/>
            </a:pPr>
            <a:r>
              <a:rPr lang="en-GB" i="1" dirty="0"/>
              <a:t>A review of support for children with dyslexia in schools in the UK.</a:t>
            </a:r>
          </a:p>
          <a:p>
            <a:pPr marL="514350" indent="-514350">
              <a:buFont typeface="+mj-lt"/>
              <a:buAutoNum type="arabicPeriod"/>
            </a:pPr>
            <a:r>
              <a:rPr lang="en-GB" i="1" dirty="0"/>
              <a:t>Learning in museums: how well is it done?</a:t>
            </a:r>
          </a:p>
          <a:p>
            <a:pPr marL="514350" indent="-514350">
              <a:buFont typeface="+mj-lt"/>
              <a:buAutoNum type="arabicPeriod"/>
            </a:pPr>
            <a:r>
              <a:rPr lang="en-GB" i="1" dirty="0"/>
              <a:t>An investigation of how twins communicate in general.</a:t>
            </a:r>
          </a:p>
          <a:p>
            <a:pPr marL="514350" indent="-514350">
              <a:buFont typeface="+mj-lt"/>
              <a:buAutoNum type="arabicPeriod"/>
            </a:pPr>
            <a:endParaRPr lang="en-GB" dirty="0"/>
          </a:p>
          <a:p>
            <a:pPr>
              <a:buNone/>
            </a:pPr>
            <a:r>
              <a:rPr lang="en-GB" dirty="0"/>
              <a:t>Comment:</a:t>
            </a:r>
          </a:p>
          <a:p>
            <a:r>
              <a:rPr lang="en-GB" dirty="0"/>
              <a:t>These questions are </a:t>
            </a:r>
            <a:r>
              <a:rPr lang="en-GB" b="1" dirty="0"/>
              <a:t>too broadly conceived</a:t>
            </a:r>
          </a:p>
          <a:p>
            <a:r>
              <a:rPr lang="en-GB" dirty="0" err="1"/>
              <a:t>Eg</a:t>
            </a:r>
            <a:r>
              <a:rPr lang="en-GB" dirty="0"/>
              <a:t>: </a:t>
            </a:r>
          </a:p>
          <a:p>
            <a:pPr>
              <a:buNone/>
            </a:pPr>
            <a:r>
              <a:rPr lang="en-GB" dirty="0"/>
              <a:t> 	1. is </a:t>
            </a:r>
            <a:r>
              <a:rPr lang="en-GB" b="1" dirty="0"/>
              <a:t>too ambitious </a:t>
            </a:r>
            <a:r>
              <a:rPr lang="en-GB" dirty="0"/>
              <a:t>(All schools in the UK? All age phases? How is this measured?)</a:t>
            </a:r>
          </a:p>
          <a:p>
            <a:pPr>
              <a:buNone/>
            </a:pPr>
            <a:r>
              <a:rPr lang="en-GB" dirty="0"/>
              <a:t> 	2 and 3 are </a:t>
            </a:r>
            <a:r>
              <a:rPr lang="en-GB" b="1" dirty="0"/>
              <a:t>too vague </a:t>
            </a:r>
            <a:r>
              <a:rPr lang="en-GB" dirty="0"/>
              <a:t>to be put into practice:</a:t>
            </a:r>
          </a:p>
          <a:p>
            <a:pPr>
              <a:buNone/>
            </a:pPr>
            <a:r>
              <a:rPr lang="en-GB" dirty="0"/>
              <a:t>	Number 5: </a:t>
            </a:r>
            <a:r>
              <a:rPr lang="en-GB" i="1" dirty="0"/>
              <a:t>What kind of learning in what kind of museums? Who is doing the learning? Children? Adults? Tourists? What is meant by ‘how well’? </a:t>
            </a:r>
          </a:p>
          <a:p>
            <a:pPr>
              <a:buNone/>
            </a:pPr>
            <a:r>
              <a:rPr lang="en-GB" dirty="0"/>
              <a:t>	Number 8</a:t>
            </a:r>
            <a:r>
              <a:rPr lang="en-GB" i="1" dirty="0"/>
              <a:t>: Communicate with whom? Each other? Their families? What age are these twins? and so on) </a:t>
            </a:r>
          </a:p>
          <a:p>
            <a:pPr>
              <a:buNone/>
            </a:pPr>
            <a:endParaRPr lang="en-GB" i="1" dirty="0"/>
          </a:p>
          <a:p>
            <a:pPr>
              <a:buNone/>
            </a:pPr>
            <a:r>
              <a:rPr lang="en-GB" i="1" dirty="0"/>
              <a:t>	</a:t>
            </a:r>
            <a:r>
              <a:rPr lang="en-GB" i="1" dirty="0">
                <a:solidFill>
                  <a:srgbClr val="FF0000"/>
                </a:solidFill>
              </a:rPr>
              <a:t>Both questions lack clear definitions and parameters</a:t>
            </a:r>
            <a:r>
              <a:rPr lang="en-GB" dirty="0">
                <a:solidFill>
                  <a:srgbClr val="FF0000"/>
                </a:solidFill>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err="1">
                <a:solidFill>
                  <a:schemeClr val="accent1"/>
                </a:solidFill>
              </a:rPr>
              <a:t>Appropriacy</a:t>
            </a:r>
            <a:r>
              <a:rPr lang="en-GB" dirty="0">
                <a:solidFill>
                  <a:schemeClr val="accent1"/>
                </a:solidFill>
              </a:rPr>
              <a:t> and Accuracy</a:t>
            </a:r>
          </a:p>
        </p:txBody>
      </p:sp>
      <p:sp>
        <p:nvSpPr>
          <p:cNvPr id="3" name="Content Placeholder 2"/>
          <p:cNvSpPr>
            <a:spLocks noGrp="1"/>
          </p:cNvSpPr>
          <p:nvPr>
            <p:ph idx="1"/>
          </p:nvPr>
        </p:nvSpPr>
        <p:spPr>
          <a:xfrm>
            <a:off x="467544" y="908720"/>
            <a:ext cx="8229600" cy="4525963"/>
          </a:xfrm>
        </p:spPr>
        <p:txBody>
          <a:bodyPr/>
          <a:lstStyle/>
          <a:p>
            <a:pPr>
              <a:buNone/>
            </a:pPr>
            <a:endParaRPr lang="en-GB" dirty="0"/>
          </a:p>
          <a:p>
            <a:pPr marL="0" indent="0">
              <a:buNone/>
            </a:pPr>
            <a:r>
              <a:rPr lang="en-GB" sz="1800" i="1" dirty="0"/>
              <a:t>Preschool children on gallery visits: which workshop pedagogies best help them engage with artworks at Tate Britain?</a:t>
            </a:r>
          </a:p>
          <a:p>
            <a:pPr>
              <a:buNone/>
            </a:pPr>
            <a:endParaRPr lang="en-GB" sz="1800" i="1" dirty="0"/>
          </a:p>
          <a:p>
            <a:pPr>
              <a:buNone/>
            </a:pPr>
            <a:endParaRPr lang="en-GB" dirty="0"/>
          </a:p>
        </p:txBody>
      </p:sp>
      <p:sp>
        <p:nvSpPr>
          <p:cNvPr id="5" name="TextBox 4"/>
          <p:cNvSpPr txBox="1"/>
          <p:nvPr/>
        </p:nvSpPr>
        <p:spPr>
          <a:xfrm>
            <a:off x="467544" y="2348880"/>
            <a:ext cx="8496944" cy="2585323"/>
          </a:xfrm>
          <a:prstGeom prst="rect">
            <a:avLst/>
          </a:prstGeom>
          <a:noFill/>
        </p:spPr>
        <p:txBody>
          <a:bodyPr wrap="square" rtlCol="0">
            <a:spAutoFit/>
          </a:bodyPr>
          <a:lstStyle/>
          <a:p>
            <a:r>
              <a:rPr lang="en-GB" dirty="0"/>
              <a:t>Commentary:</a:t>
            </a:r>
          </a:p>
          <a:p>
            <a:endParaRPr lang="en-GB" dirty="0"/>
          </a:p>
          <a:p>
            <a:r>
              <a:rPr lang="en-GB" dirty="0"/>
              <a:t>Now better:</a:t>
            </a:r>
          </a:p>
          <a:p>
            <a:endParaRPr lang="en-GB" dirty="0"/>
          </a:p>
          <a:p>
            <a:pPr lvl="1">
              <a:buFont typeface="Arial" pitchFamily="34" charset="0"/>
              <a:buChar char="•"/>
            </a:pPr>
            <a:r>
              <a:rPr lang="en-GB" dirty="0"/>
              <a:t>Nicely </a:t>
            </a:r>
            <a:r>
              <a:rPr lang="en-GB" dirty="0">
                <a:solidFill>
                  <a:srgbClr val="FF0000"/>
                </a:solidFill>
              </a:rPr>
              <a:t>limited and clear</a:t>
            </a:r>
          </a:p>
          <a:p>
            <a:pPr lvl="1">
              <a:buFont typeface="Arial" pitchFamily="34" charset="0"/>
              <a:buChar char="•"/>
            </a:pPr>
            <a:r>
              <a:rPr lang="en-GB" dirty="0">
                <a:solidFill>
                  <a:srgbClr val="FF0000"/>
                </a:solidFill>
              </a:rPr>
              <a:t>Cites specific instances </a:t>
            </a:r>
            <a:r>
              <a:rPr lang="en-GB" dirty="0"/>
              <a:t>to be reviewed</a:t>
            </a:r>
          </a:p>
          <a:p>
            <a:pPr lvl="1">
              <a:buFont typeface="Arial" pitchFamily="34" charset="0"/>
              <a:buChar char="•"/>
            </a:pPr>
            <a:r>
              <a:rPr lang="en-GB" dirty="0"/>
              <a:t>claims it makes from  results can be easily related to similar scenarios</a:t>
            </a:r>
          </a:p>
          <a:p>
            <a:pPr lvl="1">
              <a:buFont typeface="Arial" pitchFamily="34" charset="0"/>
              <a:buChar char="•"/>
            </a:pPr>
            <a:r>
              <a:rPr lang="en-GB" dirty="0"/>
              <a:t>Doesn’t need to be grandiose and </a:t>
            </a:r>
            <a:r>
              <a:rPr lang="en-GB" dirty="0">
                <a:solidFill>
                  <a:srgbClr val="FF0000"/>
                </a:solidFill>
              </a:rPr>
              <a:t>doesn’t claim influence beyond particular situations</a:t>
            </a:r>
          </a:p>
        </p:txBody>
      </p:sp>
      <p:sp>
        <p:nvSpPr>
          <p:cNvPr id="4" name="TextBox 3">
            <a:extLst>
              <a:ext uri="{FF2B5EF4-FFF2-40B4-BE49-F238E27FC236}">
                <a16:creationId xmlns:a16="http://schemas.microsoft.com/office/drawing/2014/main" id="{72609ED7-748F-494B-8B8C-3648CB051732}"/>
              </a:ext>
            </a:extLst>
          </p:cNvPr>
          <p:cNvSpPr txBox="1"/>
          <p:nvPr/>
        </p:nvSpPr>
        <p:spPr>
          <a:xfrm>
            <a:off x="476525" y="5265280"/>
            <a:ext cx="7848872" cy="1200329"/>
          </a:xfrm>
          <a:prstGeom prst="rect">
            <a:avLst/>
          </a:prstGeom>
          <a:noFill/>
        </p:spPr>
        <p:txBody>
          <a:bodyPr wrap="square" rtlCol="0">
            <a:spAutoFit/>
          </a:bodyPr>
          <a:lstStyle/>
          <a:p>
            <a:pPr lvl="0"/>
            <a:r>
              <a:rPr lang="en-GB" dirty="0">
                <a:solidFill>
                  <a:prstClr val="black"/>
                </a:solidFill>
              </a:rPr>
              <a:t>HOWEVER,</a:t>
            </a:r>
          </a:p>
          <a:p>
            <a:pPr lvl="0"/>
            <a:r>
              <a:rPr lang="en-GB" dirty="0">
                <a:solidFill>
                  <a:prstClr val="black"/>
                </a:solidFill>
              </a:rPr>
              <a:t>If dissertation provides thoroughly researched context and rationale, their conclusions can provide a useful support or refutation of current practice </a:t>
            </a:r>
            <a:r>
              <a:rPr lang="en-GB" dirty="0" err="1">
                <a:solidFill>
                  <a:prstClr val="black"/>
                </a:solidFill>
              </a:rPr>
              <a:t>ie</a:t>
            </a:r>
            <a:r>
              <a:rPr lang="en-GB" dirty="0">
                <a:solidFill>
                  <a:prstClr val="black"/>
                </a:solidFill>
              </a:rPr>
              <a:t> have </a:t>
            </a:r>
            <a:r>
              <a:rPr lang="en-GB" dirty="0">
                <a:solidFill>
                  <a:srgbClr val="FF0000"/>
                </a:solidFill>
              </a:rPr>
              <a:t>wider implications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http://www.andilit.com/wp-content/uploads/2012/10/felix-baumgartner-space-jump.jpg"/>
          <p:cNvPicPr>
            <a:picLocks noChangeAspect="1" noChangeArrowheads="1"/>
          </p:cNvPicPr>
          <p:nvPr/>
        </p:nvPicPr>
        <p:blipFill>
          <a:blip r:embed="rId3" cstate="print"/>
          <a:srcRect l="22656" r="8184"/>
          <a:stretch>
            <a:fillRect/>
          </a:stretch>
        </p:blipFill>
        <p:spPr bwMode="auto">
          <a:xfrm>
            <a:off x="5652120" y="4005064"/>
            <a:ext cx="2983275" cy="2340497"/>
          </a:xfrm>
          <a:prstGeom prst="rect">
            <a:avLst/>
          </a:prstGeom>
          <a:noFill/>
        </p:spPr>
      </p:pic>
      <p:sp>
        <p:nvSpPr>
          <p:cNvPr id="2" name="Title 1"/>
          <p:cNvSpPr>
            <a:spLocks noGrp="1"/>
          </p:cNvSpPr>
          <p:nvPr>
            <p:ph type="title"/>
          </p:nvPr>
        </p:nvSpPr>
        <p:spPr/>
        <p:txBody>
          <a:bodyPr>
            <a:normAutofit fontScale="90000"/>
          </a:bodyPr>
          <a:lstStyle/>
          <a:p>
            <a:pPr algn="l"/>
            <a:r>
              <a:rPr lang="en-GB" dirty="0">
                <a:solidFill>
                  <a:srgbClr val="1D1D1D"/>
                </a:solidFill>
                <a:latin typeface="Arial"/>
                <a:ea typeface="Times New Roman"/>
                <a:cs typeface="Times New Roman"/>
              </a:rPr>
              <a:t>General Overview of Area</a:t>
            </a:r>
            <a:br>
              <a:rPr lang="en-GB" dirty="0">
                <a:solidFill>
                  <a:srgbClr val="1D1D1D"/>
                </a:solidFill>
                <a:latin typeface="Arial"/>
                <a:ea typeface="Times New Roman"/>
                <a:cs typeface="Times New Roman"/>
              </a:rPr>
            </a:br>
            <a:endParaRPr lang="en-GB" dirty="0"/>
          </a:p>
        </p:txBody>
      </p:sp>
      <p:sp>
        <p:nvSpPr>
          <p:cNvPr id="3" name="Content Placeholder 2"/>
          <p:cNvSpPr>
            <a:spLocks noGrp="1"/>
          </p:cNvSpPr>
          <p:nvPr>
            <p:ph idx="1"/>
          </p:nvPr>
        </p:nvSpPr>
        <p:spPr>
          <a:xfrm>
            <a:off x="323528" y="908720"/>
            <a:ext cx="8229600" cy="5328592"/>
          </a:xfrm>
        </p:spPr>
        <p:txBody>
          <a:bodyPr>
            <a:normAutofit lnSpcReduction="10000"/>
          </a:bodyPr>
          <a:lstStyle/>
          <a:p>
            <a:pPr>
              <a:buNone/>
            </a:pPr>
            <a:r>
              <a:rPr lang="en-GB" sz="2000" dirty="0"/>
              <a:t>Should </a:t>
            </a:r>
          </a:p>
          <a:p>
            <a:r>
              <a:rPr lang="en-GB" sz="2000" dirty="0"/>
              <a:t>take form of a brief abstract of your proposed general area of study</a:t>
            </a:r>
          </a:p>
          <a:p>
            <a:r>
              <a:rPr lang="en-GB" sz="2000" dirty="0"/>
              <a:t>identify discipline(s) within which it falls</a:t>
            </a:r>
          </a:p>
          <a:p>
            <a:pPr>
              <a:buNone/>
            </a:pPr>
            <a:endParaRPr lang="en-GB" sz="2000" dirty="0"/>
          </a:p>
          <a:p>
            <a:r>
              <a:rPr lang="en-GB" sz="2000" dirty="0"/>
              <a:t>Possibly refer to way in which your background and experience gives you competences in your chosen area</a:t>
            </a:r>
          </a:p>
          <a:p>
            <a:endParaRPr lang="en-GB" sz="2000" dirty="0"/>
          </a:p>
          <a:p>
            <a:r>
              <a:rPr lang="en-GB" sz="2000" dirty="0"/>
              <a:t>It should include:</a:t>
            </a:r>
          </a:p>
          <a:p>
            <a:pPr lvl="1"/>
            <a:r>
              <a:rPr lang="en-GB" sz="1600" dirty="0"/>
              <a:t>The research question</a:t>
            </a:r>
          </a:p>
          <a:p>
            <a:pPr lvl="1"/>
            <a:r>
              <a:rPr lang="en-GB" sz="1600" dirty="0"/>
              <a:t>Rationale for the study</a:t>
            </a:r>
          </a:p>
          <a:p>
            <a:pPr lvl="1"/>
            <a:r>
              <a:rPr lang="en-GB" sz="1600" dirty="0"/>
              <a:t>hypothesis (if any) </a:t>
            </a:r>
          </a:p>
          <a:p>
            <a:pPr lvl="1"/>
            <a:r>
              <a:rPr lang="en-GB" sz="1600" dirty="0"/>
              <a:t>proposed method</a:t>
            </a:r>
          </a:p>
          <a:p>
            <a:pPr lvl="1"/>
            <a:r>
              <a:rPr lang="en-GB" sz="1600" dirty="0"/>
              <a:t>Descriptions of the method may include:</a:t>
            </a:r>
          </a:p>
          <a:p>
            <a:pPr lvl="2"/>
            <a:r>
              <a:rPr lang="en-GB" sz="1600" dirty="0"/>
              <a:t>the design</a:t>
            </a:r>
          </a:p>
          <a:p>
            <a:pPr lvl="2"/>
            <a:r>
              <a:rPr lang="en-GB" sz="1600" dirty="0"/>
              <a:t>Procedures</a:t>
            </a:r>
          </a:p>
          <a:p>
            <a:pPr lvl="2"/>
            <a:r>
              <a:rPr lang="en-GB" sz="1600" dirty="0"/>
              <a:t>The sample </a:t>
            </a:r>
          </a:p>
          <a:p>
            <a:pPr lvl="2"/>
            <a:r>
              <a:rPr lang="en-GB" sz="1600" dirty="0"/>
              <a:t>Any instruments that will be used</a:t>
            </a:r>
          </a:p>
          <a:p>
            <a:endParaRPr lang="en-GB"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1143000"/>
          </a:xfrm>
        </p:spPr>
        <p:txBody>
          <a:bodyPr/>
          <a:lstStyle/>
          <a:p>
            <a:pPr algn="l"/>
            <a:r>
              <a:rPr lang="en-GB" dirty="0">
                <a:solidFill>
                  <a:schemeClr val="tx1"/>
                </a:solidFill>
              </a:rPr>
              <a:t>Creating A Research Space</a:t>
            </a:r>
            <a:endParaRPr lang="en-GB" dirty="0"/>
          </a:p>
        </p:txBody>
      </p:sp>
      <p:sp>
        <p:nvSpPr>
          <p:cNvPr id="3" name="Content Placeholder 2"/>
          <p:cNvSpPr>
            <a:spLocks noGrp="1"/>
          </p:cNvSpPr>
          <p:nvPr>
            <p:ph idx="1"/>
          </p:nvPr>
        </p:nvSpPr>
        <p:spPr>
          <a:xfrm>
            <a:off x="467544" y="1484784"/>
            <a:ext cx="8229600" cy="4525963"/>
          </a:xfrm>
        </p:spPr>
        <p:txBody>
          <a:bodyPr/>
          <a:lstStyle/>
          <a:p>
            <a:pPr>
              <a:buNone/>
            </a:pPr>
            <a:r>
              <a:rPr lang="en-GB" i="1" dirty="0"/>
              <a:t>Broadly speaking you need to :</a:t>
            </a:r>
          </a:p>
          <a:p>
            <a:pPr>
              <a:buNone/>
            </a:pPr>
            <a:endParaRPr lang="en-GB" i="1" dirty="0"/>
          </a:p>
          <a:p>
            <a:r>
              <a:rPr lang="en-GB" sz="2400" dirty="0"/>
              <a:t>Explain what the current situation is</a:t>
            </a:r>
          </a:p>
          <a:p>
            <a:r>
              <a:rPr lang="en-GB" sz="2400" dirty="0"/>
              <a:t>Identify a gap (space) in our knowledge</a:t>
            </a:r>
          </a:p>
          <a:p>
            <a:r>
              <a:rPr lang="en-GB" sz="2400" dirty="0"/>
              <a:t>Explain how to intend to close that gap (</a:t>
            </a:r>
            <a:r>
              <a:rPr lang="en-GB" sz="2400" dirty="0" err="1"/>
              <a:t>ie</a:t>
            </a:r>
            <a:r>
              <a:rPr lang="en-GB" sz="2400" dirty="0"/>
              <a:t> occupy that space)</a:t>
            </a:r>
          </a:p>
        </p:txBody>
      </p:sp>
      <p:pic>
        <p:nvPicPr>
          <p:cNvPr id="19458" name="Picture 2" descr="http://1four.co.uk/wp-content/uploads/2012/10/Mindthegap.jpg"/>
          <p:cNvPicPr>
            <a:picLocks noChangeAspect="1" noChangeArrowheads="1"/>
          </p:cNvPicPr>
          <p:nvPr/>
        </p:nvPicPr>
        <p:blipFill>
          <a:blip r:embed="rId3" cstate="print"/>
          <a:srcRect/>
          <a:stretch>
            <a:fillRect/>
          </a:stretch>
        </p:blipFill>
        <p:spPr bwMode="auto">
          <a:xfrm>
            <a:off x="4499992" y="4653136"/>
            <a:ext cx="4295800" cy="1704896"/>
          </a:xfrm>
          <a:prstGeom prst="rect">
            <a:avLst/>
          </a:prstGeom>
          <a:noFill/>
        </p:spPr>
      </p:pic>
    </p:spTree>
    <p:extLst>
      <p:ext uri="{BB962C8B-B14F-4D97-AF65-F5344CB8AC3E}">
        <p14:creationId xmlns:p14="http://schemas.microsoft.com/office/powerpoint/2010/main" val="290071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D1D70-02E7-4404-BCA5-77BDA12F3E93}"/>
              </a:ext>
            </a:extLst>
          </p:cNvPr>
          <p:cNvSpPr>
            <a:spLocks noGrp="1"/>
          </p:cNvSpPr>
          <p:nvPr>
            <p:ph type="title"/>
          </p:nvPr>
        </p:nvSpPr>
        <p:spPr/>
        <p:txBody>
          <a:bodyPr/>
          <a:lstStyle/>
          <a:p>
            <a:r>
              <a:rPr lang="en-US" dirty="0">
                <a:solidFill>
                  <a:srgbClr val="FF0000"/>
                </a:solidFill>
              </a:rPr>
              <a:t>The Research Space or Gap</a:t>
            </a:r>
            <a:endParaRPr lang="en-GB" dirty="0">
              <a:solidFill>
                <a:srgbClr val="FF0000"/>
              </a:solidFill>
            </a:endParaRPr>
          </a:p>
        </p:txBody>
      </p:sp>
      <p:sp>
        <p:nvSpPr>
          <p:cNvPr id="3" name="Content Placeholder 2">
            <a:extLst>
              <a:ext uri="{FF2B5EF4-FFF2-40B4-BE49-F238E27FC236}">
                <a16:creationId xmlns:a16="http://schemas.microsoft.com/office/drawing/2014/main" id="{D65B1D5F-AF69-4512-B5D7-63FEB176D2A3}"/>
              </a:ext>
            </a:extLst>
          </p:cNvPr>
          <p:cNvSpPr>
            <a:spLocks noGrp="1"/>
          </p:cNvSpPr>
          <p:nvPr>
            <p:ph idx="1"/>
          </p:nvPr>
        </p:nvSpPr>
        <p:spPr/>
        <p:txBody>
          <a:bodyPr>
            <a:normAutofit fontScale="92500"/>
          </a:bodyPr>
          <a:lstStyle/>
          <a:p>
            <a:r>
              <a:rPr lang="en-US" dirty="0"/>
              <a:t>There’s a really useful handout on Creating a Research Space on Moodle- a pdf called ‘CARS’ </a:t>
            </a:r>
          </a:p>
          <a:p>
            <a:r>
              <a:rPr lang="en-US" dirty="0"/>
              <a:t>It covers:</a:t>
            </a:r>
          </a:p>
          <a:p>
            <a:pPr lvl="1"/>
            <a:r>
              <a:rPr lang="en-US" dirty="0"/>
              <a:t>Establishing a territory</a:t>
            </a:r>
          </a:p>
          <a:p>
            <a:pPr lvl="1"/>
            <a:r>
              <a:rPr lang="en-US" dirty="0"/>
              <a:t>Establishing a niche</a:t>
            </a:r>
          </a:p>
          <a:p>
            <a:pPr lvl="1"/>
            <a:r>
              <a:rPr lang="en-US" dirty="0"/>
              <a:t>Occupying the niche</a:t>
            </a:r>
          </a:p>
          <a:p>
            <a:pPr lvl="1"/>
            <a:endParaRPr lang="en-US" dirty="0"/>
          </a:p>
          <a:p>
            <a:pPr lvl="1"/>
            <a:r>
              <a:rPr lang="en-US" dirty="0"/>
              <a:t>It also has some really useful language /expressions you can use.</a:t>
            </a:r>
            <a:endParaRPr lang="en-GB" dirty="0"/>
          </a:p>
        </p:txBody>
      </p:sp>
    </p:spTree>
    <p:extLst>
      <p:ext uri="{BB962C8B-B14F-4D97-AF65-F5344CB8AC3E}">
        <p14:creationId xmlns:p14="http://schemas.microsoft.com/office/powerpoint/2010/main" val="2131003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94841" y="332656"/>
            <a:ext cx="8641655" cy="731837"/>
          </a:xfrm>
        </p:spPr>
        <p:txBody>
          <a:bodyPr>
            <a:normAutofit fontScale="90000"/>
          </a:bodyPr>
          <a:lstStyle/>
          <a:p>
            <a:pPr algn="l" eaLnBrk="1" hangingPunct="1"/>
            <a:r>
              <a:rPr lang="en-GB" sz="2400" dirty="0">
                <a:solidFill>
                  <a:schemeClr val="tx1"/>
                </a:solidFill>
              </a:rPr>
              <a:t>Language for Creating A Research Space</a:t>
            </a:r>
            <a:br>
              <a:rPr lang="en-GB" sz="4000" dirty="0">
                <a:solidFill>
                  <a:schemeClr val="tx1"/>
                </a:solidFill>
              </a:rPr>
            </a:br>
            <a:r>
              <a:rPr lang="en-GB" sz="2000" dirty="0">
                <a:solidFill>
                  <a:schemeClr val="tx1"/>
                </a:solidFill>
              </a:rPr>
              <a:t> </a:t>
            </a:r>
            <a:br>
              <a:rPr lang="en-GB" sz="4000" dirty="0">
                <a:solidFill>
                  <a:schemeClr val="tx1"/>
                </a:solidFill>
              </a:rPr>
            </a:br>
            <a:r>
              <a:rPr lang="en-GB" sz="3100" b="1" dirty="0">
                <a:solidFill>
                  <a:srgbClr val="FF0000"/>
                </a:solidFill>
              </a:rPr>
              <a:t>what we know</a:t>
            </a:r>
            <a:r>
              <a:rPr lang="en-GB" sz="3100" dirty="0"/>
              <a:t>, </a:t>
            </a:r>
            <a:r>
              <a:rPr lang="en-GB" sz="3100" b="1" dirty="0">
                <a:solidFill>
                  <a:schemeClr val="tx2"/>
                </a:solidFill>
              </a:rPr>
              <a:t>creating a space</a:t>
            </a:r>
            <a:r>
              <a:rPr lang="en-GB" sz="3100" b="0" dirty="0">
                <a:solidFill>
                  <a:schemeClr val="tx1"/>
                </a:solidFill>
              </a:rPr>
              <a:t>, </a:t>
            </a:r>
            <a:r>
              <a:rPr lang="en-GB" sz="3100" b="1" dirty="0">
                <a:solidFill>
                  <a:srgbClr val="00B050"/>
                </a:solidFill>
              </a:rPr>
              <a:t>filling the space?</a:t>
            </a:r>
          </a:p>
        </p:txBody>
      </p:sp>
      <p:sp>
        <p:nvSpPr>
          <p:cNvPr id="23555" name="Rectangle 4"/>
          <p:cNvSpPr>
            <a:spLocks noGrp="1" noChangeArrowheads="1"/>
          </p:cNvSpPr>
          <p:nvPr>
            <p:ph type="body" idx="1"/>
          </p:nvPr>
        </p:nvSpPr>
        <p:spPr>
          <a:xfrm>
            <a:off x="323528" y="1582738"/>
            <a:ext cx="4237360" cy="3836987"/>
          </a:xfrm>
        </p:spPr>
        <p:txBody>
          <a:bodyPr>
            <a:noAutofit/>
          </a:bodyPr>
          <a:lstStyle/>
          <a:p>
            <a:pPr>
              <a:lnSpc>
                <a:spcPct val="80000"/>
              </a:lnSpc>
            </a:pPr>
            <a:r>
              <a:rPr lang="en-GB" sz="2000" dirty="0">
                <a:solidFill>
                  <a:srgbClr val="FF0000"/>
                </a:solidFill>
              </a:rPr>
              <a:t>Many recent studies have focused on ....</a:t>
            </a:r>
          </a:p>
          <a:p>
            <a:pPr>
              <a:lnSpc>
                <a:spcPct val="80000"/>
              </a:lnSpc>
            </a:pPr>
            <a:r>
              <a:rPr lang="en-GB" sz="2000" dirty="0">
                <a:solidFill>
                  <a:srgbClr val="FF0000"/>
                </a:solidFill>
              </a:rPr>
              <a:t>So far, investigations have been confined to ... </a:t>
            </a:r>
          </a:p>
          <a:p>
            <a:pPr>
              <a:lnSpc>
                <a:spcPct val="80000"/>
              </a:lnSpc>
            </a:pPr>
            <a:r>
              <a:rPr lang="en-GB" sz="2000" dirty="0">
                <a:solidFill>
                  <a:srgbClr val="FF0000"/>
                </a:solidFill>
              </a:rPr>
              <a:t>The previous research ... has concentrated on ....</a:t>
            </a:r>
          </a:p>
          <a:p>
            <a:pPr>
              <a:lnSpc>
                <a:spcPct val="80000"/>
              </a:lnSpc>
            </a:pPr>
            <a:r>
              <a:rPr lang="en-GB" sz="2000" dirty="0">
                <a:solidFill>
                  <a:srgbClr val="FF0000"/>
                </a:solidFill>
              </a:rPr>
              <a:t>The study of ... has become an important aspect of ....</a:t>
            </a:r>
          </a:p>
          <a:p>
            <a:r>
              <a:rPr lang="en-GB" sz="2000" dirty="0">
                <a:solidFill>
                  <a:srgbClr val="00B050"/>
                </a:solidFill>
              </a:rPr>
              <a:t>The aim of this paper is to ...</a:t>
            </a:r>
          </a:p>
          <a:p>
            <a:r>
              <a:rPr lang="en-GB" sz="2000" dirty="0">
                <a:solidFill>
                  <a:srgbClr val="00B050"/>
                </a:solidFill>
              </a:rPr>
              <a:t>The purpose of this investigation is to ...</a:t>
            </a:r>
          </a:p>
          <a:p>
            <a:r>
              <a:rPr lang="en-GB" sz="2000" dirty="0">
                <a:solidFill>
                  <a:srgbClr val="00B050"/>
                </a:solidFill>
              </a:rPr>
              <a:t>The purpose of this paper is to .. </a:t>
            </a:r>
          </a:p>
          <a:p>
            <a:pPr>
              <a:lnSpc>
                <a:spcPct val="80000"/>
              </a:lnSpc>
            </a:pPr>
            <a:r>
              <a:rPr lang="en-GB" sz="2000" dirty="0">
                <a:solidFill>
                  <a:srgbClr val="00B050"/>
                </a:solidFill>
              </a:rPr>
              <a:t> The remainder of this paper is divided into five sections ....</a:t>
            </a:r>
          </a:p>
          <a:p>
            <a:pPr>
              <a:lnSpc>
                <a:spcPct val="80000"/>
              </a:lnSpc>
            </a:pPr>
            <a:r>
              <a:rPr lang="en-GB" sz="2000" dirty="0">
                <a:solidFill>
                  <a:srgbClr val="00B050"/>
                </a:solidFill>
              </a:rPr>
              <a:t> In this paper, we argue that ....</a:t>
            </a:r>
          </a:p>
          <a:p>
            <a:pPr>
              <a:lnSpc>
                <a:spcPct val="80000"/>
              </a:lnSpc>
            </a:pPr>
            <a:r>
              <a:rPr lang="en-GB" sz="2000" dirty="0">
                <a:solidFill>
                  <a:srgbClr val="00B050"/>
                </a:solidFill>
              </a:rPr>
              <a:t> In this paper, we give results of </a:t>
            </a:r>
            <a:endParaRPr lang="en-GB" sz="2000" dirty="0">
              <a:solidFill>
                <a:srgbClr val="FF0000"/>
              </a:solidFill>
            </a:endParaRPr>
          </a:p>
        </p:txBody>
      </p:sp>
      <p:sp>
        <p:nvSpPr>
          <p:cNvPr id="23556" name="Rectangle 5"/>
          <p:cNvSpPr>
            <a:spLocks noChangeArrowheads="1"/>
          </p:cNvSpPr>
          <p:nvPr/>
        </p:nvSpPr>
        <p:spPr bwMode="auto">
          <a:xfrm>
            <a:off x="4572000" y="1556792"/>
            <a:ext cx="4572000" cy="4278094"/>
          </a:xfrm>
          <a:prstGeom prst="rect">
            <a:avLst/>
          </a:prstGeom>
          <a:noFill/>
          <a:ln w="9525">
            <a:noFill/>
            <a:miter lim="800000"/>
            <a:headEnd/>
            <a:tailEnd/>
          </a:ln>
        </p:spPr>
        <p:txBody>
          <a:bodyPr wrap="square">
            <a:spAutoFit/>
          </a:bodyPr>
          <a:lstStyle/>
          <a:p>
            <a:pPr>
              <a:lnSpc>
                <a:spcPct val="80000"/>
              </a:lnSpc>
              <a:buFont typeface="Arial" pitchFamily="34" charset="0"/>
              <a:buChar char="•"/>
            </a:pPr>
            <a:r>
              <a:rPr lang="en-GB" sz="2000" dirty="0">
                <a:solidFill>
                  <a:schemeClr val="tx2"/>
                </a:solidFill>
              </a:rPr>
              <a:t>A central issue in ... is ....</a:t>
            </a:r>
          </a:p>
          <a:p>
            <a:pPr>
              <a:lnSpc>
                <a:spcPct val="80000"/>
              </a:lnSpc>
              <a:buFont typeface="Arial" pitchFamily="34" charset="0"/>
              <a:buChar char="•"/>
            </a:pPr>
            <a:r>
              <a:rPr lang="en-GB" sz="2000" dirty="0">
                <a:solidFill>
                  <a:schemeClr val="tx2"/>
                </a:solidFill>
              </a:rPr>
              <a:t>Although considerable research has been devoted to ... , rather less attention has been paid to … </a:t>
            </a:r>
          </a:p>
          <a:p>
            <a:pPr>
              <a:lnSpc>
                <a:spcPct val="80000"/>
              </a:lnSpc>
              <a:buFont typeface="Arial" pitchFamily="34" charset="0"/>
              <a:buChar char="•"/>
            </a:pPr>
            <a:r>
              <a:rPr lang="en-GB" sz="2000" dirty="0">
                <a:solidFill>
                  <a:schemeClr val="tx2"/>
                </a:solidFill>
              </a:rPr>
              <a:t>However, few studies/investigations/ researchers/attempts ....</a:t>
            </a:r>
          </a:p>
          <a:p>
            <a:pPr>
              <a:lnSpc>
                <a:spcPct val="80000"/>
              </a:lnSpc>
              <a:buFont typeface="Arial" pitchFamily="34" charset="0"/>
              <a:buChar char="•"/>
            </a:pPr>
            <a:r>
              <a:rPr lang="en-GB" sz="2000" dirty="0">
                <a:solidFill>
                  <a:schemeClr val="tx2"/>
                </a:solidFill>
              </a:rPr>
              <a:t>However, little information/attention/ work/data/research ....</a:t>
            </a:r>
          </a:p>
          <a:p>
            <a:pPr>
              <a:lnSpc>
                <a:spcPct val="80000"/>
              </a:lnSpc>
              <a:buFont typeface="Arial" pitchFamily="34" charset="0"/>
              <a:buChar char="•"/>
            </a:pPr>
            <a:r>
              <a:rPr lang="en-GB" sz="2000" dirty="0">
                <a:solidFill>
                  <a:schemeClr val="tx2"/>
                </a:solidFill>
              </a:rPr>
              <a:t>Recently, there has been growing interest in ....</a:t>
            </a:r>
          </a:p>
          <a:p>
            <a:pPr>
              <a:lnSpc>
                <a:spcPct val="80000"/>
              </a:lnSpc>
              <a:buFont typeface="Arial" pitchFamily="34" charset="0"/>
              <a:buChar char="•"/>
            </a:pPr>
            <a:r>
              <a:rPr lang="en-GB" sz="2000" dirty="0">
                <a:solidFill>
                  <a:schemeClr val="tx2"/>
                </a:solidFill>
              </a:rPr>
              <a:t>The increasing interest in ... has heightened the need for ....</a:t>
            </a:r>
          </a:p>
          <a:p>
            <a:pPr>
              <a:lnSpc>
                <a:spcPct val="80000"/>
              </a:lnSpc>
              <a:buFont typeface="Arial" pitchFamily="34" charset="0"/>
              <a:buChar char="•"/>
            </a:pPr>
            <a:r>
              <a:rPr lang="en-GB" sz="2000" dirty="0">
                <a:solidFill>
                  <a:schemeClr val="tx2"/>
                </a:solidFill>
              </a:rPr>
              <a:t>The research has tended to focus on ...,rather than on ....</a:t>
            </a:r>
          </a:p>
          <a:p>
            <a:pPr marL="342900" indent="-342900">
              <a:buFont typeface="Arial" pitchFamily="34" charset="0"/>
              <a:buChar char="•"/>
            </a:pPr>
            <a:endParaRPr lang="en-GB" sz="2000" dirty="0">
              <a:solidFill>
                <a:schemeClr val="tx2"/>
              </a:solidFill>
            </a:endParaRPr>
          </a:p>
          <a:p>
            <a:pPr marL="342900" indent="-342900" defTabSz="914400">
              <a:buFont typeface="Arial" pitchFamily="34" charset="0"/>
              <a:buChar char="•"/>
            </a:pPr>
            <a:endParaRPr lang="en-GB" sz="2000" dirty="0">
              <a:solidFill>
                <a:srgbClr val="00B05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pPr algn="l"/>
            <a:r>
              <a:rPr lang="en-GB" sz="2800" dirty="0"/>
              <a:t>CARS method (Creating A Research Space)</a:t>
            </a:r>
          </a:p>
        </p:txBody>
      </p:sp>
      <p:sp>
        <p:nvSpPr>
          <p:cNvPr id="7" name="Content Placeholder 6"/>
          <p:cNvSpPr>
            <a:spLocks noGrp="1"/>
          </p:cNvSpPr>
          <p:nvPr>
            <p:ph idx="1"/>
          </p:nvPr>
        </p:nvSpPr>
        <p:spPr>
          <a:xfrm>
            <a:off x="457200" y="1600200"/>
            <a:ext cx="8229600" cy="3829063"/>
          </a:xfrm>
        </p:spPr>
        <p:txBody>
          <a:bodyPr>
            <a:normAutofit fontScale="25000" lnSpcReduction="20000"/>
          </a:bodyPr>
          <a:lstStyle/>
          <a:p>
            <a:r>
              <a:rPr lang="en-GB" sz="7200" dirty="0"/>
              <a:t>For more information on structuring:</a:t>
            </a:r>
          </a:p>
          <a:p>
            <a:r>
              <a:rPr lang="en-GB" sz="7200" dirty="0">
                <a:hlinkClick r:id="rId3"/>
              </a:rPr>
              <a:t>http://sana.tkk.fi/awe/style/reporting/sections/intros/cars/cars.pdf</a:t>
            </a:r>
            <a:endParaRPr lang="en-GB" sz="7200" dirty="0"/>
          </a:p>
          <a:p>
            <a:endParaRPr lang="en-GB" sz="7200" dirty="0"/>
          </a:p>
          <a:p>
            <a:r>
              <a:rPr lang="en-GB" sz="7200" dirty="0"/>
              <a:t>And:</a:t>
            </a:r>
          </a:p>
          <a:p>
            <a:r>
              <a:rPr lang="en-GB" sz="7200" dirty="0">
                <a:hlinkClick r:id="rId4"/>
              </a:rPr>
              <a:t>http://apresource.wordpress.com/2007/05/08/the-cars-model-creating-a-research-space/</a:t>
            </a:r>
            <a:endParaRPr lang="en-GB" sz="7200" dirty="0"/>
          </a:p>
          <a:p>
            <a:endParaRPr lang="en-GB" sz="7200" dirty="0"/>
          </a:p>
          <a:p>
            <a:endParaRPr lang="en-GB" sz="7200" dirty="0"/>
          </a:p>
          <a:p>
            <a:endParaRPr lang="en-GB" sz="7200" dirty="0"/>
          </a:p>
          <a:p>
            <a:endParaRPr lang="en-GB" sz="7200" dirty="0"/>
          </a:p>
          <a:p>
            <a:endParaRPr lang="en-GB" sz="7200" dirty="0"/>
          </a:p>
          <a:p>
            <a:endParaRPr lang="en-GB" sz="7200" dirty="0"/>
          </a:p>
          <a:p>
            <a:endParaRPr lang="en-GB" sz="7200" dirty="0"/>
          </a:p>
          <a:p>
            <a:endParaRPr lang="en-GB" sz="7200" dirty="0"/>
          </a:p>
          <a:p>
            <a:endParaRPr lang="en-GB" sz="7200" dirty="0"/>
          </a:p>
          <a:p>
            <a:endParaRPr lang="en-GB" sz="7200" dirty="0"/>
          </a:p>
          <a:p>
            <a:r>
              <a:rPr lang="en-GB" sz="7200" dirty="0"/>
              <a:t>For more guidance on Language :</a:t>
            </a:r>
          </a:p>
          <a:p>
            <a:r>
              <a:rPr lang="en-GB" sz="7200" dirty="0">
                <a:hlinkClick r:id="rId5"/>
              </a:rPr>
              <a:t>http://sana.tkk.fi/awe/style/reporting/sections/intros/cars/cars1-1.html</a:t>
            </a:r>
            <a:endParaRPr lang="en-GB" sz="7200" dirty="0"/>
          </a:p>
          <a:p>
            <a:endParaRPr lang="en-GB" sz="5100" dirty="0"/>
          </a:p>
          <a:p>
            <a:endParaRPr lang="en-GB" dirty="0"/>
          </a:p>
        </p:txBody>
      </p:sp>
      <p:pic>
        <p:nvPicPr>
          <p:cNvPr id="48132" name="Picture 4" descr="CARS Model"/>
          <p:cNvPicPr>
            <a:picLocks noChangeAspect="1" noChangeArrowheads="1"/>
          </p:cNvPicPr>
          <p:nvPr/>
        </p:nvPicPr>
        <p:blipFill>
          <a:blip r:embed="rId6" cstate="print"/>
          <a:srcRect/>
          <a:stretch>
            <a:fillRect/>
          </a:stretch>
        </p:blipFill>
        <p:spPr bwMode="auto">
          <a:xfrm>
            <a:off x="4714876" y="3286124"/>
            <a:ext cx="3547138" cy="2664296"/>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8363272" cy="1143000"/>
          </a:xfrm>
        </p:spPr>
        <p:txBody>
          <a:bodyPr>
            <a:normAutofit/>
          </a:bodyPr>
          <a:lstStyle/>
          <a:p>
            <a:pPr algn="l"/>
            <a:r>
              <a:rPr lang="en-GB" sz="3600" dirty="0">
                <a:solidFill>
                  <a:srgbClr val="1D1D1D"/>
                </a:solidFill>
                <a:latin typeface="Arial"/>
                <a:ea typeface="Times New Roman"/>
                <a:cs typeface="Times New Roman"/>
              </a:rPr>
              <a:t>Identification of the Relevant Literature</a:t>
            </a:r>
            <a:endParaRPr lang="en-GB" sz="3600" dirty="0"/>
          </a:p>
        </p:txBody>
      </p:sp>
      <p:sp>
        <p:nvSpPr>
          <p:cNvPr id="3" name="Content Placeholder 2"/>
          <p:cNvSpPr>
            <a:spLocks noGrp="1"/>
          </p:cNvSpPr>
          <p:nvPr>
            <p:ph idx="1"/>
          </p:nvPr>
        </p:nvSpPr>
        <p:spPr>
          <a:xfrm>
            <a:off x="539552" y="1268760"/>
            <a:ext cx="8229600" cy="5328592"/>
          </a:xfrm>
        </p:spPr>
        <p:txBody>
          <a:bodyPr>
            <a:noAutofit/>
          </a:bodyPr>
          <a:lstStyle/>
          <a:p>
            <a:pPr fontAlgn="base"/>
            <a:r>
              <a:rPr lang="en-GB" sz="1800" dirty="0"/>
              <a:t>Demonstrate awareness of existing debates and issues raised in relevant bodies of literature.</a:t>
            </a:r>
          </a:p>
          <a:p>
            <a:pPr fontAlgn="base"/>
            <a:r>
              <a:rPr lang="en-GB" sz="1800" dirty="0"/>
              <a:t>Make references to key articles and texts to show that you appreciate their relevance to your research area. </a:t>
            </a:r>
          </a:p>
          <a:p>
            <a:pPr fontAlgn="base"/>
            <a:r>
              <a:rPr lang="en-GB" sz="1800" dirty="0"/>
              <a:t>Ideally you should demonstrate that your proposed area has not been studied before. </a:t>
            </a:r>
          </a:p>
          <a:p>
            <a:pPr fontAlgn="base">
              <a:buNone/>
            </a:pPr>
            <a:endParaRPr lang="en-GB" sz="1800" dirty="0"/>
          </a:p>
          <a:p>
            <a:pPr fontAlgn="base"/>
            <a:r>
              <a:rPr lang="en-GB" sz="2400" dirty="0"/>
              <a:t>Ensure your review:</a:t>
            </a:r>
          </a:p>
          <a:p>
            <a:pPr lvl="1" fontAlgn="base"/>
            <a:r>
              <a:rPr lang="en-GB" sz="1600" dirty="0"/>
              <a:t>Has organisation and structure</a:t>
            </a:r>
          </a:p>
          <a:p>
            <a:pPr lvl="1" fontAlgn="base"/>
            <a:r>
              <a:rPr lang="en-GB" sz="1600" dirty="0"/>
              <a:t>Has focus, unity and coherence</a:t>
            </a:r>
          </a:p>
          <a:p>
            <a:pPr lvl="1" fontAlgn="base"/>
            <a:r>
              <a:rPr lang="en-GB" sz="1600" dirty="0"/>
              <a:t>Does not repeat information</a:t>
            </a:r>
          </a:p>
          <a:p>
            <a:pPr lvl="1" fontAlgn="base"/>
            <a:r>
              <a:rPr lang="en-GB" sz="1600" dirty="0"/>
              <a:t>Cites influential papers</a:t>
            </a:r>
          </a:p>
          <a:p>
            <a:pPr lvl="1" fontAlgn="base"/>
            <a:r>
              <a:rPr lang="en-GB" sz="1600" dirty="0"/>
              <a:t>Keeps up with recent developments</a:t>
            </a:r>
          </a:p>
          <a:p>
            <a:pPr lvl="1" fontAlgn="base"/>
            <a:r>
              <a:rPr lang="en-GB" sz="1600" dirty="0"/>
              <a:t>Critically evaluates cited papers</a:t>
            </a:r>
          </a:p>
          <a:p>
            <a:pPr lvl="1" fontAlgn="base"/>
            <a:r>
              <a:rPr lang="en-GB" sz="1600" dirty="0"/>
              <a:t>Does not citing irrelevant or trivial references</a:t>
            </a:r>
          </a:p>
          <a:p>
            <a:pPr lvl="1" fontAlgn="base"/>
            <a:r>
              <a:rPr lang="en-GB" sz="1600" dirty="0"/>
              <a:t>Is not too dependent on secondary sources</a:t>
            </a:r>
          </a:p>
          <a:p>
            <a:endParaRPr lang="en-GB" sz="1800" dirty="0"/>
          </a:p>
        </p:txBody>
      </p:sp>
      <p:pic>
        <p:nvPicPr>
          <p:cNvPr id="33794" name="Picture 2" descr="http://www.brad.ac.uk/developme/developingskills/images/books.jpg"/>
          <p:cNvPicPr>
            <a:picLocks noChangeAspect="1" noChangeArrowheads="1"/>
          </p:cNvPicPr>
          <p:nvPr/>
        </p:nvPicPr>
        <p:blipFill>
          <a:blip r:embed="rId3" cstate="print">
            <a:lum contrast="20000"/>
          </a:blip>
          <a:srcRect/>
          <a:stretch>
            <a:fillRect/>
          </a:stretch>
        </p:blipFill>
        <p:spPr bwMode="auto">
          <a:xfrm>
            <a:off x="5436096" y="3140968"/>
            <a:ext cx="3171825" cy="3228975"/>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066CE-9EC9-4D90-AFE4-2F9D4AF7BD27}"/>
              </a:ext>
            </a:extLst>
          </p:cNvPr>
          <p:cNvSpPr>
            <a:spLocks noGrp="1"/>
          </p:cNvSpPr>
          <p:nvPr>
            <p:ph type="title"/>
          </p:nvPr>
        </p:nvSpPr>
        <p:spPr/>
        <p:txBody>
          <a:bodyPr/>
          <a:lstStyle/>
          <a:p>
            <a:r>
              <a:rPr lang="en-US" dirty="0">
                <a:solidFill>
                  <a:srgbClr val="FF0000"/>
                </a:solidFill>
              </a:rPr>
              <a:t>Literature Review</a:t>
            </a:r>
            <a:endParaRPr lang="en-GB" dirty="0">
              <a:solidFill>
                <a:srgbClr val="FF0000"/>
              </a:solidFill>
            </a:endParaRPr>
          </a:p>
        </p:txBody>
      </p:sp>
      <p:sp>
        <p:nvSpPr>
          <p:cNvPr id="3" name="Content Placeholder 2">
            <a:extLst>
              <a:ext uri="{FF2B5EF4-FFF2-40B4-BE49-F238E27FC236}">
                <a16:creationId xmlns:a16="http://schemas.microsoft.com/office/drawing/2014/main" id="{A4B72D63-BB7C-4E16-AE7A-2362E265DF1D}"/>
              </a:ext>
            </a:extLst>
          </p:cNvPr>
          <p:cNvSpPr>
            <a:spLocks noGrp="1"/>
          </p:cNvSpPr>
          <p:nvPr>
            <p:ph idx="1"/>
          </p:nvPr>
        </p:nvSpPr>
        <p:spPr/>
        <p:txBody>
          <a:bodyPr/>
          <a:lstStyle/>
          <a:p>
            <a:pPr lvl="0"/>
            <a:r>
              <a:rPr lang="en-US" sz="3000" dirty="0">
                <a:solidFill>
                  <a:prstClr val="black"/>
                </a:solidFill>
              </a:rPr>
              <a:t>There’s a really useful 6 page handout on writing Literature Reviews on Moodle-a pdf called ‘How to Write a Literature Review’ </a:t>
            </a:r>
          </a:p>
          <a:p>
            <a:pPr lvl="0"/>
            <a:r>
              <a:rPr lang="en-US" sz="3000" dirty="0">
                <a:solidFill>
                  <a:prstClr val="black"/>
                </a:solidFill>
              </a:rPr>
              <a:t>It describes some approaches for organizing your response, useful language and a sample extract</a:t>
            </a:r>
          </a:p>
          <a:p>
            <a:pPr lvl="1"/>
            <a:endParaRPr lang="en-US" sz="2600" dirty="0">
              <a:solidFill>
                <a:prstClr val="black"/>
              </a:solidFill>
            </a:endParaRPr>
          </a:p>
          <a:p>
            <a:endParaRPr lang="en-GB" dirty="0"/>
          </a:p>
        </p:txBody>
      </p:sp>
    </p:spTree>
    <p:extLst>
      <p:ext uri="{BB962C8B-B14F-4D97-AF65-F5344CB8AC3E}">
        <p14:creationId xmlns:p14="http://schemas.microsoft.com/office/powerpoint/2010/main" val="2787572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a:t>Key Research Questions</a:t>
            </a:r>
            <a:br>
              <a:rPr lang="en-GB" dirty="0"/>
            </a:br>
            <a:endParaRPr lang="en-GB" dirty="0"/>
          </a:p>
        </p:txBody>
      </p:sp>
      <p:sp>
        <p:nvSpPr>
          <p:cNvPr id="3" name="Content Placeholder 2"/>
          <p:cNvSpPr>
            <a:spLocks noGrp="1"/>
          </p:cNvSpPr>
          <p:nvPr>
            <p:ph idx="1"/>
          </p:nvPr>
        </p:nvSpPr>
        <p:spPr>
          <a:xfrm>
            <a:off x="467544" y="2060848"/>
            <a:ext cx="8229600" cy="4525963"/>
          </a:xfrm>
        </p:spPr>
        <p:txBody>
          <a:bodyPr/>
          <a:lstStyle/>
          <a:p>
            <a:pPr>
              <a:buNone/>
            </a:pPr>
            <a:r>
              <a:rPr lang="en-GB" sz="1800" dirty="0"/>
              <a:t>	</a:t>
            </a:r>
            <a:r>
              <a:rPr lang="en-GB" sz="2800" dirty="0">
                <a:solidFill>
                  <a:srgbClr val="FF0000"/>
                </a:solidFill>
              </a:rPr>
              <a:t>Need to demonstrate that  topic can be completed within normal time period allowed. Therefore, you need to demonstrate that it is manageable, and so focus on key questions within your niche area.</a:t>
            </a:r>
          </a:p>
          <a:p>
            <a:pPr>
              <a:buNone/>
            </a:pPr>
            <a:endParaRPr lang="en-GB" sz="2800" dirty="0">
              <a:solidFill>
                <a:srgbClr val="FF0000"/>
              </a:solidFill>
            </a:endParaRPr>
          </a:p>
          <a:p>
            <a:pPr algn="ctr">
              <a:buNone/>
            </a:pPr>
            <a:r>
              <a:rPr lang="en-GB" sz="2800" i="1" dirty="0">
                <a:solidFill>
                  <a:schemeClr val="accent1"/>
                </a:solidFill>
              </a:rPr>
              <a:t>Remember Kipling!</a:t>
            </a:r>
          </a:p>
          <a:p>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9F54-650E-42A7-8BBF-723BFD49D79A}"/>
              </a:ext>
            </a:extLst>
          </p:cNvPr>
          <p:cNvSpPr>
            <a:spLocks noGrp="1"/>
          </p:cNvSpPr>
          <p:nvPr>
            <p:ph type="title"/>
          </p:nvPr>
        </p:nvSpPr>
        <p:spPr/>
        <p:txBody>
          <a:bodyPr/>
          <a:lstStyle/>
          <a:p>
            <a:r>
              <a:rPr lang="en-US" dirty="0"/>
              <a:t>Writing Aims and Objectives</a:t>
            </a:r>
            <a:endParaRPr lang="en-GB" dirty="0"/>
          </a:p>
        </p:txBody>
      </p:sp>
      <p:sp>
        <p:nvSpPr>
          <p:cNvPr id="3" name="Content Placeholder 2">
            <a:extLst>
              <a:ext uri="{FF2B5EF4-FFF2-40B4-BE49-F238E27FC236}">
                <a16:creationId xmlns:a16="http://schemas.microsoft.com/office/drawing/2014/main" id="{593A0D91-7979-43CF-9ABD-0C4AC6ACC127}"/>
              </a:ext>
            </a:extLst>
          </p:cNvPr>
          <p:cNvSpPr>
            <a:spLocks noGrp="1"/>
          </p:cNvSpPr>
          <p:nvPr>
            <p:ph idx="1"/>
          </p:nvPr>
        </p:nvSpPr>
        <p:spPr/>
        <p:txBody>
          <a:bodyPr/>
          <a:lstStyle/>
          <a:p>
            <a:pPr lvl="0"/>
            <a:r>
              <a:rPr lang="en-US" dirty="0">
                <a:solidFill>
                  <a:prstClr val="black"/>
                </a:solidFill>
              </a:rPr>
              <a:t>There’s a short </a:t>
            </a:r>
            <a:r>
              <a:rPr lang="en-US" dirty="0" err="1">
                <a:solidFill>
                  <a:prstClr val="black"/>
                </a:solidFill>
              </a:rPr>
              <a:t>Powerpoint</a:t>
            </a:r>
            <a:r>
              <a:rPr lang="en-US" dirty="0">
                <a:solidFill>
                  <a:prstClr val="black"/>
                </a:solidFill>
              </a:rPr>
              <a:t> on ‘Writing Aims and Objectives’ on Moodle. </a:t>
            </a:r>
          </a:p>
          <a:p>
            <a:pPr lvl="0"/>
            <a:r>
              <a:rPr lang="en-US" dirty="0">
                <a:solidFill>
                  <a:prstClr val="black"/>
                </a:solidFill>
              </a:rPr>
              <a:t>It clearly describes the difference between the two, and provides notes on key language and some worked examples</a:t>
            </a:r>
          </a:p>
          <a:p>
            <a:endParaRPr lang="en-GB" dirty="0"/>
          </a:p>
        </p:txBody>
      </p:sp>
    </p:spTree>
    <p:extLst>
      <p:ext uri="{BB962C8B-B14F-4D97-AF65-F5344CB8AC3E}">
        <p14:creationId xmlns:p14="http://schemas.microsoft.com/office/powerpoint/2010/main" val="28319946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a:t>Methodology</a:t>
            </a:r>
            <a:br>
              <a:rPr lang="en-GB" dirty="0"/>
            </a:br>
            <a:endParaRPr lang="en-GB" dirty="0"/>
          </a:p>
        </p:txBody>
      </p:sp>
      <p:sp>
        <p:nvSpPr>
          <p:cNvPr id="3" name="Content Placeholder 2"/>
          <p:cNvSpPr>
            <a:spLocks noGrp="1"/>
          </p:cNvSpPr>
          <p:nvPr>
            <p:ph idx="1"/>
          </p:nvPr>
        </p:nvSpPr>
        <p:spPr>
          <a:xfrm>
            <a:off x="251520" y="1916832"/>
            <a:ext cx="8640960" cy="4813995"/>
          </a:xfrm>
        </p:spPr>
        <p:txBody>
          <a:bodyPr>
            <a:normAutofit/>
          </a:bodyPr>
          <a:lstStyle/>
          <a:p>
            <a:r>
              <a:rPr lang="en-GB" sz="1800" dirty="0"/>
              <a:t>Need to:</a:t>
            </a:r>
          </a:p>
          <a:p>
            <a:pPr lvl="1"/>
            <a:r>
              <a:rPr lang="en-GB" sz="1800" dirty="0"/>
              <a:t>demonstrate an awareness of  methodological tools available to you </a:t>
            </a:r>
          </a:p>
          <a:p>
            <a:pPr lvl="1"/>
            <a:r>
              <a:rPr lang="en-GB" sz="1800" dirty="0"/>
              <a:t>show some understanding of which would be suitable for your research</a:t>
            </a:r>
          </a:p>
          <a:p>
            <a:pPr lvl="1">
              <a:buNone/>
            </a:pPr>
            <a:endParaRPr lang="en-GB" sz="1800" dirty="0"/>
          </a:p>
          <a:p>
            <a:r>
              <a:rPr lang="en-GB" sz="1800" dirty="0"/>
              <a:t>Qualitative methods, including the analysis of interviews, maybe appropriate</a:t>
            </a:r>
          </a:p>
          <a:p>
            <a:endParaRPr lang="en-GB" sz="1800" dirty="0"/>
          </a:p>
          <a:p>
            <a:r>
              <a:rPr lang="en-GB" sz="1800" dirty="0"/>
              <a:t>Or your approach may involve forecasting or statistical modelling</a:t>
            </a:r>
          </a:p>
          <a:p>
            <a:endParaRPr lang="en-GB" sz="1800" dirty="0"/>
          </a:p>
          <a:p>
            <a:r>
              <a:rPr lang="en-GB" sz="1800" dirty="0"/>
              <a:t> In other cases you may be combining methodologies</a:t>
            </a:r>
          </a:p>
          <a:p>
            <a:endParaRPr lang="en-GB" sz="1800" dirty="0"/>
          </a:p>
          <a:p>
            <a:r>
              <a:rPr lang="en-GB" sz="1800" dirty="0"/>
              <a:t>You need to specify approach </a:t>
            </a:r>
            <a:r>
              <a:rPr lang="en-GB" sz="1800" b="1" dirty="0"/>
              <a:t>you feel will be most appropriate</a:t>
            </a:r>
          </a:p>
        </p:txBody>
      </p:sp>
      <p:pic>
        <p:nvPicPr>
          <p:cNvPr id="29698" name="Picture 2" descr="http://howtobeasalesmanbook.com/blog/wp-content/uploads/2013/01/Strategy-and-Methodology-648309.jpg"/>
          <p:cNvPicPr>
            <a:picLocks noChangeAspect="1" noChangeArrowheads="1"/>
          </p:cNvPicPr>
          <p:nvPr/>
        </p:nvPicPr>
        <p:blipFill>
          <a:blip r:embed="rId3" cstate="print"/>
          <a:srcRect/>
          <a:stretch>
            <a:fillRect/>
          </a:stretch>
        </p:blipFill>
        <p:spPr bwMode="auto">
          <a:xfrm>
            <a:off x="6084168" y="332656"/>
            <a:ext cx="2331880" cy="1647032"/>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ChangeArrowheads="1"/>
          </p:cNvSpPr>
          <p:nvPr/>
        </p:nvSpPr>
        <p:spPr bwMode="auto">
          <a:xfrm>
            <a:off x="0" y="0"/>
            <a:ext cx="9144000" cy="333375"/>
          </a:xfrm>
          <a:prstGeom prst="rect">
            <a:avLst/>
          </a:prstGeom>
          <a:noFill/>
          <a:ln w="9525">
            <a:noFill/>
            <a:miter lim="800000"/>
            <a:headEnd/>
            <a:tailEnd/>
          </a:ln>
        </p:spPr>
        <p:txBody>
          <a:bodyPr/>
          <a:lstStyle/>
          <a:p>
            <a:r>
              <a:rPr lang="en-GB" sz="1800" b="1" dirty="0">
                <a:solidFill>
                  <a:schemeClr val="tx2"/>
                </a:solidFill>
                <a:latin typeface="Verdana" pitchFamily="34" charset="0"/>
              </a:rPr>
              <a:t>METHODOLOGY AND METHODS</a:t>
            </a:r>
          </a:p>
        </p:txBody>
      </p:sp>
      <p:sp>
        <p:nvSpPr>
          <p:cNvPr id="78853" name="Rectangle 5"/>
          <p:cNvSpPr>
            <a:spLocks noChangeArrowheads="1"/>
          </p:cNvSpPr>
          <p:nvPr/>
        </p:nvSpPr>
        <p:spPr bwMode="auto">
          <a:xfrm>
            <a:off x="251520" y="476250"/>
            <a:ext cx="7992888" cy="5616575"/>
          </a:xfrm>
          <a:prstGeom prst="rect">
            <a:avLst/>
          </a:prstGeom>
          <a:solidFill>
            <a:schemeClr val="bg1"/>
          </a:solidFill>
          <a:ln w="9525">
            <a:solidFill>
              <a:schemeClr val="bg1"/>
            </a:solidFill>
            <a:miter lim="800000"/>
            <a:headEnd/>
            <a:tailEnd/>
          </a:ln>
        </p:spPr>
        <p:txBody>
          <a:bodyPr wrap="none" anchor="ctr"/>
          <a:lstStyle/>
          <a:p>
            <a:endParaRPr lang="en-GB" sz="1800" dirty="0"/>
          </a:p>
          <a:p>
            <a:endParaRPr lang="en-GB" sz="1800" dirty="0"/>
          </a:p>
          <a:p>
            <a:endParaRPr lang="en-GB" sz="1800" dirty="0"/>
          </a:p>
          <a:p>
            <a:pPr>
              <a:buFont typeface="Arial" pitchFamily="34" charset="0"/>
              <a:buChar char="•"/>
            </a:pPr>
            <a:r>
              <a:rPr lang="en-GB" b="1" dirty="0"/>
              <a:t>Research methods</a:t>
            </a:r>
            <a:r>
              <a:rPr lang="en-GB" dirty="0"/>
              <a:t> are the means by which the methodology is achieved and realised.</a:t>
            </a:r>
          </a:p>
          <a:p>
            <a:pPr>
              <a:buFont typeface="Arial" pitchFamily="34" charset="0"/>
              <a:buChar char="•"/>
            </a:pPr>
            <a:endParaRPr lang="en-GB" dirty="0"/>
          </a:p>
          <a:p>
            <a:pPr>
              <a:buFont typeface="Arial" pitchFamily="34" charset="0"/>
              <a:buChar char="•"/>
            </a:pPr>
            <a:r>
              <a:rPr lang="en-GB" dirty="0"/>
              <a:t>Methods only arise in the service of specific needs and purposes.  Their usefulness falls away</a:t>
            </a:r>
          </a:p>
          <a:p>
            <a:pPr>
              <a:buFont typeface="Arial" pitchFamily="34" charset="0"/>
              <a:buChar char="•"/>
            </a:pPr>
            <a:r>
              <a:rPr lang="en-GB" dirty="0"/>
              <a:t>if, and as, these needs are met and the purposes are fulfilled.</a:t>
            </a:r>
          </a:p>
          <a:p>
            <a:pPr>
              <a:buFont typeface="Arial" pitchFamily="34" charset="0"/>
              <a:buChar char="•"/>
            </a:pPr>
            <a:endParaRPr lang="en-GB" dirty="0"/>
          </a:p>
          <a:p>
            <a:pPr>
              <a:buFont typeface="Arial" pitchFamily="34" charset="0"/>
              <a:buChar char="•"/>
            </a:pPr>
            <a:r>
              <a:rPr lang="en-GB" dirty="0"/>
              <a:t>The appropriateness and purpose of each research method ~ how it contributes to answering</a:t>
            </a:r>
          </a:p>
          <a:p>
            <a:pPr>
              <a:buFont typeface="Arial" pitchFamily="34" charset="0"/>
              <a:buChar char="•"/>
            </a:pPr>
            <a:r>
              <a:rPr lang="en-GB" dirty="0"/>
              <a:t>the research question(s) ~ has to be clearly explained within the research methodology.</a:t>
            </a:r>
          </a:p>
          <a:p>
            <a:pPr>
              <a:buFont typeface="Arial" pitchFamily="34" charset="0"/>
              <a:buChar char="•"/>
            </a:pPr>
            <a:endParaRPr lang="en-GB" dirty="0"/>
          </a:p>
          <a:p>
            <a:pPr>
              <a:buFont typeface="Arial" pitchFamily="34" charset="0"/>
              <a:buChar char="•"/>
            </a:pPr>
            <a:r>
              <a:rPr lang="en-GB" dirty="0"/>
              <a:t>Methods are simply instruments that collect data in the field.</a:t>
            </a:r>
          </a:p>
          <a:p>
            <a:pPr>
              <a:buFont typeface="Arial" pitchFamily="34" charset="0"/>
              <a:buChar char="•"/>
            </a:pPr>
            <a:endParaRPr lang="en-GB" dirty="0"/>
          </a:p>
          <a:p>
            <a:pPr>
              <a:buFont typeface="Arial" pitchFamily="34" charset="0"/>
              <a:buChar char="•"/>
            </a:pPr>
            <a:r>
              <a:rPr lang="en-GB" dirty="0"/>
              <a:t>Methods are discrete ways that collect specific forms of data, and may be used on their own </a:t>
            </a:r>
          </a:p>
          <a:p>
            <a:pPr>
              <a:buFont typeface="Arial" pitchFamily="34" charset="0"/>
              <a:buChar char="•"/>
            </a:pPr>
            <a:r>
              <a:rPr lang="en-GB" dirty="0"/>
              <a:t>or in combinations to provide deeper forms of data collection. </a:t>
            </a:r>
          </a:p>
          <a:p>
            <a:pPr>
              <a:buFont typeface="Arial" pitchFamily="34" charset="0"/>
              <a:buChar char="•"/>
            </a:pPr>
            <a:endParaRPr lang="en-GB" dirty="0"/>
          </a:p>
          <a:p>
            <a:pPr>
              <a:buFont typeface="Arial" pitchFamily="34" charset="0"/>
              <a:buChar char="•"/>
            </a:pPr>
            <a:r>
              <a:rPr lang="en-GB" dirty="0"/>
              <a:t>It is the considered selection and application of research methods that provide a form of </a:t>
            </a:r>
          </a:p>
          <a:p>
            <a:pPr>
              <a:buFont typeface="Arial" pitchFamily="34" charset="0"/>
              <a:buChar char="•"/>
            </a:pPr>
            <a:r>
              <a:rPr lang="en-GB" dirty="0"/>
              <a:t>distinctiveness to an investigation.</a:t>
            </a:r>
          </a:p>
        </p:txBody>
      </p:sp>
      <p:sp>
        <p:nvSpPr>
          <p:cNvPr id="78855" name="Rectangle 7"/>
          <p:cNvSpPr>
            <a:spLocks noChangeArrowheads="1"/>
          </p:cNvSpPr>
          <p:nvPr/>
        </p:nvSpPr>
        <p:spPr bwMode="auto">
          <a:xfrm>
            <a:off x="250825" y="692150"/>
            <a:ext cx="8569325" cy="720725"/>
          </a:xfrm>
          <a:prstGeom prst="rect">
            <a:avLst/>
          </a:prstGeom>
          <a:solidFill>
            <a:schemeClr val="bg1"/>
          </a:solidFill>
          <a:ln w="9525">
            <a:noFill/>
            <a:miter lim="800000"/>
            <a:headEnd/>
            <a:tailEnd/>
          </a:ln>
        </p:spPr>
        <p:txBody>
          <a:bodyPr wrap="none" anchor="ctr"/>
          <a:lstStyle/>
          <a:p>
            <a:r>
              <a:rPr lang="en-GB" b="1" dirty="0"/>
              <a:t>Methodology</a:t>
            </a:r>
            <a:r>
              <a:rPr lang="en-GB" dirty="0"/>
              <a:t> is the research strategy from which fieldwork is undertaken.</a:t>
            </a:r>
          </a:p>
          <a:p>
            <a:r>
              <a:rPr lang="en-GB" dirty="0"/>
              <a:t>It is either deductive (quantitative), inductive (qualitative) or uses mixed methodologies.</a:t>
            </a:r>
          </a:p>
          <a:p>
            <a:pPr algn="ct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855"/>
                                        </p:tgtEl>
                                        <p:attrNameLst>
                                          <p:attrName>style.visibility</p:attrName>
                                        </p:attrNameLst>
                                      </p:cBhvr>
                                      <p:to>
                                        <p:strVal val="visible"/>
                                      </p:to>
                                    </p:set>
                                    <p:animEffect transition="in" filter="wipe(left)">
                                      <p:cBhvr>
                                        <p:cTn id="7" dur="2000"/>
                                        <p:tgtEl>
                                          <p:spTgt spid="788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8853"/>
                                        </p:tgtEl>
                                        <p:attrNameLst>
                                          <p:attrName>style.visibility</p:attrName>
                                        </p:attrNameLst>
                                      </p:cBhvr>
                                      <p:to>
                                        <p:strVal val="visible"/>
                                      </p:to>
                                    </p:set>
                                    <p:animEffect transition="in" filter="wipe(left)">
                                      <p:cBhvr>
                                        <p:cTn id="12" dur="2000"/>
                                        <p:tgtEl>
                                          <p:spTgt spid="78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3" grpId="0" animBg="1"/>
      <p:bldP spid="7885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a:t>Timescale/Research Planning</a:t>
            </a:r>
            <a:br>
              <a:rPr lang="en-GB" dirty="0"/>
            </a:br>
            <a:endParaRPr lang="en-GB" dirty="0"/>
          </a:p>
        </p:txBody>
      </p:sp>
      <p:sp>
        <p:nvSpPr>
          <p:cNvPr id="3" name="Content Placeholder 2"/>
          <p:cNvSpPr>
            <a:spLocks noGrp="1"/>
          </p:cNvSpPr>
          <p:nvPr>
            <p:ph idx="1"/>
          </p:nvPr>
        </p:nvSpPr>
        <p:spPr/>
        <p:txBody>
          <a:bodyPr/>
          <a:lstStyle/>
          <a:p>
            <a:r>
              <a:rPr lang="en-GB" dirty="0"/>
              <a:t>Need to demonstrate an awareness of the need for planning and the timescale of the research.</a:t>
            </a:r>
          </a:p>
          <a:p>
            <a:endParaRPr lang="en-GB" dirty="0"/>
          </a:p>
        </p:txBody>
      </p:sp>
      <p:pic>
        <p:nvPicPr>
          <p:cNvPr id="27650" name="Picture 2" descr="http://damyantiwrites.files.wordpress.com/2011/04/hourglass-icon.jpg"/>
          <p:cNvPicPr>
            <a:picLocks noChangeAspect="1" noChangeArrowheads="1"/>
          </p:cNvPicPr>
          <p:nvPr/>
        </p:nvPicPr>
        <p:blipFill>
          <a:blip r:embed="rId3" cstate="print"/>
          <a:srcRect/>
          <a:stretch>
            <a:fillRect/>
          </a:stretch>
        </p:blipFill>
        <p:spPr bwMode="auto">
          <a:xfrm>
            <a:off x="5436096" y="3717032"/>
            <a:ext cx="3046984" cy="2437588"/>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a:blip r:embed="rId2"/>
          <a:stretch>
            <a:fillRect/>
          </a:stretch>
        </p:blipFill>
        <p:spPr>
          <a:xfrm>
            <a:off x="1979712" y="476672"/>
            <a:ext cx="5095875" cy="4362450"/>
          </a:xfrm>
          <a:prstGeom prst="rect">
            <a:avLst/>
          </a:prstGeom>
        </p:spPr>
      </p:pic>
      <p:sp>
        <p:nvSpPr>
          <p:cNvPr id="5" name="TextBox 4"/>
          <p:cNvSpPr txBox="1"/>
          <p:nvPr/>
        </p:nvSpPr>
        <p:spPr>
          <a:xfrm>
            <a:off x="1979712" y="5013176"/>
            <a:ext cx="5095875" cy="369332"/>
          </a:xfrm>
          <a:prstGeom prst="rect">
            <a:avLst/>
          </a:prstGeom>
          <a:noFill/>
        </p:spPr>
        <p:txBody>
          <a:bodyPr wrap="square" rtlCol="0">
            <a:spAutoFit/>
          </a:bodyPr>
          <a:lstStyle/>
          <a:p>
            <a:r>
              <a:rPr lang="en-GB" i="1" dirty="0"/>
              <a:t>A Gantt Chart</a:t>
            </a:r>
          </a:p>
        </p:txBody>
      </p:sp>
    </p:spTree>
    <p:extLst>
      <p:ext uri="{BB962C8B-B14F-4D97-AF65-F5344CB8AC3E}">
        <p14:creationId xmlns:p14="http://schemas.microsoft.com/office/powerpoint/2010/main" val="1345727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members.shaw.ca/horne/cmns/ProposalTimeline.jpg"/>
          <p:cNvPicPr>
            <a:picLocks noChangeAspect="1" noChangeArrowheads="1"/>
          </p:cNvPicPr>
          <p:nvPr/>
        </p:nvPicPr>
        <p:blipFill>
          <a:blip r:embed="rId2" cstate="print"/>
          <a:srcRect/>
          <a:stretch>
            <a:fillRect/>
          </a:stretch>
        </p:blipFill>
        <p:spPr bwMode="auto">
          <a:xfrm>
            <a:off x="571472" y="1285860"/>
            <a:ext cx="7940022" cy="3786214"/>
          </a:xfrm>
          <a:prstGeom prst="rect">
            <a:avLst/>
          </a:prstGeom>
          <a:noFill/>
        </p:spPr>
      </p:pic>
    </p:spTree>
    <p:extLst>
      <p:ext uri="{BB962C8B-B14F-4D97-AF65-F5344CB8AC3E}">
        <p14:creationId xmlns:p14="http://schemas.microsoft.com/office/powerpoint/2010/main" val="5090898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18A84-5E84-4B89-A4FC-ADCB7C3E46B2}"/>
              </a:ext>
            </a:extLst>
          </p:cNvPr>
          <p:cNvSpPr>
            <a:spLocks noGrp="1"/>
          </p:cNvSpPr>
          <p:nvPr>
            <p:ph type="title"/>
          </p:nvPr>
        </p:nvSpPr>
        <p:spPr/>
        <p:txBody>
          <a:bodyPr/>
          <a:lstStyle/>
          <a:p>
            <a:r>
              <a:rPr lang="en-US" dirty="0"/>
              <a:t>A Typical Dissertation Schedule</a:t>
            </a:r>
            <a:endParaRPr lang="en-GB" dirty="0"/>
          </a:p>
        </p:txBody>
      </p:sp>
      <p:sp>
        <p:nvSpPr>
          <p:cNvPr id="3" name="Content Placeholder 2">
            <a:extLst>
              <a:ext uri="{FF2B5EF4-FFF2-40B4-BE49-F238E27FC236}">
                <a16:creationId xmlns:a16="http://schemas.microsoft.com/office/drawing/2014/main" id="{1878BB3D-65AF-4B2F-973A-5FF990560376}"/>
              </a:ext>
            </a:extLst>
          </p:cNvPr>
          <p:cNvSpPr>
            <a:spLocks noGrp="1"/>
          </p:cNvSpPr>
          <p:nvPr>
            <p:ph idx="1"/>
          </p:nvPr>
        </p:nvSpPr>
        <p:spPr/>
        <p:txBody>
          <a:bodyPr/>
          <a:lstStyle/>
          <a:p>
            <a:pPr lvl="0"/>
            <a:r>
              <a:rPr lang="en-US" sz="3000" dirty="0">
                <a:solidFill>
                  <a:prstClr val="black"/>
                </a:solidFill>
              </a:rPr>
              <a:t>There’s a very detailed  breakdown of all the stages of a typical dissertation schedule on Moodle.</a:t>
            </a:r>
            <a:endParaRPr lang="en-GB" dirty="0"/>
          </a:p>
        </p:txBody>
      </p:sp>
    </p:spTree>
    <p:extLst>
      <p:ext uri="{BB962C8B-B14F-4D97-AF65-F5344CB8AC3E}">
        <p14:creationId xmlns:p14="http://schemas.microsoft.com/office/powerpoint/2010/main" val="31221245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a:t>Bibliography</a:t>
            </a:r>
            <a:br>
              <a:rPr lang="en-GB" dirty="0"/>
            </a:br>
            <a:endParaRPr lang="en-GB" dirty="0"/>
          </a:p>
        </p:txBody>
      </p:sp>
      <p:sp>
        <p:nvSpPr>
          <p:cNvPr id="3" name="Content Placeholder 2"/>
          <p:cNvSpPr>
            <a:spLocks noGrp="1"/>
          </p:cNvSpPr>
          <p:nvPr>
            <p:ph idx="1"/>
          </p:nvPr>
        </p:nvSpPr>
        <p:spPr/>
        <p:txBody>
          <a:bodyPr/>
          <a:lstStyle/>
          <a:p>
            <a:r>
              <a:rPr lang="en-GB" sz="2000" dirty="0"/>
              <a:t>include short list of references to key articles and texts included in application</a:t>
            </a:r>
          </a:p>
          <a:p>
            <a:endParaRPr lang="en-GB" dirty="0"/>
          </a:p>
          <a:p>
            <a:endParaRPr lang="en-GB" dirty="0"/>
          </a:p>
          <a:p>
            <a:endParaRPr lang="en-GB" dirty="0"/>
          </a:p>
        </p:txBody>
      </p:sp>
      <p:pic>
        <p:nvPicPr>
          <p:cNvPr id="25602" name="Picture 2" descr="http://www.internetmonk.com/wp-content/uploads/Books.jpeg"/>
          <p:cNvPicPr>
            <a:picLocks noChangeAspect="1" noChangeArrowheads="1"/>
          </p:cNvPicPr>
          <p:nvPr/>
        </p:nvPicPr>
        <p:blipFill>
          <a:blip r:embed="rId3" cstate="print"/>
          <a:srcRect/>
          <a:stretch>
            <a:fillRect/>
          </a:stretch>
        </p:blipFill>
        <p:spPr bwMode="auto">
          <a:xfrm>
            <a:off x="2424100" y="2420888"/>
            <a:ext cx="4295800" cy="3208426"/>
          </a:xfrm>
          <a:prstGeom prst="rect">
            <a:avLst/>
          </a:prstGeom>
          <a:noFill/>
        </p:spPr>
      </p:pic>
      <p:sp>
        <p:nvSpPr>
          <p:cNvPr id="4" name="TextBox 3">
            <a:extLst>
              <a:ext uri="{FF2B5EF4-FFF2-40B4-BE49-F238E27FC236}">
                <a16:creationId xmlns:a16="http://schemas.microsoft.com/office/drawing/2014/main" id="{D4DFBA5C-CDAC-4FCD-B8F5-C778A3BC136F}"/>
              </a:ext>
            </a:extLst>
          </p:cNvPr>
          <p:cNvSpPr txBox="1"/>
          <p:nvPr/>
        </p:nvSpPr>
        <p:spPr>
          <a:xfrm>
            <a:off x="457200" y="5937031"/>
            <a:ext cx="8229600" cy="646331"/>
          </a:xfrm>
          <a:prstGeom prst="rect">
            <a:avLst/>
          </a:prstGeom>
          <a:noFill/>
        </p:spPr>
        <p:txBody>
          <a:bodyPr wrap="square" rtlCol="0">
            <a:spAutoFit/>
          </a:bodyPr>
          <a:lstStyle/>
          <a:p>
            <a:r>
              <a:rPr lang="en-US" dirty="0"/>
              <a:t>You should use the Harvard Referencing System as set out on Cite Them Right (website).</a:t>
            </a:r>
            <a:endParaRPr lang="en-GB"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GB" dirty="0"/>
              <a:t>And remember…</a:t>
            </a:r>
          </a:p>
        </p:txBody>
      </p:sp>
      <p:sp>
        <p:nvSpPr>
          <p:cNvPr id="3" name="Content Placeholder 2"/>
          <p:cNvSpPr>
            <a:spLocks noGrp="1"/>
          </p:cNvSpPr>
          <p:nvPr>
            <p:ph idx="1"/>
          </p:nvPr>
        </p:nvSpPr>
        <p:spPr/>
        <p:txBody>
          <a:bodyPr>
            <a:noAutofit/>
          </a:bodyPr>
          <a:lstStyle/>
          <a:p>
            <a:pPr>
              <a:buNone/>
            </a:pPr>
            <a:r>
              <a:rPr lang="en-GB" sz="1800" dirty="0"/>
              <a:t>• Don‘t try and do too much as you only have a limited period of time</a:t>
            </a:r>
          </a:p>
          <a:p>
            <a:pPr>
              <a:buNone/>
            </a:pPr>
            <a:r>
              <a:rPr lang="en-GB" sz="1800" dirty="0"/>
              <a:t>• Clarity essential </a:t>
            </a:r>
          </a:p>
          <a:p>
            <a:pPr>
              <a:buNone/>
            </a:pPr>
            <a:r>
              <a:rPr lang="en-GB" sz="1800" dirty="0"/>
              <a:t>• Note marking scheme –what are your tutors looking for? </a:t>
            </a:r>
          </a:p>
          <a:p>
            <a:pPr>
              <a:buNone/>
            </a:pPr>
            <a:endParaRPr lang="en-GB" sz="1800" dirty="0"/>
          </a:p>
          <a:p>
            <a:pPr>
              <a:buNone/>
            </a:pPr>
            <a:r>
              <a:rPr lang="en-GB" sz="1800" dirty="0"/>
              <a:t>• </a:t>
            </a:r>
            <a:r>
              <a:rPr lang="en-GB" sz="1800" dirty="0">
                <a:solidFill>
                  <a:srgbClr val="FF0000"/>
                </a:solidFill>
              </a:rPr>
              <a:t>REMEMBER</a:t>
            </a:r>
          </a:p>
          <a:p>
            <a:pPr>
              <a:buNone/>
            </a:pPr>
            <a:endParaRPr lang="en-GB" sz="1800" dirty="0">
              <a:solidFill>
                <a:srgbClr val="FF0000"/>
              </a:solidFill>
            </a:endParaRPr>
          </a:p>
          <a:p>
            <a:pPr algn="ctr">
              <a:buNone/>
            </a:pPr>
            <a:r>
              <a:rPr lang="en-GB" sz="2400" dirty="0">
                <a:solidFill>
                  <a:srgbClr val="FF0000"/>
                </a:solidFill>
              </a:rPr>
              <a:t>You can change proposal as you go along </a:t>
            </a:r>
          </a:p>
          <a:p>
            <a:pPr>
              <a:buNone/>
            </a:pPr>
            <a:endParaRPr lang="en-GB"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Examples</a:t>
            </a:r>
          </a:p>
        </p:txBody>
      </p:sp>
      <p:sp>
        <p:nvSpPr>
          <p:cNvPr id="3" name="Content Placeholder 2"/>
          <p:cNvSpPr>
            <a:spLocks noGrp="1"/>
          </p:cNvSpPr>
          <p:nvPr>
            <p:ph idx="1"/>
          </p:nvPr>
        </p:nvSpPr>
        <p:spPr/>
        <p:txBody>
          <a:bodyPr>
            <a:normAutofit/>
          </a:bodyPr>
          <a:lstStyle/>
          <a:p>
            <a:r>
              <a:rPr lang="en-GB" dirty="0">
                <a:hlinkClick r:id="rId3">
                  <a:extLst>
                    <a:ext uri="{A12FA001-AC4F-418D-AE19-62706E023703}">
                      <ahyp:hlinkClr xmlns:ahyp="http://schemas.microsoft.com/office/drawing/2018/hyperlinkcolor" val="tx"/>
                    </a:ext>
                  </a:extLst>
                </a:hlinkClick>
              </a:rPr>
              <a:t>There are a couple of good examples of dissertation proposals on Moodle </a:t>
            </a:r>
          </a:p>
          <a:p>
            <a:endParaRPr lang="en-GB" dirty="0">
              <a:hlinkClick r:id="rId3">
                <a:extLst>
                  <a:ext uri="{A12FA001-AC4F-418D-AE19-62706E023703}">
                    <ahyp:hlinkClr xmlns:ahyp="http://schemas.microsoft.com/office/drawing/2018/hyperlinkcolor" val="tx"/>
                  </a:ext>
                </a:extLst>
              </a:hlinkClick>
            </a:endParaRPr>
          </a:p>
          <a:p>
            <a:pPr marL="0" indent="0">
              <a:buNone/>
            </a:pPr>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0" y="0"/>
            <a:ext cx="9144000" cy="366713"/>
          </a:xfrm>
          <a:prstGeom prst="rect">
            <a:avLst/>
          </a:prstGeom>
          <a:noFill/>
          <a:ln w="9525">
            <a:noFill/>
            <a:miter lim="800000"/>
            <a:headEnd/>
            <a:tailEnd/>
          </a:ln>
        </p:spPr>
        <p:txBody>
          <a:bodyPr>
            <a:spAutoFit/>
          </a:bodyPr>
          <a:lstStyle/>
          <a:p>
            <a:pPr algn="ctr"/>
            <a:r>
              <a:rPr lang="en-GB" sz="1800" b="1">
                <a:solidFill>
                  <a:schemeClr val="tx2"/>
                </a:solidFill>
              </a:rPr>
              <a:t>YOUR TOPIC</a:t>
            </a:r>
          </a:p>
        </p:txBody>
      </p:sp>
      <p:sp>
        <p:nvSpPr>
          <p:cNvPr id="22531" name="AutoShape 5"/>
          <p:cNvSpPr>
            <a:spLocks noChangeArrowheads="1"/>
          </p:cNvSpPr>
          <p:nvPr/>
        </p:nvSpPr>
        <p:spPr bwMode="auto">
          <a:xfrm>
            <a:off x="395536" y="908720"/>
            <a:ext cx="8353425" cy="5113338"/>
          </a:xfrm>
          <a:prstGeom prst="roundRect">
            <a:avLst>
              <a:gd name="adj" fmla="val 16667"/>
            </a:avLst>
          </a:prstGeom>
          <a:solidFill>
            <a:schemeClr val="bg1"/>
          </a:solidFill>
          <a:ln w="9525">
            <a:solidFill>
              <a:schemeClr val="tx1"/>
            </a:solidFill>
            <a:round/>
            <a:headEnd/>
            <a:tailEnd/>
          </a:ln>
        </p:spPr>
        <p:txBody>
          <a:bodyPr wrap="none" anchor="ctr"/>
          <a:lstStyle/>
          <a:p>
            <a:pPr algn="ctr"/>
            <a:endParaRPr lang="en-GB" sz="1800" b="1" dirty="0">
              <a:solidFill>
                <a:srgbClr val="FF0000"/>
              </a:solidFill>
            </a:endParaRPr>
          </a:p>
          <a:p>
            <a:pPr algn="ctr"/>
            <a:r>
              <a:rPr lang="en-GB" b="1" dirty="0">
                <a:solidFill>
                  <a:srgbClr val="FF0000"/>
                </a:solidFill>
              </a:rPr>
              <a:t>Recognise that it can/should lead to something else. </a:t>
            </a:r>
          </a:p>
          <a:p>
            <a:pPr algn="ctr"/>
            <a:endParaRPr lang="en-GB" sz="1800" b="1" dirty="0">
              <a:solidFill>
                <a:srgbClr val="FF0000"/>
              </a:solidFill>
            </a:endParaRPr>
          </a:p>
          <a:p>
            <a:pPr algn="ctr"/>
            <a:r>
              <a:rPr lang="en-GB" b="1" dirty="0">
                <a:solidFill>
                  <a:srgbClr val="FF0000"/>
                </a:solidFill>
              </a:rPr>
              <a:t>See relevance in the topic for  . . . .</a:t>
            </a:r>
          </a:p>
          <a:p>
            <a:pPr algn="ctr"/>
            <a:endParaRPr lang="en-GB" b="1" dirty="0">
              <a:solidFill>
                <a:srgbClr val="FF0000"/>
              </a:solidFill>
            </a:endParaRPr>
          </a:p>
          <a:p>
            <a:pPr algn="ctr"/>
            <a:r>
              <a:rPr lang="en-GB" b="1" dirty="0">
                <a:solidFill>
                  <a:srgbClr val="FF0000"/>
                </a:solidFill>
              </a:rPr>
              <a:t>Be excited about the findings.</a:t>
            </a:r>
          </a:p>
          <a:p>
            <a:pPr algn="ctr"/>
            <a:endParaRPr lang="en-GB" sz="1800" b="1" dirty="0">
              <a:solidFill>
                <a:srgbClr val="FF0000"/>
              </a:solidFill>
            </a:endParaRPr>
          </a:p>
          <a:p>
            <a:pPr algn="ctr"/>
            <a:r>
              <a:rPr lang="en-GB" b="1" dirty="0">
                <a:solidFill>
                  <a:srgbClr val="FF0000"/>
                </a:solidFill>
              </a:rPr>
              <a:t>Want to learn about it.</a:t>
            </a:r>
          </a:p>
          <a:p>
            <a:pPr algn="ctr"/>
            <a:endParaRPr lang="en-GB" b="1" dirty="0">
              <a:solidFill>
                <a:srgbClr val="FF0000"/>
              </a:solidFill>
            </a:endParaRPr>
          </a:p>
          <a:p>
            <a:pPr algn="ctr"/>
            <a:r>
              <a:rPr lang="en-GB" sz="1800" b="1" dirty="0">
                <a:solidFill>
                  <a:srgbClr val="FF0000"/>
                </a:solidFill>
              </a:rPr>
              <a:t>Be curious about it.</a:t>
            </a:r>
          </a:p>
          <a:p>
            <a:pPr algn="ctr"/>
            <a:endParaRPr lang="en-GB" sz="1800" b="1" dirty="0">
              <a:solidFill>
                <a:srgbClr val="FF0000"/>
              </a:solidFill>
            </a:endParaRPr>
          </a:p>
          <a:p>
            <a:pPr algn="ctr"/>
            <a:r>
              <a:rPr lang="en-GB" b="1" dirty="0">
                <a:solidFill>
                  <a:srgbClr val="FF0000"/>
                </a:solidFill>
              </a:rPr>
              <a:t>Read about it. </a:t>
            </a:r>
          </a:p>
          <a:p>
            <a:pPr algn="ctr"/>
            <a:endParaRPr lang="en-GB" b="1" dirty="0">
              <a:solidFill>
                <a:srgbClr val="FF0000"/>
              </a:solidFill>
            </a:endParaRPr>
          </a:p>
          <a:p>
            <a:pPr algn="ctr"/>
            <a:r>
              <a:rPr lang="en-GB" sz="4000" b="1" dirty="0">
                <a:solidFill>
                  <a:srgbClr val="FF0000"/>
                </a:solidFill>
              </a:rPr>
              <a:t>Live it. Breathe it. Own it.</a:t>
            </a:r>
          </a:p>
          <a:p>
            <a:pPr algn="ctr"/>
            <a:endParaRPr lang="en-GB" sz="1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531">
                                            <p:bg/>
                                          </p:spTgt>
                                        </p:tgtEl>
                                        <p:attrNameLst>
                                          <p:attrName>style.visibility</p:attrName>
                                        </p:attrNameLst>
                                      </p:cBhvr>
                                      <p:to>
                                        <p:strVal val="visible"/>
                                      </p:to>
                                    </p:set>
                                    <p:animEffect transition="in" filter="wipe(down)">
                                      <p:cBhvr>
                                        <p:cTn id="7" dur="500"/>
                                        <p:tgtEl>
                                          <p:spTgt spid="22531">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wipe(down)">
                                      <p:cBhvr>
                                        <p:cTn id="12" dur="500"/>
                                        <p:tgtEl>
                                          <p:spTgt spid="225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2531">
                                            <p:txEl>
                                              <p:pRg st="3" end="3"/>
                                            </p:txEl>
                                          </p:spTgt>
                                        </p:tgtEl>
                                        <p:attrNameLst>
                                          <p:attrName>style.visibility</p:attrName>
                                        </p:attrNameLst>
                                      </p:cBhvr>
                                      <p:to>
                                        <p:strVal val="visible"/>
                                      </p:to>
                                    </p:set>
                                    <p:animEffect transition="in" filter="wipe(down)">
                                      <p:cBhvr>
                                        <p:cTn id="17" dur="500"/>
                                        <p:tgtEl>
                                          <p:spTgt spid="2253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2531">
                                            <p:txEl>
                                              <p:pRg st="5" end="5"/>
                                            </p:txEl>
                                          </p:spTgt>
                                        </p:tgtEl>
                                        <p:attrNameLst>
                                          <p:attrName>style.visibility</p:attrName>
                                        </p:attrNameLst>
                                      </p:cBhvr>
                                      <p:to>
                                        <p:strVal val="visible"/>
                                      </p:to>
                                    </p:set>
                                    <p:animEffect transition="in" filter="wipe(down)">
                                      <p:cBhvr>
                                        <p:cTn id="22" dur="500"/>
                                        <p:tgtEl>
                                          <p:spTgt spid="2253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2531">
                                            <p:txEl>
                                              <p:pRg st="7" end="7"/>
                                            </p:txEl>
                                          </p:spTgt>
                                        </p:tgtEl>
                                        <p:attrNameLst>
                                          <p:attrName>style.visibility</p:attrName>
                                        </p:attrNameLst>
                                      </p:cBhvr>
                                      <p:to>
                                        <p:strVal val="visible"/>
                                      </p:to>
                                    </p:set>
                                    <p:animEffect transition="in" filter="wipe(down)">
                                      <p:cBhvr>
                                        <p:cTn id="27" dur="500"/>
                                        <p:tgtEl>
                                          <p:spTgt spid="22531">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2531">
                                            <p:txEl>
                                              <p:pRg st="9" end="9"/>
                                            </p:txEl>
                                          </p:spTgt>
                                        </p:tgtEl>
                                        <p:attrNameLst>
                                          <p:attrName>style.visibility</p:attrName>
                                        </p:attrNameLst>
                                      </p:cBhvr>
                                      <p:to>
                                        <p:strVal val="visible"/>
                                      </p:to>
                                    </p:set>
                                    <p:animEffect transition="in" filter="wipe(down)">
                                      <p:cBhvr>
                                        <p:cTn id="32" dur="500"/>
                                        <p:tgtEl>
                                          <p:spTgt spid="22531">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2531">
                                            <p:txEl>
                                              <p:pRg st="11" end="11"/>
                                            </p:txEl>
                                          </p:spTgt>
                                        </p:tgtEl>
                                        <p:attrNameLst>
                                          <p:attrName>style.visibility</p:attrName>
                                        </p:attrNameLst>
                                      </p:cBhvr>
                                      <p:to>
                                        <p:strVal val="visible"/>
                                      </p:to>
                                    </p:set>
                                    <p:animEffect transition="in" filter="wipe(down)">
                                      <p:cBhvr>
                                        <p:cTn id="37" dur="500"/>
                                        <p:tgtEl>
                                          <p:spTgt spid="22531">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2531">
                                            <p:txEl>
                                              <p:pRg st="13" end="13"/>
                                            </p:txEl>
                                          </p:spTgt>
                                        </p:tgtEl>
                                        <p:attrNameLst>
                                          <p:attrName>style.visibility</p:attrName>
                                        </p:attrNameLst>
                                      </p:cBhvr>
                                      <p:to>
                                        <p:strVal val="visible"/>
                                      </p:to>
                                    </p:set>
                                    <p:animEffect transition="in" filter="wipe(down)">
                                      <p:cBhvr>
                                        <p:cTn id="42" dur="500"/>
                                        <p:tgtEl>
                                          <p:spTgt spid="2253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tatic.guim.co.uk/sys-images/Guardian/Pix/pictures/2009/7/17/1247840277934/Cumulus-clouds-in-a-blue--001.jpg"/>
          <p:cNvPicPr>
            <a:picLocks noChangeAspect="1" noChangeArrowheads="1"/>
          </p:cNvPicPr>
          <p:nvPr/>
        </p:nvPicPr>
        <p:blipFill>
          <a:blip r:embed="rId2" cstate="print"/>
          <a:srcRect/>
          <a:stretch>
            <a:fillRect/>
          </a:stretch>
        </p:blipFill>
        <p:spPr bwMode="auto">
          <a:xfrm>
            <a:off x="-1188640" y="-531440"/>
            <a:ext cx="11641293" cy="7704856"/>
          </a:xfrm>
          <a:prstGeom prst="rect">
            <a:avLst/>
          </a:prstGeom>
          <a:noFill/>
        </p:spPr>
      </p:pic>
      <p:sp>
        <p:nvSpPr>
          <p:cNvPr id="3" name="Isosceles Triangle 2"/>
          <p:cNvSpPr/>
          <p:nvPr/>
        </p:nvSpPr>
        <p:spPr>
          <a:xfrm>
            <a:off x="1763688" y="836712"/>
            <a:ext cx="5328592" cy="4608512"/>
          </a:xfrm>
          <a:prstGeom prst="triangl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2555776" y="1976641"/>
            <a:ext cx="3744416" cy="3354765"/>
          </a:xfrm>
          <a:prstGeom prst="rect">
            <a:avLst/>
          </a:prstGeom>
          <a:noFill/>
        </p:spPr>
        <p:txBody>
          <a:bodyPr wrap="square" rtlCol="0">
            <a:spAutoFit/>
          </a:bodyPr>
          <a:lstStyle/>
          <a:p>
            <a:pPr algn="ctr"/>
            <a:r>
              <a:rPr lang="en-GB" sz="2800" b="1" dirty="0"/>
              <a:t>WHY</a:t>
            </a:r>
          </a:p>
          <a:p>
            <a:pPr algn="ctr"/>
            <a:r>
              <a:rPr lang="en-GB" sz="2800" b="1" dirty="0"/>
              <a:t> </a:t>
            </a:r>
          </a:p>
          <a:p>
            <a:pPr algn="ctr"/>
            <a:r>
              <a:rPr lang="en-GB" sz="2800" b="1" dirty="0"/>
              <a:t>DO YOU</a:t>
            </a:r>
          </a:p>
          <a:p>
            <a:pPr algn="ctr"/>
            <a:r>
              <a:rPr lang="en-GB" sz="3600" b="1" dirty="0"/>
              <a:t>REALLY</a:t>
            </a:r>
          </a:p>
          <a:p>
            <a:pPr algn="ctr"/>
            <a:r>
              <a:rPr lang="en-GB" sz="3600" b="1"/>
              <a:t> WANT </a:t>
            </a:r>
          </a:p>
          <a:p>
            <a:pPr algn="ctr"/>
            <a:r>
              <a:rPr lang="en-GB" sz="2800" b="1"/>
              <a:t>TO </a:t>
            </a:r>
            <a:r>
              <a:rPr lang="en-GB" sz="2800" b="1" dirty="0"/>
              <a:t>DO THIS RESEARCH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713</TotalTime>
  <Words>2120</Words>
  <Application>Microsoft Office PowerPoint</Application>
  <PresentationFormat>On-screen Show (4:3)</PresentationFormat>
  <Paragraphs>453</Paragraphs>
  <Slides>39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AdvOT596495f2</vt:lpstr>
      <vt:lpstr>AdvOT596495f2+fb</vt:lpstr>
      <vt:lpstr>AdvOT863180fb</vt:lpstr>
      <vt:lpstr>Arial</vt:lpstr>
      <vt:lpstr>Calibri</vt:lpstr>
      <vt:lpstr>GillSansStd-Bold</vt:lpstr>
      <vt:lpstr>Verdana</vt:lpstr>
      <vt:lpstr>Wingdings</vt:lpstr>
      <vt:lpstr>Office Theme</vt:lpstr>
      <vt:lpstr>Writing Research Proposals</vt:lpstr>
      <vt:lpstr>Research Proposals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Consider </vt:lpstr>
      <vt:lpstr> A Possible Outline</vt:lpstr>
      <vt:lpstr>PowerPoint Presentation</vt:lpstr>
      <vt:lpstr>A Working Title of Topic Area</vt:lpstr>
      <vt:lpstr>PowerPoint Presentation</vt:lpstr>
      <vt:lpstr>A Working Title of the Topic Area</vt:lpstr>
      <vt:lpstr>A Working Title of the Topic Area</vt:lpstr>
      <vt:lpstr>Appropriacy and Accuracy: Making Assumptions</vt:lpstr>
      <vt:lpstr>Appropriacy and Accuracy: Precision</vt:lpstr>
      <vt:lpstr>Appropriacy and Accuracy</vt:lpstr>
      <vt:lpstr>General Overview of Area </vt:lpstr>
      <vt:lpstr>Creating A Research Space</vt:lpstr>
      <vt:lpstr>The Research Space or Gap</vt:lpstr>
      <vt:lpstr>Language for Creating A Research Space   what we know, creating a space, filling the space?</vt:lpstr>
      <vt:lpstr>CARS method (Creating A Research Space)</vt:lpstr>
      <vt:lpstr>Identification of the Relevant Literature</vt:lpstr>
      <vt:lpstr>Literature Review</vt:lpstr>
      <vt:lpstr>Key Research Questions </vt:lpstr>
      <vt:lpstr>Writing Aims and Objectives</vt:lpstr>
      <vt:lpstr>Methodology </vt:lpstr>
      <vt:lpstr>PowerPoint Presentation</vt:lpstr>
      <vt:lpstr>Timescale/Research Planning </vt:lpstr>
      <vt:lpstr>PowerPoint Presentation</vt:lpstr>
      <vt:lpstr>PowerPoint Presentation</vt:lpstr>
      <vt:lpstr>A Typical Dissertation Schedule</vt:lpstr>
      <vt:lpstr>Bibliography </vt:lpstr>
      <vt:lpstr>And remember…</vt:lpstr>
      <vt:lpstr>Examples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Research Proposals</dc:title>
  <dc:creator>us</dc:creator>
  <cp:lastModifiedBy>mark unwin</cp:lastModifiedBy>
  <cp:revision>54</cp:revision>
  <dcterms:created xsi:type="dcterms:W3CDTF">2013-02-11T17:16:04Z</dcterms:created>
  <dcterms:modified xsi:type="dcterms:W3CDTF">2020-06-18T20:06:47Z</dcterms:modified>
</cp:coreProperties>
</file>